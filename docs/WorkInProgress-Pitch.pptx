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Share</c:v>
                </c:pt>
              </c:strCache>
            </c:strRef>
          </c:tx>
          <c:dPt>
            <c:idx val="0"/>
            <c:spPr>
              <a:solidFill>
                <a:srgbClr val="C4C4BB"/>
              </a:solidFill>
            </c:spPr>
          </c:dPt>
          <c:dPt>
            <c:idx val="1"/>
            <c:spPr>
              <a:solidFill>
                <a:srgbClr val="1F5FC9"/>
              </a:solidFill>
            </c:spPr>
          </c:dPt>
          <c:dPt>
            <c:idx val="2"/>
            <c:spPr>
              <a:solidFill>
                <a:srgbClr val="1C7340"/>
              </a:solidFill>
            </c:spPr>
          </c:dPt>
          <c:dPt>
            <c:idx val="3"/>
            <c:spPr>
              <a:solidFill>
                <a:srgbClr val="C4C4BB"/>
              </a:solidFill>
            </c:spPr>
          </c:dPt>
          <c:cat>
            <c:strRef>
              <c:f>Sheet1!$A$2:$A$5</c:f>
              <c:strCache>
                <c:ptCount val="4"/>
                <c:pt idx="0">
                  <c:v>Neighbours</c:v>
                </c:pt>
                <c:pt idx="1">
                  <c:v>Official announcements</c:v>
                </c:pt>
                <c:pt idx="2">
                  <c:v>Only when hit by the problem</c:v>
                </c:pt>
                <c:pt idx="3">
                  <c:v>Social media</c:v>
                </c:pt>
              </c:strCache>
            </c:strRef>
          </c:cat>
          <c:val>
            <c:numRef>
              <c:f>Sheet1!$B$2:$B$5</c:f>
              <c:numCache>
                <c:formatCode>General</c:formatCode>
                <c:ptCount val="4"/>
                <c:pt idx="0">
                  <c:v>0.12</c:v>
                </c:pt>
                <c:pt idx="1">
                  <c:v>0.128</c:v>
                </c:pt>
                <c:pt idx="2">
                  <c:v>0.331</c:v>
                </c:pt>
                <c:pt idx="3">
                  <c:v>0.421</c:v>
                </c:pt>
              </c:numCache>
            </c:numRef>
          </c:val>
        </c:ser>
        <c:dLbls>
          <c:numFmt formatCode="0%" sourceLinked="0"/>
          <c:txPr>
            <a:bodyPr/>
            <a:lstStyle/>
            <a:p>
              <a:pPr>
                <a:defRPr sz="1400" b="1">
                  <a:solidFill>
                    <a:srgbClr val="16181B"/>
                  </a:solidFill>
                  <a:latin typeface="Aria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solidFill>
                  <a:srgbClr val="555A61"/>
                </a:solidFill>
                <a:latin typeface="Arial"/>
              </a:defRPr>
            </a:pPr>
          </a:p>
        </c:txPr>
        <c:crossAx val="-2113994440"/>
        <c:crosses val="autoZero"/>
        <c:auto val="1"/>
        <c:lblAlgn val="ctr"/>
        <c:lblOffset val="100"/>
        <c:noMultiLvlLbl val="0"/>
      </c:catAx>
      <c:valAx>
        <c:axId val="-2113994440"/>
        <c:scaling>
          <c:max val="0.55"/>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 HOOK · 0:15. This slide stays up while you say the hook. Don't open with "Hello, we are Work In Progress".</a:t>
            </a:r>
          </a:p>
          <a:p>
            <a:r>
              <a:t>Hook: "We asked people in Chișinău how they find out about water, power and gas cuts. One in three said: only when I run into the problem."</a:t>
            </a:r>
          </a:p>
          <a:p>
            <a:r>
              <a:t>1 in 3 and 13%: our survey of Chișinău residents.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 0:45</a:t>
            </a:r>
          </a:p>
          <a:p>
            <a:r>
              <a:t>"Official announcements do exist, on four separate websites: Apă-Canal, Premier Energy, Energocom and Chișinău-Gaz. They're tables of street names, and nothing tells you whether your address is affected. Only 13% of people get their information from them. So one in three find out when the tap runs dry."</a:t>
            </a:r>
          </a:p>
          <a:p>
            <a:r>
              <a:t>Circles: "There are 720,000 people in Chișinău. 91% of the people we asked want every outage in one place, and 83% would use it." (720K = 2024 census, statistica.gov.md; 91% and 83% = our survey.)</a:t>
            </a:r>
          </a:p>
          <a:p>
            <a:r>
              <a:t>If you have one real person's story (e.g. a teammate's family), tell it here in one sentence: who, which cut, what it cost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 ~20 s of the 2:00, then go straight to the demo.</a:t>
            </a:r>
          </a:p>
          <a:p>
            <a:r>
              <a:t>"We built one live map of every water, power and gas outage in Chișinău. Official announcements come in automatically from four providers, every hour. You see whether your saved addresses are affected and what's planned for the coming days. And neighbours confirm problems that nobody announced."</a:t>
            </a:r>
          </a:p>
          <a:p>
            <a:r>
              <a:t>Bridge to the demo: "Social media is fast but unverified. Official sources are verified but nobody sees them. We combine the two. It's live, with real data."</a:t>
            </a:r>
          </a:p>
          <a:p>
            <a:r>
              <a:t>Update the four numbers on the morning of the pitch.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 ~1:40, the biggest part of the pitch. Switch to the live app (log in beforehand; skip login screens and menus). Zoom in so the back row can read it.</a:t>
            </a:r>
          </a:p>
          <a:p>
            <a:r>
              <a:t>1 "Ana opens the app. The map starts on her location: these are the real outages in Chișinău right now. Blue is water, yellow is power, orange is gas."</a:t>
            </a:r>
          </a:p>
          <a:p>
            <a:r>
              <a:t>2 "She taps the water cut on her street: source Apă-Canal, official start and end, the affected addresses. It came in automatically. Nobody typed it."</a:t>
            </a:r>
          </a:p>
          <a:p>
            <a:r>
              <a:t>3 "Her home and her parents' flat are saved, so she sees right away if they're affected."</a:t>
            </a:r>
          </a:p>
          <a:p>
            <a:r>
              <a:t>4 "The calendar shows what's planned for the coming days, so she can prepare."</a:t>
            </a:r>
          </a:p>
          <a:p>
            <a:r>
              <a:t>5 On the second phone near a report: "Do you have this problem too?" → Me too. "Third answer: it's Confirmed, live, for everyone."</a:t>
            </a:r>
          </a:p>
          <a:p>
            <a:r>
              <a:t>If anything freezes, switch to the demo video and keep talking.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IT WORKS · OFFICIAL DATA · ~0:25</a:t>
            </a:r>
          </a:p>
          <a:p>
            <a:r>
              <a:t>"First, the official side. Four providers publish their cuts on their own websites. Every hour our importers read them, place every address on the real streets and put it on the map: blue when it's a full cut, yellow when only some buildings or low pressure. When a notice disappears from the provider's site, we mark it resolved."</a:t>
            </a:r>
          </a:p>
          <a:p>
            <a:r>
              <a:t>"All four feeds are live, nothing is mocked. Next: a direct feed from the providers instead of reading their websites, and alerts for saved addresses."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IT WORKS · RESIDENT REPORTS · ~0:25</a:t>
            </a:r>
          </a:p>
          <a:p>
            <a:r>
              <a:t>"Second, what residents report, from the web app or from Telegram. A new report shows up grey and dotted: unconfirmed. Signed-in users who walk within 50 metres are asked: do you have this problem too? Anyone can also answer on the event page. Three 'yes' answers make it Confirmed, green. If at least three people say 'mine works' and they're the majority, it's Disputed and comes off the map. So false alarms correct themselves, without moderators."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IMPACT · 0:25</a:t>
            </a:r>
          </a:p>
          <a:p>
            <a:r>
              <a:t>"Four websites become one map. An announcement is on the map within an hour. And it covers all 720,000 people in Chișinău. 91% of the people we surveyed want this in one place, and 83% would use it. For the city, residents can prepare, and providers and City Hall get a live, verified picture of breakdowns."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 0:20</a:t>
            </a:r>
          </a:p>
          <a:p>
            <a:r>
              <a:t>"Next week we test with real residents in one sector and switch on alerts for saved addresses. Next month, a pilot with City Hall and Apă-Canal, so their outage data comes in as a direct feed. In three months, a public launch, plus a free Telegram daily forecast. What we need is an intro to City Hall and the utility providers."</a:t>
            </a:r>
          </a:p>
          <a:p>
            <a:r>
              <a:t>Go-to-market details are in the backup slides.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 · 0:15</a:t>
            </a:r>
          </a:p>
          <a:p>
            <a:r>
              <a:t>Names and roles, one line each. Why this team can finish the job, and who stays on after the weekend.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 0:15</a:t>
            </a:r>
          </a:p>
          <a:p>
            <a:r>
              <a:t>End on the result: repeat the one sentence, then "Thank you!" and the team name.</a:t>
            </a:r>
          </a:p>
          <a:p>
            <a:r>
              <a:t>"We offer a live outage map for people in Chișinău who find out about cuts too late, and we solve it by combining every provider's official announcements with reports confirmed by neighbours. It's live: scan the code and try it. We're Work In Progress. Thank you!"</a:t>
            </a:r>
          </a:p>
          <a:p>
            <a:r>
              <a:t>Leave this slide up during Q&amp;A. Decide now who answers tech questions and who answers business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Q&amp;A answers, go-to-market, data flow and trust rules, architecture, survey, real screens.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Q&amp;A: pause, answer in 2–3 sentences. If you don't know: "We haven't tested that yet; here's how we would." Never argue with the jury.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GO-TO-MARKET · fold into Impact &amp; next step (keep it to ~20 s) or use it in Q&amp;A.</a:t>
            </a:r>
          </a:p>
          <a:p>
            <a:r>
              <a:t>"We see two ways to market, on the same engine. B2G: Chișinău City Hall offers this as the city's official outage map, with municipal providers like Apă-Canal publishing straight into it, and a live picture of breakdowns for the city. B2C: a freemium Telegram bot. Free, it sends you a daily forecast for your address and next week's planned cuts, so there are no surprises. Premium adds several addresses and instant alerts when a breakdown is confirmed nearby."</a:t>
            </a:r>
          </a:p>
          <a:p>
            <a:r>
              <a:t>The Telegram bot is a concept; it isn't built yet. Premium features are a proposal.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IT WORKS · 0:45</a:t>
            </a:r>
          </a:p>
          <a:p>
            <a:r>
              <a:t>"Two sources, one set of rules. Official data comes in automatically from four providers, every hour, placed on the real streets. A citizen report appears right away with a dotted outline, marked Unconfirmed, so neighbours can check it. Signed-in users who walk within 50 metres are asked: do you have this problem too? Anyone can also answer on the event page. Three 'yes' answers from people within a kilometre make it Confirmed. If at least three people answer 'no, mine works' and they outnumber the 'yes' answers, the report is Disputed and comes off the map. So false alarms and pranks correct themselves, without moderators. Old reports expire on their own."</a:t>
            </a:r>
          </a:p>
          <a:p>
            <a:r>
              <a:t>Example if asked: 1 'yes' and 3 'no' → disputed, removed. 4 'yes' and 3 'no' → stays confirmed.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asked about other ways to report: "Residents can also report from Telegram, the app they already use. /login links the account once; /raporteaza asks the type, now or later, and the location. The report lands on the same map, under the same confirmation rules."</a:t>
            </a:r>
          </a:p>
          <a:p>
            <a:r>
              <a:t>Status: working prototype, not yet deployed as a public bot.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image" Target="../media/image7.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216"/>
        </a:solidFill>
        <a:effectLst/>
      </p:bgPr>
    </p:bg>
    <p:spTree>
      <p:nvGrpSpPr>
        <p:cNvPr id="1" name=""/>
        <p:cNvGrpSpPr/>
        <p:nvPr/>
      </p:nvGrpSpPr>
      <p:grpSpPr/>
      <p:sp>
        <p:nvSpPr>
          <p:cNvPr id="2" name="Oval 1"/>
          <p:cNvSpPr/>
          <p:nvPr/>
        </p:nvSpPr>
        <p:spPr>
          <a:xfrm>
            <a:off x="6035040" y="-1280160"/>
            <a:ext cx="7680960" cy="7680960"/>
          </a:xfrm>
          <a:prstGeom prst="ellipse">
            <a:avLst/>
          </a:prstGeom>
          <a:gradFill rotWithShape="1">
            <a:gsLst>
              <a:gs pos="0">
                <a:srgbClr val="1D2229"/>
              </a:gs>
              <a:gs pos="100000">
                <a:srgbClr val="12151A"/>
              </a:gs>
            </a:gsLst>
            <a:lin scaled="0" ang="36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49440" y="1417320"/>
            <a:ext cx="4754880" cy="1463040"/>
          </a:xfrm>
          <a:prstGeom prst="rect">
            <a:avLst/>
          </a:prstGeom>
          <a:noFill/>
        </p:spPr>
        <p:txBody>
          <a:bodyPr wrap="square" lIns="0" rIns="0" tIns="0" bIns="0" anchor="t">
            <a:spAutoFit/>
          </a:bodyPr>
          <a:lstStyle/>
          <a:p>
            <a:pPr algn="l">
              <a:lnSpc>
                <a:spcPct val="90000"/>
              </a:lnSpc>
              <a:spcAft>
                <a:spcPts val="0"/>
              </a:spcAft>
            </a:pPr>
            <a:r>
              <a:rPr sz="10000" b="1">
                <a:solidFill>
                  <a:srgbClr val="FFFFFF"/>
                </a:solidFill>
                <a:latin typeface="Arial"/>
              </a:rPr>
              <a:t>1 in 3</a:t>
            </a:r>
          </a:p>
        </p:txBody>
      </p:sp>
      <p:sp>
        <p:nvSpPr>
          <p:cNvPr id="4" name="TextBox 3"/>
          <p:cNvSpPr txBox="1"/>
          <p:nvPr/>
        </p:nvSpPr>
        <p:spPr>
          <a:xfrm>
            <a:off x="6949440" y="2926080"/>
            <a:ext cx="4389120" cy="1005840"/>
          </a:xfrm>
          <a:prstGeom prst="rect">
            <a:avLst/>
          </a:prstGeom>
          <a:noFill/>
        </p:spPr>
        <p:txBody>
          <a:bodyPr wrap="square" lIns="0" rIns="0" tIns="0" bIns="0" anchor="t">
            <a:spAutoFit/>
          </a:bodyPr>
          <a:lstStyle/>
          <a:p>
            <a:pPr algn="l">
              <a:lnSpc>
                <a:spcPct val="120000"/>
              </a:lnSpc>
              <a:spcAft>
                <a:spcPts val="0"/>
              </a:spcAft>
            </a:pPr>
            <a:r>
              <a:rPr sz="1800" b="0">
                <a:solidFill>
                  <a:srgbClr val="A9B0B9"/>
                </a:solidFill>
                <a:latin typeface="Arial"/>
              </a:rPr>
              <a:t>people find out about an outage only when they are already hit by it.</a:t>
            </a:r>
          </a:p>
        </p:txBody>
      </p:sp>
      <p:sp>
        <p:nvSpPr>
          <p:cNvPr id="5" name="Rounded Rectangle 4"/>
          <p:cNvSpPr/>
          <p:nvPr/>
        </p:nvSpPr>
        <p:spPr>
          <a:xfrm>
            <a:off x="6949440" y="4069080"/>
            <a:ext cx="4206240" cy="731520"/>
          </a:xfrm>
          <a:prstGeom prst="roundRect">
            <a:avLst>
              <a:gd name="adj" fmla="val 22499"/>
            </a:avLst>
          </a:prstGeom>
          <a:solidFill>
            <a:srgbClr val="1F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0" y="4069080"/>
            <a:ext cx="3931920" cy="731520"/>
          </a:xfrm>
          <a:prstGeom prst="rect">
            <a:avLst/>
          </a:prstGeom>
          <a:noFill/>
        </p:spPr>
        <p:txBody>
          <a:bodyPr wrap="square" lIns="0" rIns="0" tIns="0" bIns="0" anchor="ctr">
            <a:spAutoFit/>
          </a:bodyPr>
          <a:lstStyle/>
          <a:p>
            <a:pPr algn="l">
              <a:spcAft>
                <a:spcPts val="0"/>
              </a:spcAft>
            </a:pPr>
            <a:r>
              <a:rPr sz="2000" b="1">
                <a:solidFill>
                  <a:srgbClr val="ECEEF1"/>
                </a:solidFill>
                <a:latin typeface="Arial"/>
              </a:rPr>
              <a:t>13%</a:t>
            </a:r>
            <a:r>
              <a:rPr sz="1200" b="0">
                <a:solidFill>
                  <a:srgbClr val="A9B0B9"/>
                </a:solidFill>
                <a:latin typeface="Arial"/>
              </a:rPr>
              <a:t>   learn from official announcements</a:t>
            </a:r>
          </a:p>
        </p:txBody>
      </p:sp>
      <p:sp>
        <p:nvSpPr>
          <p:cNvPr id="7" name="Rounded Rectangle 6"/>
          <p:cNvSpPr/>
          <p:nvPr/>
        </p:nvSpPr>
        <p:spPr>
          <a:xfrm>
            <a:off x="6949440" y="5120640"/>
            <a:ext cx="1024128" cy="292608"/>
          </a:xfrm>
          <a:prstGeom prst="roundRect">
            <a:avLst>
              <a:gd name="adj" fmla="val 50000"/>
            </a:avLst>
          </a:prstGeom>
          <a:solidFill>
            <a:srgbClr val="1C2940"/>
          </a:solidFill>
          <a:ln w="12700">
            <a:solidFill>
              <a:srgbClr val="7AA7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95744" y="5212080"/>
            <a:ext cx="109728" cy="109728"/>
          </a:xfrm>
          <a:prstGeom prst="ellipse">
            <a:avLst/>
          </a:prstGeom>
          <a:solidFill>
            <a:srgbClr val="7A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78624" y="5120640"/>
            <a:ext cx="658368" cy="292608"/>
          </a:xfrm>
          <a:prstGeom prst="rect">
            <a:avLst/>
          </a:prstGeom>
          <a:noFill/>
        </p:spPr>
        <p:txBody>
          <a:bodyPr wrap="square" lIns="0" rIns="0" tIns="0" bIns="0" anchor="ctr">
            <a:spAutoFit/>
          </a:bodyPr>
          <a:lstStyle/>
          <a:p>
            <a:pPr algn="l">
              <a:spcAft>
                <a:spcPts val="0"/>
              </a:spcAft>
            </a:pPr>
            <a:r>
              <a:rPr sz="950" b="1">
                <a:solidFill>
                  <a:srgbClr val="7AA7FF"/>
                </a:solidFill>
                <a:latin typeface="Arial"/>
              </a:rPr>
              <a:t>Official</a:t>
            </a:r>
          </a:p>
        </p:txBody>
      </p:sp>
      <p:sp>
        <p:nvSpPr>
          <p:cNvPr id="10" name="Rounded Rectangle 9"/>
          <p:cNvSpPr/>
          <p:nvPr/>
        </p:nvSpPr>
        <p:spPr>
          <a:xfrm>
            <a:off x="8037575" y="5120640"/>
            <a:ext cx="1024128" cy="292608"/>
          </a:xfrm>
          <a:prstGeom prst="roundRect">
            <a:avLst>
              <a:gd name="adj" fmla="val 50000"/>
            </a:avLst>
          </a:prstGeom>
          <a:solidFill>
            <a:srgbClr val="16301F"/>
          </a:solidFill>
          <a:ln w="12700">
            <a:solidFill>
              <a:srgbClr val="5CC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183879" y="5212080"/>
            <a:ext cx="109728" cy="109728"/>
          </a:xfrm>
          <a:prstGeom prst="ellipse">
            <a:avLst/>
          </a:prstGeom>
          <a:solidFill>
            <a:srgbClr val="5CC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59" y="5120640"/>
            <a:ext cx="658368" cy="292608"/>
          </a:xfrm>
          <a:prstGeom prst="rect">
            <a:avLst/>
          </a:prstGeom>
          <a:noFill/>
        </p:spPr>
        <p:txBody>
          <a:bodyPr wrap="square" lIns="0" rIns="0" tIns="0" bIns="0" anchor="ctr">
            <a:spAutoFit/>
          </a:bodyPr>
          <a:lstStyle/>
          <a:p>
            <a:pPr algn="l">
              <a:spcAft>
                <a:spcPts val="0"/>
              </a:spcAft>
            </a:pPr>
            <a:r>
              <a:rPr sz="950" b="1">
                <a:solidFill>
                  <a:srgbClr val="5CC98A"/>
                </a:solidFill>
                <a:latin typeface="Arial"/>
              </a:rPr>
              <a:t>Confirmed</a:t>
            </a:r>
          </a:p>
        </p:txBody>
      </p:sp>
      <p:sp>
        <p:nvSpPr>
          <p:cNvPr id="13" name="Rounded Rectangle 12"/>
          <p:cNvSpPr/>
          <p:nvPr/>
        </p:nvSpPr>
        <p:spPr>
          <a:xfrm>
            <a:off x="9125712" y="5120640"/>
            <a:ext cx="1024128" cy="292608"/>
          </a:xfrm>
          <a:prstGeom prst="roundRect">
            <a:avLst>
              <a:gd name="adj" fmla="val 50000"/>
            </a:avLst>
          </a:prstGeom>
          <a:solidFill>
            <a:srgbClr val="3A3113"/>
          </a:solidFill>
          <a:ln w="12700">
            <a:solidFill>
              <a:srgbClr val="FACC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272016" y="5212080"/>
            <a:ext cx="109728" cy="109728"/>
          </a:xfrm>
          <a:prstGeom prst="ellipse">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54896" y="5120640"/>
            <a:ext cx="658368" cy="292608"/>
          </a:xfrm>
          <a:prstGeom prst="rect">
            <a:avLst/>
          </a:prstGeom>
          <a:noFill/>
        </p:spPr>
        <p:txBody>
          <a:bodyPr wrap="square" lIns="0" rIns="0" tIns="0" bIns="0" anchor="ctr">
            <a:spAutoFit/>
          </a:bodyPr>
          <a:lstStyle/>
          <a:p>
            <a:pPr algn="l">
              <a:spcAft>
                <a:spcPts val="0"/>
              </a:spcAft>
            </a:pPr>
            <a:r>
              <a:rPr sz="950" b="1">
                <a:solidFill>
                  <a:srgbClr val="FACC15"/>
                </a:solidFill>
                <a:latin typeface="Arial"/>
              </a:rPr>
              <a:t>Partial</a:t>
            </a:r>
          </a:p>
        </p:txBody>
      </p:sp>
      <p:sp>
        <p:nvSpPr>
          <p:cNvPr id="16" name="Rounded Rectangle 15"/>
          <p:cNvSpPr/>
          <p:nvPr/>
        </p:nvSpPr>
        <p:spPr>
          <a:xfrm>
            <a:off x="548640" y="502920"/>
            <a:ext cx="457200" cy="457200"/>
          </a:xfrm>
          <a:prstGeom prst="roundRect">
            <a:avLst>
              <a:gd name="adj" fmla="val 28125"/>
            </a:avLst>
          </a:prstGeom>
          <a:solidFill>
            <a:srgbClr val="EC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8652" y="695801"/>
            <a:ext cx="257175" cy="71437"/>
          </a:xfrm>
          <a:prstGeom prst="roundRect">
            <a:avLst>
              <a:gd name="adj" fmla="val 50000"/>
            </a:avLst>
          </a:prstGeom>
          <a:solidFill>
            <a:srgbClr val="B4B6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8652" y="695801"/>
            <a:ext cx="157162" cy="71437"/>
          </a:xfrm>
          <a:prstGeom prst="roundRect">
            <a:avLst>
              <a:gd name="adj" fmla="val 50000"/>
            </a:avLst>
          </a:prstGeom>
          <a:solidFill>
            <a:srgbClr val="16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33856" y="484632"/>
            <a:ext cx="2926080" cy="502920"/>
          </a:xfrm>
          <a:prstGeom prst="rect">
            <a:avLst/>
          </a:prstGeom>
          <a:noFill/>
        </p:spPr>
        <p:txBody>
          <a:bodyPr wrap="square" lIns="0" rIns="0" tIns="0" bIns="0" anchor="ctr">
            <a:spAutoFit/>
          </a:bodyPr>
          <a:lstStyle/>
          <a:p>
            <a:pPr algn="l">
              <a:spcAft>
                <a:spcPts val="0"/>
              </a:spcAft>
            </a:pPr>
            <a:r>
              <a:rPr sz="1300" b="1">
                <a:solidFill>
                  <a:srgbClr val="ECEEF1"/>
                </a:solidFill>
                <a:latin typeface="Arial"/>
              </a:rPr>
              <a:t>Work In Progress</a:t>
            </a:r>
          </a:p>
          <a:p>
            <a:pPr algn="l">
              <a:spcAft>
                <a:spcPts val="0"/>
              </a:spcAft>
            </a:pPr>
            <a:r>
              <a:rPr sz="1050" b="0">
                <a:solidFill>
                  <a:srgbClr val="A9B0B9"/>
                </a:solidFill>
                <a:latin typeface="Arial"/>
              </a:rPr>
              <a:t>Live outage map · Chișinău</a:t>
            </a:r>
          </a:p>
        </p:txBody>
      </p:sp>
      <p:sp>
        <p:nvSpPr>
          <p:cNvPr id="20" name="TextBox 19"/>
          <p:cNvSpPr txBox="1"/>
          <p:nvPr/>
        </p:nvSpPr>
        <p:spPr>
          <a:xfrm>
            <a:off x="548640" y="1463040"/>
            <a:ext cx="5760720" cy="1371600"/>
          </a:xfrm>
          <a:prstGeom prst="rect">
            <a:avLst/>
          </a:prstGeom>
          <a:noFill/>
        </p:spPr>
        <p:txBody>
          <a:bodyPr wrap="square" lIns="0" rIns="0" tIns="0" bIns="0" anchor="t">
            <a:spAutoFit/>
          </a:bodyPr>
          <a:lstStyle/>
          <a:p>
            <a:pPr algn="l">
              <a:lnSpc>
                <a:spcPct val="95000"/>
              </a:lnSpc>
              <a:spcAft>
                <a:spcPts val="0"/>
              </a:spcAft>
            </a:pPr>
            <a:r>
              <a:rPr sz="4400" b="1">
                <a:solidFill>
                  <a:srgbClr val="ECEEF1"/>
                </a:solidFill>
                <a:latin typeface="Arial"/>
              </a:rPr>
              <a:t>Know before the</a:t>
            </a:r>
          </a:p>
          <a:p>
            <a:pPr algn="l">
              <a:lnSpc>
                <a:spcPct val="95000"/>
              </a:lnSpc>
              <a:spcAft>
                <a:spcPts val="0"/>
              </a:spcAft>
            </a:pPr>
            <a:r>
              <a:rPr sz="4400" b="1">
                <a:solidFill>
                  <a:srgbClr val="ECEEF1"/>
                </a:solidFill>
                <a:latin typeface="Arial"/>
              </a:rPr>
              <a:t>tap runs dry.</a:t>
            </a:r>
          </a:p>
        </p:txBody>
      </p:sp>
      <p:sp>
        <p:nvSpPr>
          <p:cNvPr id="21" name="TextBox 20"/>
          <p:cNvSpPr txBox="1"/>
          <p:nvPr/>
        </p:nvSpPr>
        <p:spPr>
          <a:xfrm>
            <a:off x="548640" y="2834640"/>
            <a:ext cx="5212080" cy="1371600"/>
          </a:xfrm>
          <a:prstGeom prst="rect">
            <a:avLst/>
          </a:prstGeom>
          <a:noFill/>
        </p:spPr>
        <p:txBody>
          <a:bodyPr wrap="square" lIns="0" rIns="0" tIns="0" bIns="0" anchor="t">
            <a:spAutoFit/>
          </a:bodyPr>
          <a:lstStyle/>
          <a:p>
            <a:pPr algn="l">
              <a:lnSpc>
                <a:spcPct val="120000"/>
              </a:lnSpc>
              <a:spcAft>
                <a:spcPts val="0"/>
              </a:spcAft>
            </a:pPr>
            <a:r>
              <a:rPr sz="1400" b="0">
                <a:solidFill>
                  <a:srgbClr val="A9B0B9"/>
                </a:solidFill>
                <a:latin typeface="Arial"/>
              </a:rPr>
              <a:t>We offer a live outage map for people in Chișinău who find out about water, power and gas cuts too late, and we solve it by combining every provider's official announcements with reports confirmed by neighbours.</a:t>
            </a:r>
          </a:p>
        </p:txBody>
      </p:sp>
      <p:sp>
        <p:nvSpPr>
          <p:cNvPr id="22" name="TextBox 21"/>
          <p:cNvSpPr txBox="1"/>
          <p:nvPr/>
        </p:nvSpPr>
        <p:spPr>
          <a:xfrm>
            <a:off x="548640" y="4434840"/>
            <a:ext cx="1280160" cy="457200"/>
          </a:xfrm>
          <a:prstGeom prst="rect">
            <a:avLst/>
          </a:prstGeom>
          <a:noFill/>
        </p:spPr>
        <p:txBody>
          <a:bodyPr wrap="square" lIns="0" rIns="0" tIns="0" bIns="0" anchor="t">
            <a:spAutoFit/>
          </a:bodyPr>
          <a:lstStyle/>
          <a:p>
            <a:pPr algn="l">
              <a:spcAft>
                <a:spcPts val="0"/>
              </a:spcAft>
            </a:pPr>
            <a:r>
              <a:rPr sz="1000" b="1" spc="200">
                <a:solidFill>
                  <a:srgbClr val="A9B0B9"/>
                </a:solidFill>
                <a:latin typeface="Arial"/>
              </a:rPr>
              <a:t>CHALLENGE</a:t>
            </a:r>
          </a:p>
        </p:txBody>
      </p:sp>
      <p:sp>
        <p:nvSpPr>
          <p:cNvPr id="23" name="TextBox 22"/>
          <p:cNvSpPr txBox="1"/>
          <p:nvPr/>
        </p:nvSpPr>
        <p:spPr>
          <a:xfrm>
            <a:off x="1828800" y="4407407"/>
            <a:ext cx="4206240" cy="502920"/>
          </a:xfrm>
          <a:prstGeom prst="rect">
            <a:avLst/>
          </a:prstGeom>
          <a:noFill/>
        </p:spPr>
        <p:txBody>
          <a:bodyPr wrap="square" lIns="0" rIns="0" tIns="0" bIns="0" anchor="t">
            <a:spAutoFit/>
          </a:bodyPr>
          <a:lstStyle/>
          <a:p>
            <a:pPr algn="l">
              <a:lnSpc>
                <a:spcPct val="110000"/>
              </a:lnSpc>
              <a:spcAft>
                <a:spcPts val="0"/>
              </a:spcAft>
            </a:pPr>
            <a:r>
              <a:rPr sz="1200" b="0">
                <a:solidFill>
                  <a:srgbClr val="ECEEF1"/>
                </a:solidFill>
                <a:latin typeface="Arial"/>
              </a:rPr>
              <a:t>Open Challenge · DeepTech GigaHack 2026</a:t>
            </a:r>
          </a:p>
        </p:txBody>
      </p:sp>
      <p:sp>
        <p:nvSpPr>
          <p:cNvPr id="24" name="TextBox 23"/>
          <p:cNvSpPr txBox="1"/>
          <p:nvPr/>
        </p:nvSpPr>
        <p:spPr>
          <a:xfrm>
            <a:off x="548640" y="5001768"/>
            <a:ext cx="1280160" cy="457200"/>
          </a:xfrm>
          <a:prstGeom prst="rect">
            <a:avLst/>
          </a:prstGeom>
          <a:noFill/>
        </p:spPr>
        <p:txBody>
          <a:bodyPr wrap="square" lIns="0" rIns="0" tIns="0" bIns="0" anchor="t">
            <a:spAutoFit/>
          </a:bodyPr>
          <a:lstStyle/>
          <a:p>
            <a:pPr algn="l">
              <a:spcAft>
                <a:spcPts val="0"/>
              </a:spcAft>
            </a:pPr>
            <a:r>
              <a:rPr sz="1000" b="1" spc="200">
                <a:solidFill>
                  <a:srgbClr val="A9B0B9"/>
                </a:solidFill>
                <a:latin typeface="Arial"/>
              </a:rPr>
              <a:t>TEAM</a:t>
            </a:r>
          </a:p>
        </p:txBody>
      </p:sp>
      <p:sp>
        <p:nvSpPr>
          <p:cNvPr id="25" name="TextBox 24"/>
          <p:cNvSpPr txBox="1"/>
          <p:nvPr/>
        </p:nvSpPr>
        <p:spPr>
          <a:xfrm>
            <a:off x="1828800" y="4974336"/>
            <a:ext cx="4206240" cy="502920"/>
          </a:xfrm>
          <a:prstGeom prst="rect">
            <a:avLst/>
          </a:prstGeom>
          <a:noFill/>
        </p:spPr>
        <p:txBody>
          <a:bodyPr wrap="square" lIns="0" rIns="0" tIns="0" bIns="0" anchor="t">
            <a:spAutoFit/>
          </a:bodyPr>
          <a:lstStyle/>
          <a:p>
            <a:pPr algn="l">
              <a:lnSpc>
                <a:spcPct val="110000"/>
              </a:lnSpc>
              <a:spcAft>
                <a:spcPts val="0"/>
              </a:spcAft>
            </a:pPr>
            <a:r>
              <a:rPr sz="1200" b="0">
                <a:solidFill>
                  <a:srgbClr val="ECEEF1"/>
                </a:solidFill>
                <a:latin typeface="Arial"/>
              </a:rPr>
              <a:t>Work In Progress · [Name 1], [Name 2], [Name 3], [Name 4], [Name 5]</a:t>
            </a:r>
          </a:p>
        </p:txBody>
      </p:sp>
      <p:cxnSp>
        <p:nvCxnSpPr>
          <p:cNvPr id="26" name="Connector 25"/>
          <p:cNvCxnSpPr/>
          <p:nvPr/>
        </p:nvCxnSpPr>
        <p:spPr>
          <a:xfrm>
            <a:off x="548640" y="6400800"/>
            <a:ext cx="11091672" cy="0"/>
          </a:xfrm>
          <a:prstGeom prst="line">
            <a:avLst/>
          </a:prstGeom>
          <a:ln w="9525">
            <a:solidFill>
              <a:srgbClr val="2A303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5486400" cy="274320"/>
          </a:xfrm>
          <a:prstGeom prst="rect">
            <a:avLst/>
          </a:prstGeom>
          <a:noFill/>
        </p:spPr>
        <p:txBody>
          <a:bodyPr wrap="square" lIns="0" rIns="0" tIns="0" bIns="0" anchor="t">
            <a:spAutoFit/>
          </a:bodyPr>
          <a:lstStyle/>
          <a:p>
            <a:pPr algn="l">
              <a:spcAft>
                <a:spcPts val="0"/>
              </a:spcAft>
            </a:pPr>
            <a:r>
              <a:rPr sz="1100" b="1" spc="300">
                <a:solidFill>
                  <a:srgbClr val="555A61"/>
                </a:solidFill>
                <a:latin typeface="Arial"/>
              </a:rPr>
              <a:t>THE PROBLEM</a:t>
            </a:r>
          </a:p>
        </p:txBody>
      </p:sp>
      <p:sp>
        <p:nvSpPr>
          <p:cNvPr id="3" name="TextBox 2"/>
          <p:cNvSpPr txBox="1"/>
          <p:nvPr/>
        </p:nvSpPr>
        <p:spPr>
          <a:xfrm>
            <a:off x="548640" y="822960"/>
            <a:ext cx="6035040" cy="1188720"/>
          </a:xfrm>
          <a:prstGeom prst="rect">
            <a:avLst/>
          </a:prstGeom>
          <a:noFill/>
        </p:spPr>
        <p:txBody>
          <a:bodyPr wrap="square" lIns="0" rIns="0" tIns="0" bIns="0" anchor="t">
            <a:spAutoFit/>
          </a:bodyPr>
          <a:lstStyle/>
          <a:p>
            <a:pPr algn="l">
              <a:lnSpc>
                <a:spcPct val="100000"/>
              </a:lnSpc>
              <a:spcAft>
                <a:spcPts val="0"/>
              </a:spcAft>
            </a:pPr>
            <a:r>
              <a:rPr sz="3200" b="1">
                <a:solidFill>
                  <a:srgbClr val="16181B"/>
                </a:solidFill>
                <a:latin typeface="Arial"/>
              </a:rPr>
              <a:t>The information exists.</a:t>
            </a:r>
          </a:p>
          <a:p>
            <a:pPr algn="l">
              <a:lnSpc>
                <a:spcPct val="100000"/>
              </a:lnSpc>
              <a:spcAft>
                <a:spcPts val="0"/>
              </a:spcAft>
            </a:pPr>
            <a:r>
              <a:rPr sz="3200" b="1">
                <a:solidFill>
                  <a:srgbClr val="16181B"/>
                </a:solidFill>
                <a:latin typeface="Arial"/>
              </a:rPr>
              <a:t>It doesn't reach people.</a:t>
            </a:r>
          </a:p>
        </p:txBody>
      </p:sp>
      <p:sp>
        <p:nvSpPr>
          <p:cNvPr id="4" name="Oval 3"/>
          <p:cNvSpPr/>
          <p:nvPr/>
        </p:nvSpPr>
        <p:spPr>
          <a:xfrm>
            <a:off x="566928" y="2295144"/>
            <a:ext cx="118872" cy="118872"/>
          </a:xfrm>
          <a:prstGeom prst="ellipse">
            <a:avLst/>
          </a:prstGeom>
          <a:solidFill>
            <a:srgbClr val="555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40280"/>
            <a:ext cx="5394960" cy="274320"/>
          </a:xfrm>
          <a:prstGeom prst="rect">
            <a:avLst/>
          </a:prstGeom>
          <a:noFill/>
        </p:spPr>
        <p:txBody>
          <a:bodyPr wrap="square" lIns="0" rIns="0" tIns="0" bIns="0" anchor="t">
            <a:spAutoFit/>
          </a:bodyPr>
          <a:lstStyle/>
          <a:p>
            <a:pPr algn="l">
              <a:spcAft>
                <a:spcPts val="0"/>
              </a:spcAft>
            </a:pPr>
            <a:r>
              <a:rPr sz="1050" b="1" spc="150">
                <a:solidFill>
                  <a:srgbClr val="555A61"/>
                </a:solidFill>
                <a:latin typeface="Arial"/>
              </a:rPr>
              <a:t>WHO HAS THIS PROBLEM?</a:t>
            </a:r>
          </a:p>
        </p:txBody>
      </p:sp>
      <p:sp>
        <p:nvSpPr>
          <p:cNvPr id="6" name="TextBox 5"/>
          <p:cNvSpPr txBox="1"/>
          <p:nvPr/>
        </p:nvSpPr>
        <p:spPr>
          <a:xfrm>
            <a:off x="822960" y="2551176"/>
            <a:ext cx="5394960" cy="914400"/>
          </a:xfrm>
          <a:prstGeom prst="rect">
            <a:avLst/>
          </a:prstGeom>
          <a:noFill/>
        </p:spPr>
        <p:txBody>
          <a:bodyPr wrap="square" lIns="0" rIns="0" tIns="0" bIns="0" anchor="t">
            <a:spAutoFit/>
          </a:bodyPr>
          <a:lstStyle/>
          <a:p>
            <a:pPr algn="l">
              <a:lnSpc>
                <a:spcPct val="115000"/>
              </a:lnSpc>
              <a:spcAft>
                <a:spcPts val="0"/>
              </a:spcAft>
            </a:pPr>
            <a:r>
              <a:rPr sz="1350" b="0">
                <a:solidFill>
                  <a:srgbClr val="16181B"/>
                </a:solidFill>
                <a:latin typeface="Arial"/>
              </a:rPr>
              <a:t>Every household in Chișinău hit by a water, power or gas cut, especially families with small children, older people and anyone working from home.</a:t>
            </a:r>
          </a:p>
        </p:txBody>
      </p:sp>
      <p:sp>
        <p:nvSpPr>
          <p:cNvPr id="7" name="Oval 6"/>
          <p:cNvSpPr/>
          <p:nvPr/>
        </p:nvSpPr>
        <p:spPr>
          <a:xfrm>
            <a:off x="566928" y="3593592"/>
            <a:ext cx="118872" cy="118872"/>
          </a:xfrm>
          <a:prstGeom prst="ellipse">
            <a:avLst/>
          </a:prstGeom>
          <a:solidFill>
            <a:srgbClr val="555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538728"/>
            <a:ext cx="5394960" cy="274320"/>
          </a:xfrm>
          <a:prstGeom prst="rect">
            <a:avLst/>
          </a:prstGeom>
          <a:noFill/>
        </p:spPr>
        <p:txBody>
          <a:bodyPr wrap="square" lIns="0" rIns="0" tIns="0" bIns="0" anchor="t">
            <a:spAutoFit/>
          </a:bodyPr>
          <a:lstStyle/>
          <a:p>
            <a:pPr algn="l">
              <a:spcAft>
                <a:spcPts val="0"/>
              </a:spcAft>
            </a:pPr>
            <a:r>
              <a:rPr sz="1050" b="1" spc="150">
                <a:solidFill>
                  <a:srgbClr val="555A61"/>
                </a:solidFill>
                <a:latin typeface="Arial"/>
              </a:rPr>
              <a:t>WHAT HAPPENS TODAY?</a:t>
            </a:r>
          </a:p>
        </p:txBody>
      </p:sp>
      <p:sp>
        <p:nvSpPr>
          <p:cNvPr id="9" name="TextBox 8"/>
          <p:cNvSpPr txBox="1"/>
          <p:nvPr/>
        </p:nvSpPr>
        <p:spPr>
          <a:xfrm>
            <a:off x="822960" y="3849624"/>
            <a:ext cx="5394960" cy="914400"/>
          </a:xfrm>
          <a:prstGeom prst="rect">
            <a:avLst/>
          </a:prstGeom>
          <a:noFill/>
        </p:spPr>
        <p:txBody>
          <a:bodyPr wrap="square" lIns="0" rIns="0" tIns="0" bIns="0" anchor="t">
            <a:spAutoFit/>
          </a:bodyPr>
          <a:lstStyle/>
          <a:p>
            <a:pPr algn="l">
              <a:lnSpc>
                <a:spcPct val="115000"/>
              </a:lnSpc>
              <a:spcAft>
                <a:spcPts val="0"/>
              </a:spcAft>
            </a:pPr>
            <a:r>
              <a:rPr sz="1350" b="0">
                <a:solidFill>
                  <a:srgbClr val="16181B"/>
                </a:solidFill>
                <a:latin typeface="Arial"/>
              </a:rPr>
              <a:t>Cuts are announced on 4 separate provider websites, as tables of street names. Nobody checks them, so people rely on Facebook groups, or find out when the tap runs dry.</a:t>
            </a:r>
          </a:p>
        </p:txBody>
      </p:sp>
      <p:sp>
        <p:nvSpPr>
          <p:cNvPr id="10" name="Oval 9"/>
          <p:cNvSpPr/>
          <p:nvPr/>
        </p:nvSpPr>
        <p:spPr>
          <a:xfrm>
            <a:off x="566928" y="4892040"/>
            <a:ext cx="118872" cy="118872"/>
          </a:xfrm>
          <a:prstGeom prst="ellipse">
            <a:avLst/>
          </a:prstGeom>
          <a:solidFill>
            <a:srgbClr val="555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837176"/>
            <a:ext cx="5394960" cy="274320"/>
          </a:xfrm>
          <a:prstGeom prst="rect">
            <a:avLst/>
          </a:prstGeom>
          <a:noFill/>
        </p:spPr>
        <p:txBody>
          <a:bodyPr wrap="square" lIns="0" rIns="0" tIns="0" bIns="0" anchor="t">
            <a:spAutoFit/>
          </a:bodyPr>
          <a:lstStyle/>
          <a:p>
            <a:pPr algn="l">
              <a:spcAft>
                <a:spcPts val="0"/>
              </a:spcAft>
            </a:pPr>
            <a:r>
              <a:rPr sz="1050" b="1" spc="150">
                <a:solidFill>
                  <a:srgbClr val="555A61"/>
                </a:solidFill>
                <a:latin typeface="Arial"/>
              </a:rPr>
              <a:t>WHY DOES IT MATTER TO THE CITY?</a:t>
            </a:r>
          </a:p>
        </p:txBody>
      </p:sp>
      <p:sp>
        <p:nvSpPr>
          <p:cNvPr id="12" name="TextBox 11"/>
          <p:cNvSpPr txBox="1"/>
          <p:nvPr/>
        </p:nvSpPr>
        <p:spPr>
          <a:xfrm>
            <a:off x="822960" y="5148072"/>
            <a:ext cx="5394960" cy="914400"/>
          </a:xfrm>
          <a:prstGeom prst="rect">
            <a:avLst/>
          </a:prstGeom>
          <a:noFill/>
        </p:spPr>
        <p:txBody>
          <a:bodyPr wrap="square" lIns="0" rIns="0" tIns="0" bIns="0" anchor="t">
            <a:spAutoFit/>
          </a:bodyPr>
          <a:lstStyle/>
          <a:p>
            <a:pPr algn="l">
              <a:lnSpc>
                <a:spcPct val="115000"/>
              </a:lnSpc>
              <a:spcAft>
                <a:spcPts val="0"/>
              </a:spcAft>
            </a:pPr>
            <a:r>
              <a:rPr sz="1350" b="0">
                <a:solidFill>
                  <a:srgbClr val="16181B"/>
                </a:solidFill>
                <a:latin typeface="Arial"/>
              </a:rPr>
              <a:t>People can't prepare, hotlines get flooded, and nobody gets an early signal about breakdowns that were never announced.</a:t>
            </a:r>
          </a:p>
        </p:txBody>
      </p:sp>
      <p:sp>
        <p:nvSpPr>
          <p:cNvPr id="13" name="Rounded Rectangle 12"/>
          <p:cNvSpPr/>
          <p:nvPr/>
        </p:nvSpPr>
        <p:spPr>
          <a:xfrm>
            <a:off x="6720840" y="457200"/>
            <a:ext cx="4919472" cy="5623560"/>
          </a:xfrm>
          <a:prstGeom prst="roundRect">
            <a:avLst>
              <a:gd name="adj" fmla="val 6505"/>
            </a:avLst>
          </a:prstGeom>
          <a:solidFill>
            <a:srgbClr val="0F12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0" y="658368"/>
            <a:ext cx="4389120" cy="274320"/>
          </a:xfrm>
          <a:prstGeom prst="rect">
            <a:avLst/>
          </a:prstGeom>
          <a:noFill/>
        </p:spPr>
        <p:txBody>
          <a:bodyPr wrap="square" lIns="0" rIns="0" tIns="0" bIns="0" anchor="t">
            <a:spAutoFit/>
          </a:bodyPr>
          <a:lstStyle/>
          <a:p>
            <a:pPr algn="l">
              <a:spcAft>
                <a:spcPts val="0"/>
              </a:spcAft>
            </a:pPr>
            <a:r>
              <a:rPr sz="1050" b="1" spc="200">
                <a:solidFill>
                  <a:srgbClr val="A9B0B9"/>
                </a:solidFill>
                <a:latin typeface="Arial"/>
              </a:rPr>
              <a:t>WHO WANTS IT</a:t>
            </a:r>
          </a:p>
        </p:txBody>
      </p:sp>
      <p:sp>
        <p:nvSpPr>
          <p:cNvPr id="15" name="Oval 14"/>
          <p:cNvSpPr/>
          <p:nvPr/>
        </p:nvSpPr>
        <p:spPr>
          <a:xfrm>
            <a:off x="6940296" y="1051560"/>
            <a:ext cx="4480560" cy="4480560"/>
          </a:xfrm>
          <a:prstGeom prst="ellipse">
            <a:avLst/>
          </a:prstGeom>
          <a:gradFill rotWithShape="1">
            <a:gsLst>
              <a:gs pos="0">
                <a:srgbClr val="252B33"/>
              </a:gs>
              <a:gs pos="100000">
                <a:srgbClr val="171B21"/>
              </a:gs>
            </a:gsLst>
            <a:lin scaled="0" ang="36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580375" y="2331720"/>
            <a:ext cx="3200400" cy="3200400"/>
          </a:xfrm>
          <a:prstGeom prst="ellipse">
            <a:avLst/>
          </a:prstGeom>
          <a:gradFill rotWithShape="1">
            <a:gsLst>
              <a:gs pos="0">
                <a:srgbClr val="353B45"/>
              </a:gs>
              <a:gs pos="100000">
                <a:srgbClr val="1F242B"/>
              </a:gs>
            </a:gsLst>
            <a:lin scaled="0" ang="36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037575" y="3703320"/>
            <a:ext cx="1828800" cy="1828800"/>
          </a:xfrm>
          <a:prstGeom prst="ellipse">
            <a:avLst/>
          </a:prstGeom>
          <a:gradFill rotWithShape="1">
            <a:gsLst>
              <a:gs pos="0">
                <a:srgbClr val="A9B0B9"/>
              </a:gs>
              <a:gs pos="100000">
                <a:srgbClr val="3A414B"/>
              </a:gs>
            </a:gsLst>
            <a:lin scaled="0" ang="36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0296" y="1188720"/>
            <a:ext cx="4480560" cy="1097280"/>
          </a:xfrm>
          <a:prstGeom prst="rect">
            <a:avLst/>
          </a:prstGeom>
          <a:noFill/>
        </p:spPr>
        <p:txBody>
          <a:bodyPr wrap="square" lIns="0" rIns="0" tIns="0" bIns="0" anchor="t">
            <a:spAutoFit/>
          </a:bodyPr>
          <a:lstStyle/>
          <a:p>
            <a:pPr algn="ctr">
              <a:lnSpc>
                <a:spcPct val="100000"/>
              </a:lnSpc>
              <a:spcAft>
                <a:spcPts val="0"/>
              </a:spcAft>
            </a:pPr>
            <a:r>
              <a:rPr sz="3200" b="1">
                <a:solidFill>
                  <a:srgbClr val="ECEEF1"/>
                </a:solidFill>
                <a:latin typeface="Arial"/>
              </a:rPr>
              <a:t>720K</a:t>
            </a:r>
          </a:p>
          <a:p>
            <a:pPr algn="ctr">
              <a:lnSpc>
                <a:spcPct val="100000"/>
              </a:lnSpc>
              <a:spcAft>
                <a:spcPts val="0"/>
              </a:spcAft>
            </a:pPr>
            <a:r>
              <a:rPr sz="1100" b="0">
                <a:solidFill>
                  <a:srgbClr val="A9B0B9"/>
                </a:solidFill>
                <a:latin typeface="Arial"/>
              </a:rPr>
              <a:t>people in Chișinău</a:t>
            </a:r>
          </a:p>
        </p:txBody>
      </p:sp>
      <p:sp>
        <p:nvSpPr>
          <p:cNvPr id="19" name="TextBox 18"/>
          <p:cNvSpPr txBox="1"/>
          <p:nvPr/>
        </p:nvSpPr>
        <p:spPr>
          <a:xfrm>
            <a:off x="7580375" y="2514600"/>
            <a:ext cx="3200400" cy="1097280"/>
          </a:xfrm>
          <a:prstGeom prst="rect">
            <a:avLst/>
          </a:prstGeom>
          <a:noFill/>
        </p:spPr>
        <p:txBody>
          <a:bodyPr wrap="square" lIns="0" rIns="0" tIns="0" bIns="0" anchor="t">
            <a:spAutoFit/>
          </a:bodyPr>
          <a:lstStyle/>
          <a:p>
            <a:pPr algn="ctr">
              <a:lnSpc>
                <a:spcPct val="100000"/>
              </a:lnSpc>
              <a:spcAft>
                <a:spcPts val="0"/>
              </a:spcAft>
            </a:pPr>
            <a:r>
              <a:rPr sz="3200" b="1">
                <a:solidFill>
                  <a:srgbClr val="ECEEF1"/>
                </a:solidFill>
                <a:latin typeface="Arial"/>
              </a:rPr>
              <a:t>91%</a:t>
            </a:r>
          </a:p>
          <a:p>
            <a:pPr algn="ctr">
              <a:lnSpc>
                <a:spcPct val="100000"/>
              </a:lnSpc>
              <a:spcAft>
                <a:spcPts val="0"/>
              </a:spcAft>
            </a:pPr>
            <a:r>
              <a:rPr sz="1100" b="0">
                <a:solidFill>
                  <a:srgbClr val="A9B0B9"/>
                </a:solidFill>
                <a:latin typeface="Arial"/>
              </a:rPr>
              <a:t>want every outage in one place</a:t>
            </a:r>
          </a:p>
        </p:txBody>
      </p:sp>
      <p:sp>
        <p:nvSpPr>
          <p:cNvPr id="20" name="TextBox 19"/>
          <p:cNvSpPr txBox="1"/>
          <p:nvPr/>
        </p:nvSpPr>
        <p:spPr>
          <a:xfrm>
            <a:off x="8037575" y="4023360"/>
            <a:ext cx="1828800" cy="1188720"/>
          </a:xfrm>
          <a:prstGeom prst="rect">
            <a:avLst/>
          </a:prstGeom>
          <a:noFill/>
        </p:spPr>
        <p:txBody>
          <a:bodyPr wrap="square" lIns="0" rIns="0" tIns="0" bIns="0" anchor="t">
            <a:spAutoFit/>
          </a:bodyPr>
          <a:lstStyle/>
          <a:p>
            <a:pPr algn="ctr">
              <a:lnSpc>
                <a:spcPct val="100000"/>
              </a:lnSpc>
              <a:spcAft>
                <a:spcPts val="0"/>
              </a:spcAft>
            </a:pPr>
            <a:r>
              <a:rPr sz="3000" b="1">
                <a:solidFill>
                  <a:srgbClr val="FFFFFF"/>
                </a:solidFill>
                <a:latin typeface="Arial"/>
              </a:rPr>
              <a:t>83%</a:t>
            </a:r>
          </a:p>
          <a:p>
            <a:pPr algn="ctr">
              <a:lnSpc>
                <a:spcPct val="100000"/>
              </a:lnSpc>
              <a:spcAft>
                <a:spcPts val="0"/>
              </a:spcAft>
            </a:pPr>
            <a:r>
              <a:rPr sz="1100" b="0">
                <a:solidFill>
                  <a:srgbClr val="EEF0F2"/>
                </a:solidFill>
                <a:latin typeface="Arial"/>
              </a:rPr>
              <a:t>would use it</a:t>
            </a:r>
          </a:p>
        </p:txBody>
      </p:sp>
      <p:sp>
        <p:nvSpPr>
          <p:cNvPr id="21" name="TextBox 20"/>
          <p:cNvSpPr txBox="1"/>
          <p:nvPr/>
        </p:nvSpPr>
        <p:spPr>
          <a:xfrm>
            <a:off x="6995160" y="5623560"/>
            <a:ext cx="4389120" cy="320040"/>
          </a:xfrm>
          <a:prstGeom prst="rect">
            <a:avLst/>
          </a:prstGeom>
          <a:noFill/>
        </p:spPr>
        <p:txBody>
          <a:bodyPr wrap="square" lIns="0" rIns="0" tIns="0" bIns="0" anchor="t">
            <a:spAutoFit/>
          </a:bodyPr>
          <a:lstStyle/>
          <a:p>
            <a:pPr algn="l">
              <a:spcAft>
                <a:spcPts val="0"/>
              </a:spcAft>
            </a:pPr>
            <a:r>
              <a:rPr sz="900" b="0">
                <a:solidFill>
                  <a:srgbClr val="A9B0B9"/>
                </a:solidFill>
                <a:latin typeface="Arial"/>
              </a:rPr>
              <a:t>720K: 2024 census · 91% and 83%: our survey</a:t>
            </a:r>
          </a:p>
        </p:txBody>
      </p:sp>
      <p:sp>
        <p:nvSpPr>
          <p:cNvPr id="22" name="Rounded Rectangle 21"/>
          <p:cNvSpPr/>
          <p:nvPr/>
        </p:nvSpPr>
        <p:spPr>
          <a:xfrm>
            <a:off x="548640" y="6291072"/>
            <a:ext cx="237744" cy="237744"/>
          </a:xfrm>
          <a:prstGeom prst="roundRect">
            <a:avLst>
              <a:gd name="adj" fmla="val 28125"/>
            </a:avLst>
          </a:prstGeom>
          <a:solidFill>
            <a:srgbClr val="16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00646" y="6391370"/>
            <a:ext cx="133731" cy="37147"/>
          </a:xfrm>
          <a:prstGeom prst="roundRect">
            <a:avLst>
              <a:gd name="adj" fmla="val 50000"/>
            </a:avLst>
          </a:prstGeom>
          <a:solidFill>
            <a:srgbClr val="5C5D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00646" y="6391370"/>
            <a:ext cx="81724" cy="37147"/>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960120" y="6409944"/>
            <a:ext cx="8503920" cy="0"/>
          </a:xfrm>
          <a:prstGeom prst="line">
            <a:avLst/>
          </a:prstGeom>
          <a:ln w="9525">
            <a:solidFill>
              <a:srgbClr val="C4C4BB"/>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601200" y="6291072"/>
            <a:ext cx="2039112" cy="237744"/>
          </a:xfrm>
          <a:prstGeom prst="rect">
            <a:avLst/>
          </a:prstGeom>
          <a:noFill/>
        </p:spPr>
        <p:txBody>
          <a:bodyPr wrap="square" lIns="0" rIns="0" tIns="0" bIns="0" anchor="ctr">
            <a:spAutoFit/>
          </a:bodyPr>
          <a:lstStyle/>
          <a:p>
            <a:pPr algn="r">
              <a:spcAft>
                <a:spcPts val="0"/>
              </a:spcAft>
            </a:pPr>
            <a:r>
              <a:rPr sz="1000" b="0">
                <a:solidFill>
                  <a:srgbClr val="555A61"/>
                </a:solidFill>
                <a:latin typeface="Arial"/>
              </a:rPr>
              <a:t>Work In Progress · Chișinău</a:t>
            </a:r>
            <a:r>
              <a:rPr sz="1000" b="1">
                <a:solidFill>
                  <a:srgbClr val="555A61"/>
                </a:solidFill>
                <a:latin typeface="Arial"/>
              </a:rPr>
              <a:t>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3EF"/>
        </a:solidFill>
        <a:effectLst/>
      </p:bgPr>
    </p:bg>
    <p:spTree>
      <p:nvGrpSpPr>
        <p:cNvPr id="1" name=""/>
        <p:cNvGrpSpPr/>
        <p:nvPr/>
      </p:nvGrpSpPr>
      <p:grpSpPr/>
      <p:sp>
        <p:nvSpPr>
          <p:cNvPr id="2" name="TextBox 1"/>
          <p:cNvSpPr txBox="1"/>
          <p:nvPr/>
        </p:nvSpPr>
        <p:spPr>
          <a:xfrm>
            <a:off x="548640" y="502920"/>
            <a:ext cx="5486400" cy="274320"/>
          </a:xfrm>
          <a:prstGeom prst="rect">
            <a:avLst/>
          </a:prstGeom>
          <a:noFill/>
        </p:spPr>
        <p:txBody>
          <a:bodyPr wrap="square" lIns="0" rIns="0" tIns="0" bIns="0" anchor="t">
            <a:spAutoFit/>
          </a:bodyPr>
          <a:lstStyle/>
          <a:p>
            <a:pPr algn="l">
              <a:spcAft>
                <a:spcPts val="0"/>
              </a:spcAft>
            </a:pPr>
            <a:r>
              <a:rPr sz="1100" b="1" spc="300">
                <a:solidFill>
                  <a:srgbClr val="555A61"/>
                </a:solidFill>
                <a:latin typeface="Arial"/>
              </a:rPr>
              <a:t>OUR SOLUTION</a:t>
            </a:r>
          </a:p>
        </p:txBody>
      </p:sp>
      <p:sp>
        <p:nvSpPr>
          <p:cNvPr id="3" name="TextBox 2"/>
          <p:cNvSpPr txBox="1"/>
          <p:nvPr/>
        </p:nvSpPr>
        <p:spPr>
          <a:xfrm>
            <a:off x="548640" y="822960"/>
            <a:ext cx="4572000" cy="1188720"/>
          </a:xfrm>
          <a:prstGeom prst="rect">
            <a:avLst/>
          </a:prstGeom>
          <a:noFill/>
        </p:spPr>
        <p:txBody>
          <a:bodyPr wrap="square" lIns="0" rIns="0" tIns="0" bIns="0" anchor="t">
            <a:spAutoFit/>
          </a:bodyPr>
          <a:lstStyle/>
          <a:p>
            <a:pPr algn="l">
              <a:lnSpc>
                <a:spcPct val="98000"/>
              </a:lnSpc>
              <a:spcAft>
                <a:spcPts val="0"/>
              </a:spcAft>
            </a:pPr>
            <a:r>
              <a:rPr sz="3600" b="1">
                <a:solidFill>
                  <a:srgbClr val="16181B"/>
                </a:solidFill>
                <a:latin typeface="Arial"/>
              </a:rPr>
              <a:t>One live map.</a:t>
            </a:r>
          </a:p>
          <a:p>
            <a:pPr algn="l">
              <a:lnSpc>
                <a:spcPct val="98000"/>
              </a:lnSpc>
              <a:spcAft>
                <a:spcPts val="0"/>
              </a:spcAft>
            </a:pPr>
            <a:r>
              <a:rPr sz="3600" b="1">
                <a:solidFill>
                  <a:srgbClr val="16181B"/>
                </a:solidFill>
                <a:latin typeface="Arial"/>
              </a:rPr>
              <a:t>Real data.</a:t>
            </a:r>
          </a:p>
        </p:txBody>
      </p:sp>
      <p:sp>
        <p:nvSpPr>
          <p:cNvPr id="4" name="TextBox 3"/>
          <p:cNvSpPr txBox="1"/>
          <p:nvPr/>
        </p:nvSpPr>
        <p:spPr>
          <a:xfrm>
            <a:off x="548640" y="2011680"/>
            <a:ext cx="4389120" cy="1097280"/>
          </a:xfrm>
          <a:prstGeom prst="rect">
            <a:avLst/>
          </a:prstGeom>
          <a:noFill/>
        </p:spPr>
        <p:txBody>
          <a:bodyPr wrap="square" lIns="0" rIns="0" tIns="0" bIns="0" anchor="t">
            <a:spAutoFit/>
          </a:bodyPr>
          <a:lstStyle/>
          <a:p>
            <a:pPr algn="l">
              <a:lnSpc>
                <a:spcPct val="115000"/>
              </a:lnSpc>
              <a:spcAft>
                <a:spcPts val="0"/>
              </a:spcAft>
            </a:pPr>
            <a:r>
              <a:rPr sz="1350" b="0">
                <a:solidFill>
                  <a:srgbClr val="555A61"/>
                </a:solidFill>
                <a:latin typeface="Arial"/>
              </a:rPr>
              <a:t>Every water, power and gas outage in Chișinău on one map: official announcements imported automatically, plus problems confirmed by neighbours.</a:t>
            </a:r>
          </a:p>
        </p:txBody>
      </p:sp>
      <p:sp>
        <p:nvSpPr>
          <p:cNvPr id="5" name="Rounded Rectangle 4"/>
          <p:cNvSpPr/>
          <p:nvPr/>
        </p:nvSpPr>
        <p:spPr>
          <a:xfrm>
            <a:off x="548640" y="3246120"/>
            <a:ext cx="4389120" cy="804672"/>
          </a:xfrm>
          <a:prstGeom prst="roundRect">
            <a:avLst>
              <a:gd name="adj" fmla="val 20454"/>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13232" y="3419856"/>
            <a:ext cx="457200" cy="457200"/>
          </a:xfrm>
          <a:prstGeom prst="roundRect">
            <a:avLst>
              <a:gd name="adj" fmla="val 50000"/>
            </a:avLst>
          </a:prstGeom>
          <a:solidFill>
            <a:srgbClr val="E7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3419856"/>
            <a:ext cx="457200" cy="457200"/>
          </a:xfrm>
          <a:prstGeom prst="rect">
            <a:avLst/>
          </a:prstGeom>
          <a:noFill/>
        </p:spPr>
        <p:txBody>
          <a:bodyPr wrap="square" lIns="0" rIns="0" tIns="0" bIns="0" anchor="ctr">
            <a:spAutoFit/>
          </a:bodyPr>
          <a:lstStyle/>
          <a:p>
            <a:pPr algn="ctr">
              <a:spcAft>
                <a:spcPts val="0"/>
              </a:spcAft>
            </a:pPr>
            <a:r>
              <a:rPr sz="1300" b="1">
                <a:solidFill>
                  <a:srgbClr val="1F5FC9"/>
                </a:solidFill>
                <a:latin typeface="Arial"/>
              </a:rPr>
              <a:t>1</a:t>
            </a:r>
          </a:p>
        </p:txBody>
      </p:sp>
      <p:sp>
        <p:nvSpPr>
          <p:cNvPr id="8" name="TextBox 7"/>
          <p:cNvSpPr txBox="1"/>
          <p:nvPr/>
        </p:nvSpPr>
        <p:spPr>
          <a:xfrm>
            <a:off x="1325880" y="3337560"/>
            <a:ext cx="3520440" cy="685800"/>
          </a:xfrm>
          <a:prstGeom prst="rect">
            <a:avLst/>
          </a:prstGeom>
          <a:noFill/>
        </p:spPr>
        <p:txBody>
          <a:bodyPr wrap="square" lIns="0" rIns="0" tIns="0" bIns="0" anchor="ctr">
            <a:spAutoFit/>
          </a:bodyPr>
          <a:lstStyle/>
          <a:p>
            <a:pPr algn="l">
              <a:lnSpc>
                <a:spcPct val="105000"/>
              </a:lnSpc>
              <a:spcAft>
                <a:spcPts val="0"/>
              </a:spcAft>
            </a:pPr>
            <a:r>
              <a:rPr sz="1250" b="1">
                <a:solidFill>
                  <a:srgbClr val="16181B"/>
                </a:solidFill>
                <a:latin typeface="Arial"/>
              </a:rPr>
              <a:t>Every official outage, on one map</a:t>
            </a:r>
          </a:p>
          <a:p>
            <a:pPr algn="l">
              <a:lnSpc>
                <a:spcPct val="105000"/>
              </a:lnSpc>
              <a:spcAft>
                <a:spcPts val="0"/>
              </a:spcAft>
            </a:pPr>
            <a:r>
              <a:rPr sz="1050" b="0">
                <a:solidFill>
                  <a:srgbClr val="555A61"/>
                </a:solidFill>
                <a:latin typeface="Arial"/>
              </a:rPr>
              <a:t>4 providers imported every hour, placed on the real streets</a:t>
            </a:r>
          </a:p>
        </p:txBody>
      </p:sp>
      <p:sp>
        <p:nvSpPr>
          <p:cNvPr id="9" name="Rounded Rectangle 8"/>
          <p:cNvSpPr/>
          <p:nvPr/>
        </p:nvSpPr>
        <p:spPr>
          <a:xfrm>
            <a:off x="548640" y="4187952"/>
            <a:ext cx="4389120" cy="804672"/>
          </a:xfrm>
          <a:prstGeom prst="roundRect">
            <a:avLst>
              <a:gd name="adj" fmla="val 20454"/>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3232" y="4361688"/>
            <a:ext cx="457200" cy="457200"/>
          </a:xfrm>
          <a:prstGeom prst="roundRect">
            <a:avLst>
              <a:gd name="adj" fmla="val 50000"/>
            </a:avLst>
          </a:prstGeom>
          <a:solidFill>
            <a:srgbClr val="FDF3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4361688"/>
            <a:ext cx="457200" cy="457200"/>
          </a:xfrm>
          <a:prstGeom prst="rect">
            <a:avLst/>
          </a:prstGeom>
          <a:noFill/>
        </p:spPr>
        <p:txBody>
          <a:bodyPr wrap="square" lIns="0" rIns="0" tIns="0" bIns="0" anchor="ctr">
            <a:spAutoFit/>
          </a:bodyPr>
          <a:lstStyle/>
          <a:p>
            <a:pPr algn="ctr">
              <a:spcAft>
                <a:spcPts val="0"/>
              </a:spcAft>
            </a:pPr>
            <a:r>
              <a:rPr sz="1300" b="1">
                <a:solidFill>
                  <a:srgbClr val="A16207"/>
                </a:solidFill>
                <a:latin typeface="Arial"/>
              </a:rPr>
              <a:t>2</a:t>
            </a:r>
          </a:p>
        </p:txBody>
      </p:sp>
      <p:sp>
        <p:nvSpPr>
          <p:cNvPr id="12" name="TextBox 11"/>
          <p:cNvSpPr txBox="1"/>
          <p:nvPr/>
        </p:nvSpPr>
        <p:spPr>
          <a:xfrm>
            <a:off x="1325880" y="4279392"/>
            <a:ext cx="3520440" cy="685800"/>
          </a:xfrm>
          <a:prstGeom prst="rect">
            <a:avLst/>
          </a:prstGeom>
          <a:noFill/>
        </p:spPr>
        <p:txBody>
          <a:bodyPr wrap="square" lIns="0" rIns="0" tIns="0" bIns="0" anchor="ctr">
            <a:spAutoFit/>
          </a:bodyPr>
          <a:lstStyle/>
          <a:p>
            <a:pPr algn="l">
              <a:lnSpc>
                <a:spcPct val="105000"/>
              </a:lnSpc>
              <a:spcAft>
                <a:spcPts val="0"/>
              </a:spcAft>
            </a:pPr>
            <a:r>
              <a:rPr sz="1250" b="1">
                <a:solidFill>
                  <a:srgbClr val="16181B"/>
                </a:solidFill>
                <a:latin typeface="Arial"/>
              </a:rPr>
              <a:t>Am I affected, and when?</a:t>
            </a:r>
          </a:p>
          <a:p>
            <a:pPr algn="l">
              <a:lnSpc>
                <a:spcPct val="105000"/>
              </a:lnSpc>
              <a:spcAft>
                <a:spcPts val="0"/>
              </a:spcAft>
            </a:pPr>
            <a:r>
              <a:rPr sz="1050" b="0">
                <a:solidFill>
                  <a:srgbClr val="555A61"/>
                </a:solidFill>
                <a:latin typeface="Arial"/>
              </a:rPr>
              <a:t>Saved addresses (home, work, family) and a calendar of planned cuts</a:t>
            </a:r>
          </a:p>
        </p:txBody>
      </p:sp>
      <p:sp>
        <p:nvSpPr>
          <p:cNvPr id="13" name="Rounded Rectangle 12"/>
          <p:cNvSpPr/>
          <p:nvPr/>
        </p:nvSpPr>
        <p:spPr>
          <a:xfrm>
            <a:off x="548640" y="5129783"/>
            <a:ext cx="4389120" cy="804672"/>
          </a:xfrm>
          <a:prstGeom prst="roundRect">
            <a:avLst>
              <a:gd name="adj" fmla="val 20454"/>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3232" y="5303520"/>
            <a:ext cx="457200" cy="457200"/>
          </a:xfrm>
          <a:prstGeom prst="roundRect">
            <a:avLst>
              <a:gd name="adj" fmla="val 50000"/>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5303520"/>
            <a:ext cx="457200" cy="457200"/>
          </a:xfrm>
          <a:prstGeom prst="rect">
            <a:avLst/>
          </a:prstGeom>
          <a:noFill/>
        </p:spPr>
        <p:txBody>
          <a:bodyPr wrap="square" lIns="0" rIns="0" tIns="0" bIns="0" anchor="ctr">
            <a:spAutoFit/>
          </a:bodyPr>
          <a:lstStyle/>
          <a:p>
            <a:pPr algn="ctr">
              <a:spcAft>
                <a:spcPts val="0"/>
              </a:spcAft>
            </a:pPr>
            <a:r>
              <a:rPr sz="1300" b="1">
                <a:solidFill>
                  <a:srgbClr val="1C7340"/>
                </a:solidFill>
                <a:latin typeface="Arial"/>
              </a:rPr>
              <a:t>3</a:t>
            </a:r>
          </a:p>
        </p:txBody>
      </p:sp>
      <p:sp>
        <p:nvSpPr>
          <p:cNvPr id="16" name="TextBox 15"/>
          <p:cNvSpPr txBox="1"/>
          <p:nvPr/>
        </p:nvSpPr>
        <p:spPr>
          <a:xfrm>
            <a:off x="1325880" y="5221223"/>
            <a:ext cx="3520440" cy="685800"/>
          </a:xfrm>
          <a:prstGeom prst="rect">
            <a:avLst/>
          </a:prstGeom>
          <a:noFill/>
        </p:spPr>
        <p:txBody>
          <a:bodyPr wrap="square" lIns="0" rIns="0" tIns="0" bIns="0" anchor="ctr">
            <a:spAutoFit/>
          </a:bodyPr>
          <a:lstStyle/>
          <a:p>
            <a:pPr algn="l">
              <a:lnSpc>
                <a:spcPct val="105000"/>
              </a:lnSpc>
              <a:spcAft>
                <a:spcPts val="0"/>
              </a:spcAft>
            </a:pPr>
            <a:r>
              <a:rPr sz="1250" b="1">
                <a:solidFill>
                  <a:srgbClr val="16181B"/>
                </a:solidFill>
                <a:latin typeface="Arial"/>
              </a:rPr>
              <a:t>Neighbours confirm what's happening</a:t>
            </a:r>
          </a:p>
          <a:p>
            <a:pPr algn="l">
              <a:lnSpc>
                <a:spcPct val="105000"/>
              </a:lnSpc>
              <a:spcAft>
                <a:spcPts val="0"/>
              </a:spcAft>
            </a:pPr>
            <a:r>
              <a:rPr sz="1050" b="0">
                <a:solidFill>
                  <a:srgbClr val="555A61"/>
                </a:solidFill>
                <a:latin typeface="Arial"/>
              </a:rPr>
              <a:t>Report on the web or in Telegram; 3 × "Me too" nearby makes it Confirmed</a:t>
            </a:r>
          </a:p>
        </p:txBody>
      </p:sp>
      <p:pic>
        <p:nvPicPr>
          <p:cNvPr id="17" name="Picture 16" descr="d_city.jpg"/>
          <p:cNvPicPr>
            <a:picLocks noChangeAspect="1"/>
          </p:cNvPicPr>
          <p:nvPr/>
        </p:nvPicPr>
        <p:blipFill>
          <a:blip r:embed="rId2"/>
          <a:stretch>
            <a:fillRect/>
          </a:stretch>
        </p:blipFill>
        <p:spPr>
          <a:xfrm>
            <a:off x="5303520" y="502920"/>
            <a:ext cx="6336792" cy="3960495"/>
          </a:xfrm>
          <a:prstGeom prst="roundRect">
            <a:avLst>
              <a:gd name="adj" fmla="val 3694"/>
            </a:avLst>
          </a:prstGeom>
        </p:spPr>
      </p:pic>
      <p:sp>
        <p:nvSpPr>
          <p:cNvPr id="18" name="Rounded Rectangle 17"/>
          <p:cNvSpPr/>
          <p:nvPr/>
        </p:nvSpPr>
        <p:spPr>
          <a:xfrm>
            <a:off x="10222992" y="2313432"/>
            <a:ext cx="1453895" cy="2997356"/>
          </a:xfrm>
          <a:prstGeom prst="roundRect">
            <a:avLst>
              <a:gd name="adj" fmla="val 18867"/>
            </a:avLst>
          </a:prstGeom>
          <a:solidFill>
            <a:srgbClr val="0B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dk_m_detail.jpg"/>
          <p:cNvPicPr>
            <a:picLocks noChangeAspect="1"/>
          </p:cNvPicPr>
          <p:nvPr/>
        </p:nvPicPr>
        <p:blipFill>
          <a:blip r:embed="rId3"/>
          <a:stretch>
            <a:fillRect/>
          </a:stretch>
        </p:blipFill>
        <p:spPr>
          <a:xfrm>
            <a:off x="10287000" y="2377440"/>
            <a:ext cx="1325880" cy="2869340"/>
          </a:xfrm>
          <a:prstGeom prst="roundRect">
            <a:avLst>
              <a:gd name="adj" fmla="val 16551"/>
            </a:avLst>
          </a:prstGeom>
        </p:spPr>
      </p:pic>
      <p:sp>
        <p:nvSpPr>
          <p:cNvPr id="20" name="Rounded Rectangle 19"/>
          <p:cNvSpPr/>
          <p:nvPr/>
        </p:nvSpPr>
        <p:spPr>
          <a:xfrm>
            <a:off x="5303520" y="4754880"/>
            <a:ext cx="1097280" cy="1188720"/>
          </a:xfrm>
          <a:prstGeom prst="roundRect">
            <a:avLst>
              <a:gd name="adj" fmla="val 13333"/>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31536" y="4846320"/>
            <a:ext cx="914400" cy="457200"/>
          </a:xfrm>
          <a:prstGeom prst="rect">
            <a:avLst/>
          </a:prstGeom>
          <a:noFill/>
        </p:spPr>
        <p:txBody>
          <a:bodyPr wrap="square" lIns="0" rIns="0" tIns="0" bIns="0" anchor="t">
            <a:spAutoFit/>
          </a:bodyPr>
          <a:lstStyle/>
          <a:p>
            <a:pPr algn="l">
              <a:spcAft>
                <a:spcPts val="0"/>
              </a:spcAft>
            </a:pPr>
            <a:r>
              <a:rPr sz="2200" b="1">
                <a:solidFill>
                  <a:srgbClr val="1F5FC9"/>
                </a:solidFill>
                <a:latin typeface="Arial"/>
              </a:rPr>
              <a:t>23</a:t>
            </a:r>
          </a:p>
        </p:txBody>
      </p:sp>
      <p:sp>
        <p:nvSpPr>
          <p:cNvPr id="22" name="TextBox 21"/>
          <p:cNvSpPr txBox="1"/>
          <p:nvPr/>
        </p:nvSpPr>
        <p:spPr>
          <a:xfrm>
            <a:off x="5431536" y="5321808"/>
            <a:ext cx="896112" cy="548640"/>
          </a:xfrm>
          <a:prstGeom prst="rect">
            <a:avLst/>
          </a:prstGeom>
          <a:noFill/>
        </p:spPr>
        <p:txBody>
          <a:bodyPr wrap="square" lIns="0" rIns="0" tIns="0" bIns="0" anchor="t">
            <a:spAutoFit/>
          </a:bodyPr>
          <a:lstStyle/>
          <a:p>
            <a:pPr algn="l">
              <a:lnSpc>
                <a:spcPct val="100000"/>
              </a:lnSpc>
              <a:spcAft>
                <a:spcPts val="0"/>
              </a:spcAft>
            </a:pPr>
            <a:r>
              <a:rPr sz="950" b="0">
                <a:solidFill>
                  <a:srgbClr val="555A61"/>
                </a:solidFill>
                <a:latin typeface="Arial"/>
              </a:rPr>
              <a:t>events on the map now</a:t>
            </a:r>
          </a:p>
        </p:txBody>
      </p:sp>
      <p:sp>
        <p:nvSpPr>
          <p:cNvPr id="23" name="Rounded Rectangle 22"/>
          <p:cNvSpPr/>
          <p:nvPr/>
        </p:nvSpPr>
        <p:spPr>
          <a:xfrm>
            <a:off x="6492240" y="4754880"/>
            <a:ext cx="1097280" cy="1188720"/>
          </a:xfrm>
          <a:prstGeom prst="roundRect">
            <a:avLst>
              <a:gd name="adj" fmla="val 13333"/>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20255" y="4846320"/>
            <a:ext cx="914400" cy="457200"/>
          </a:xfrm>
          <a:prstGeom prst="rect">
            <a:avLst/>
          </a:prstGeom>
          <a:noFill/>
        </p:spPr>
        <p:txBody>
          <a:bodyPr wrap="square" lIns="0" rIns="0" tIns="0" bIns="0" anchor="t">
            <a:spAutoFit/>
          </a:bodyPr>
          <a:lstStyle/>
          <a:p>
            <a:pPr algn="l">
              <a:spcAft>
                <a:spcPts val="0"/>
              </a:spcAft>
            </a:pPr>
            <a:r>
              <a:rPr sz="2200" b="1">
                <a:solidFill>
                  <a:srgbClr val="A16207"/>
                </a:solidFill>
                <a:latin typeface="Arial"/>
              </a:rPr>
              <a:t>254</a:t>
            </a:r>
          </a:p>
        </p:txBody>
      </p:sp>
      <p:sp>
        <p:nvSpPr>
          <p:cNvPr id="25" name="TextBox 24"/>
          <p:cNvSpPr txBox="1"/>
          <p:nvPr/>
        </p:nvSpPr>
        <p:spPr>
          <a:xfrm>
            <a:off x="6620255" y="5321808"/>
            <a:ext cx="896112" cy="548640"/>
          </a:xfrm>
          <a:prstGeom prst="rect">
            <a:avLst/>
          </a:prstGeom>
          <a:noFill/>
        </p:spPr>
        <p:txBody>
          <a:bodyPr wrap="square" lIns="0" rIns="0" tIns="0" bIns="0" anchor="t">
            <a:spAutoFit/>
          </a:bodyPr>
          <a:lstStyle/>
          <a:p>
            <a:pPr algn="l">
              <a:lnSpc>
                <a:spcPct val="100000"/>
              </a:lnSpc>
              <a:spcAft>
                <a:spcPts val="0"/>
              </a:spcAft>
            </a:pPr>
            <a:r>
              <a:rPr sz="950" b="0">
                <a:solidFill>
                  <a:srgbClr val="555A61"/>
                </a:solidFill>
                <a:latin typeface="Arial"/>
              </a:rPr>
              <a:t>affected addresses</a:t>
            </a:r>
          </a:p>
        </p:txBody>
      </p:sp>
      <p:sp>
        <p:nvSpPr>
          <p:cNvPr id="26" name="Rounded Rectangle 25"/>
          <p:cNvSpPr/>
          <p:nvPr/>
        </p:nvSpPr>
        <p:spPr>
          <a:xfrm>
            <a:off x="7680960" y="4754880"/>
            <a:ext cx="1097280" cy="1188720"/>
          </a:xfrm>
          <a:prstGeom prst="roundRect">
            <a:avLst>
              <a:gd name="adj" fmla="val 13333"/>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08976" y="4846320"/>
            <a:ext cx="914400" cy="457200"/>
          </a:xfrm>
          <a:prstGeom prst="rect">
            <a:avLst/>
          </a:prstGeom>
          <a:noFill/>
        </p:spPr>
        <p:txBody>
          <a:bodyPr wrap="square" lIns="0" rIns="0" tIns="0" bIns="0" anchor="t">
            <a:spAutoFit/>
          </a:bodyPr>
          <a:lstStyle/>
          <a:p>
            <a:pPr algn="l">
              <a:spcAft>
                <a:spcPts val="0"/>
              </a:spcAft>
            </a:pPr>
            <a:r>
              <a:rPr sz="2200" b="1">
                <a:solidFill>
                  <a:srgbClr val="1C7340"/>
                </a:solidFill>
                <a:latin typeface="Arial"/>
              </a:rPr>
              <a:t>56</a:t>
            </a:r>
          </a:p>
        </p:txBody>
      </p:sp>
      <p:sp>
        <p:nvSpPr>
          <p:cNvPr id="28" name="TextBox 27"/>
          <p:cNvSpPr txBox="1"/>
          <p:nvPr/>
        </p:nvSpPr>
        <p:spPr>
          <a:xfrm>
            <a:off x="7808976" y="5321808"/>
            <a:ext cx="896112" cy="548640"/>
          </a:xfrm>
          <a:prstGeom prst="rect">
            <a:avLst/>
          </a:prstGeom>
          <a:noFill/>
        </p:spPr>
        <p:txBody>
          <a:bodyPr wrap="square" lIns="0" rIns="0" tIns="0" bIns="0" anchor="t">
            <a:spAutoFit/>
          </a:bodyPr>
          <a:lstStyle/>
          <a:p>
            <a:pPr algn="l">
              <a:lnSpc>
                <a:spcPct val="100000"/>
              </a:lnSpc>
              <a:spcAft>
                <a:spcPts val="0"/>
              </a:spcAft>
            </a:pPr>
            <a:r>
              <a:rPr sz="950" b="0">
                <a:solidFill>
                  <a:srgbClr val="555A61"/>
                </a:solidFill>
                <a:latin typeface="Arial"/>
              </a:rPr>
              <a:t>planned cuts ahead</a:t>
            </a:r>
          </a:p>
        </p:txBody>
      </p:sp>
      <p:sp>
        <p:nvSpPr>
          <p:cNvPr id="29" name="Rounded Rectangle 28"/>
          <p:cNvSpPr/>
          <p:nvPr/>
        </p:nvSpPr>
        <p:spPr>
          <a:xfrm>
            <a:off x="8869680" y="4754880"/>
            <a:ext cx="1097280" cy="1188720"/>
          </a:xfrm>
          <a:prstGeom prst="roundRect">
            <a:avLst>
              <a:gd name="adj" fmla="val 13333"/>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97696" y="4846320"/>
            <a:ext cx="914400" cy="457200"/>
          </a:xfrm>
          <a:prstGeom prst="rect">
            <a:avLst/>
          </a:prstGeom>
          <a:noFill/>
        </p:spPr>
        <p:txBody>
          <a:bodyPr wrap="square" lIns="0" rIns="0" tIns="0" bIns="0" anchor="t">
            <a:spAutoFit/>
          </a:bodyPr>
          <a:lstStyle/>
          <a:p>
            <a:pPr algn="l">
              <a:spcAft>
                <a:spcPts val="0"/>
              </a:spcAft>
            </a:pPr>
            <a:r>
              <a:rPr sz="2200" b="1">
                <a:solidFill>
                  <a:srgbClr val="16181B"/>
                </a:solidFill>
                <a:latin typeface="Arial"/>
              </a:rPr>
              <a:t>4</a:t>
            </a:r>
          </a:p>
        </p:txBody>
      </p:sp>
      <p:sp>
        <p:nvSpPr>
          <p:cNvPr id="31" name="TextBox 30"/>
          <p:cNvSpPr txBox="1"/>
          <p:nvPr/>
        </p:nvSpPr>
        <p:spPr>
          <a:xfrm>
            <a:off x="8997696" y="5321808"/>
            <a:ext cx="896112" cy="548640"/>
          </a:xfrm>
          <a:prstGeom prst="rect">
            <a:avLst/>
          </a:prstGeom>
          <a:noFill/>
        </p:spPr>
        <p:txBody>
          <a:bodyPr wrap="square" lIns="0" rIns="0" tIns="0" bIns="0" anchor="t">
            <a:spAutoFit/>
          </a:bodyPr>
          <a:lstStyle/>
          <a:p>
            <a:pPr algn="l">
              <a:lnSpc>
                <a:spcPct val="100000"/>
              </a:lnSpc>
              <a:spcAft>
                <a:spcPts val="0"/>
              </a:spcAft>
            </a:pPr>
            <a:r>
              <a:rPr sz="950" b="0">
                <a:solidFill>
                  <a:srgbClr val="555A61"/>
                </a:solidFill>
                <a:latin typeface="Arial"/>
              </a:rPr>
              <a:t>official feeds</a:t>
            </a:r>
          </a:p>
        </p:txBody>
      </p:sp>
      <p:sp>
        <p:nvSpPr>
          <p:cNvPr id="32" name="TextBox 31"/>
          <p:cNvSpPr txBox="1"/>
          <p:nvPr/>
        </p:nvSpPr>
        <p:spPr>
          <a:xfrm>
            <a:off x="10149840" y="5440680"/>
            <a:ext cx="1490472" cy="457200"/>
          </a:xfrm>
          <a:prstGeom prst="rect">
            <a:avLst/>
          </a:prstGeom>
          <a:noFill/>
        </p:spPr>
        <p:txBody>
          <a:bodyPr wrap="square" lIns="0" rIns="0" tIns="0" bIns="0" anchor="t">
            <a:spAutoFit/>
          </a:bodyPr>
          <a:lstStyle/>
          <a:p>
            <a:pPr algn="l">
              <a:lnSpc>
                <a:spcPct val="100000"/>
              </a:lnSpc>
              <a:spcAft>
                <a:spcPts val="0"/>
              </a:spcAft>
            </a:pPr>
            <a:r>
              <a:rPr sz="900" b="0">
                <a:solidFill>
                  <a:srgbClr val="555A61"/>
                </a:solidFill>
                <a:latin typeface="Arial"/>
              </a:rPr>
              <a:t>Live snapshot, 26 Sep 2026</a:t>
            </a:r>
          </a:p>
        </p:txBody>
      </p:sp>
      <p:sp>
        <p:nvSpPr>
          <p:cNvPr id="33" name="Rounded Rectangle 32"/>
          <p:cNvSpPr/>
          <p:nvPr/>
        </p:nvSpPr>
        <p:spPr>
          <a:xfrm>
            <a:off x="548640" y="6291072"/>
            <a:ext cx="237744" cy="237744"/>
          </a:xfrm>
          <a:prstGeom prst="roundRect">
            <a:avLst>
              <a:gd name="adj" fmla="val 28125"/>
            </a:avLst>
          </a:prstGeom>
          <a:solidFill>
            <a:srgbClr val="16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00646" y="6391370"/>
            <a:ext cx="133731" cy="37147"/>
          </a:xfrm>
          <a:prstGeom prst="roundRect">
            <a:avLst>
              <a:gd name="adj" fmla="val 50000"/>
            </a:avLst>
          </a:prstGeom>
          <a:solidFill>
            <a:srgbClr val="5C5D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00646" y="6391370"/>
            <a:ext cx="81724" cy="37147"/>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960120" y="6409944"/>
            <a:ext cx="8503920" cy="0"/>
          </a:xfrm>
          <a:prstGeom prst="line">
            <a:avLst/>
          </a:prstGeom>
          <a:ln w="9525">
            <a:solidFill>
              <a:srgbClr val="C4C4BB"/>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601200" y="6291072"/>
            <a:ext cx="2039112" cy="237744"/>
          </a:xfrm>
          <a:prstGeom prst="rect">
            <a:avLst/>
          </a:prstGeom>
          <a:noFill/>
        </p:spPr>
        <p:txBody>
          <a:bodyPr wrap="square" lIns="0" rIns="0" tIns="0" bIns="0" anchor="ctr">
            <a:spAutoFit/>
          </a:bodyPr>
          <a:lstStyle/>
          <a:p>
            <a:pPr algn="r">
              <a:spcAft>
                <a:spcPts val="0"/>
              </a:spcAft>
            </a:pPr>
            <a:r>
              <a:rPr sz="1000" b="0">
                <a:solidFill>
                  <a:srgbClr val="555A61"/>
                </a:solidFill>
                <a:latin typeface="Arial"/>
              </a:rPr>
              <a:t>Work In Progress · Chișinău</a:t>
            </a:r>
            <a:r>
              <a:rPr sz="1000" b="1">
                <a:solidFill>
                  <a:srgbClr val="555A61"/>
                </a:solidFill>
                <a:latin typeface="Arial"/>
              </a:rPr>
              <a:t>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216"/>
        </a:solidFill>
        <a:effectLst/>
      </p:bgPr>
    </p:bg>
    <p:spTree>
      <p:nvGrpSpPr>
        <p:cNvPr id="1" name=""/>
        <p:cNvGrpSpPr/>
        <p:nvPr/>
      </p:nvGrpSpPr>
      <p:grpSpPr/>
      <p:sp>
        <p:nvSpPr>
          <p:cNvPr id="2" name="Rounded Rectangle 1"/>
          <p:cNvSpPr/>
          <p:nvPr/>
        </p:nvSpPr>
        <p:spPr>
          <a:xfrm>
            <a:off x="548640" y="457200"/>
            <a:ext cx="1097280" cy="347472"/>
          </a:xfrm>
          <a:prstGeom prst="roundRect">
            <a:avLst>
              <a:gd name="adj" fmla="val 50000"/>
            </a:avLst>
          </a:prstGeom>
          <a:solidFill>
            <a:srgbClr val="EC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94944" y="576072"/>
            <a:ext cx="109728" cy="109728"/>
          </a:xfrm>
          <a:prstGeom prst="ellipse">
            <a:avLst/>
          </a:prstGeom>
          <a:solidFill>
            <a:srgbClr val="1C7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457200"/>
            <a:ext cx="731520" cy="347472"/>
          </a:xfrm>
          <a:prstGeom prst="rect">
            <a:avLst/>
          </a:prstGeom>
          <a:noFill/>
        </p:spPr>
        <p:txBody>
          <a:bodyPr wrap="square" lIns="0" rIns="0" tIns="0" bIns="0" anchor="ctr">
            <a:spAutoFit/>
          </a:bodyPr>
          <a:lstStyle/>
          <a:p>
            <a:pPr algn="l">
              <a:spcAft>
                <a:spcPts val="0"/>
              </a:spcAft>
            </a:pPr>
            <a:r>
              <a:rPr sz="1100" b="1">
                <a:solidFill>
                  <a:srgbClr val="0F1216"/>
                </a:solidFill>
                <a:latin typeface="Arial"/>
              </a:rPr>
              <a:t>DEMO</a:t>
            </a:r>
          </a:p>
        </p:txBody>
      </p:sp>
      <p:sp>
        <p:nvSpPr>
          <p:cNvPr id="5" name="TextBox 4"/>
          <p:cNvSpPr txBox="1"/>
          <p:nvPr/>
        </p:nvSpPr>
        <p:spPr>
          <a:xfrm>
            <a:off x="1828800" y="457200"/>
            <a:ext cx="6400800" cy="347472"/>
          </a:xfrm>
          <a:prstGeom prst="rect">
            <a:avLst/>
          </a:prstGeom>
          <a:noFill/>
        </p:spPr>
        <p:txBody>
          <a:bodyPr wrap="square" lIns="0" rIns="0" tIns="0" bIns="0" anchor="ctr">
            <a:spAutoFit/>
          </a:bodyPr>
          <a:lstStyle/>
          <a:p>
            <a:pPr algn="l">
              <a:spcAft>
                <a:spcPts val="0"/>
              </a:spcAft>
            </a:pPr>
            <a:r>
              <a:rPr sz="1400" b="0">
                <a:solidFill>
                  <a:srgbClr val="A9B0B9"/>
                </a:solidFill>
                <a:latin typeface="Arial"/>
              </a:rPr>
              <a:t>One user, one flow, start to finish</a:t>
            </a:r>
          </a:p>
        </p:txBody>
      </p:sp>
      <p:pic>
        <p:nvPicPr>
          <p:cNvPr id="6" name="Demo screenshot (insert the demo video over it)" descr="d_city.jpg"/>
          <p:cNvPicPr>
            <a:picLocks noChangeAspect="1"/>
          </p:cNvPicPr>
          <p:nvPr/>
        </p:nvPicPr>
        <p:blipFill>
          <a:blip r:embed="rId2"/>
          <a:stretch>
            <a:fillRect/>
          </a:stretch>
        </p:blipFill>
        <p:spPr>
          <a:xfrm>
            <a:off x="548640" y="1051560"/>
            <a:ext cx="7680960" cy="4800600"/>
          </a:xfrm>
          <a:prstGeom prst="roundRect">
            <a:avLst>
              <a:gd name="adj" fmla="val 3047"/>
            </a:avLst>
          </a:prstGeom>
        </p:spPr>
      </p:pic>
      <p:sp>
        <p:nvSpPr>
          <p:cNvPr id="7" name="TextBox 6"/>
          <p:cNvSpPr txBox="1"/>
          <p:nvPr/>
        </p:nvSpPr>
        <p:spPr>
          <a:xfrm>
            <a:off x="548640" y="5943600"/>
            <a:ext cx="7680960" cy="274320"/>
          </a:xfrm>
          <a:prstGeom prst="rect">
            <a:avLst/>
          </a:prstGeom>
          <a:noFill/>
        </p:spPr>
        <p:txBody>
          <a:bodyPr wrap="square" lIns="0" rIns="0" tIns="0" bIns="0" anchor="t">
            <a:spAutoFit/>
          </a:bodyPr>
          <a:lstStyle/>
          <a:p>
            <a:pPr algn="l">
              <a:spcAft>
                <a:spcPts val="0"/>
              </a:spcAft>
            </a:pPr>
            <a:r>
              <a:rPr sz="950" b="0">
                <a:solidFill>
                  <a:srgbClr val="A9B0B9"/>
                </a:solidFill>
                <a:latin typeface="Arial"/>
              </a:rPr>
              <a:t>Backup: the demo video shows the same flow. Insert → Video over this screenshot.</a:t>
            </a:r>
          </a:p>
        </p:txBody>
      </p:sp>
      <p:sp>
        <p:nvSpPr>
          <p:cNvPr id="8" name="TextBox 7"/>
          <p:cNvSpPr txBox="1"/>
          <p:nvPr/>
        </p:nvSpPr>
        <p:spPr>
          <a:xfrm>
            <a:off x="8595360" y="1051560"/>
            <a:ext cx="3044952" cy="365760"/>
          </a:xfrm>
          <a:prstGeom prst="rect">
            <a:avLst/>
          </a:prstGeom>
          <a:noFill/>
        </p:spPr>
        <p:txBody>
          <a:bodyPr wrap="square" lIns="0" rIns="0" tIns="0" bIns="0" anchor="t">
            <a:spAutoFit/>
          </a:bodyPr>
          <a:lstStyle/>
          <a:p>
            <a:pPr algn="l">
              <a:spcAft>
                <a:spcPts val="0"/>
              </a:spcAft>
            </a:pPr>
            <a:r>
              <a:rPr sz="1500" b="1">
                <a:solidFill>
                  <a:srgbClr val="ECEEF1"/>
                </a:solidFill>
                <a:latin typeface="Arial"/>
              </a:rPr>
              <a:t>Ana checks her street</a:t>
            </a:r>
          </a:p>
        </p:txBody>
      </p:sp>
      <p:sp>
        <p:nvSpPr>
          <p:cNvPr id="9" name="Rounded Rectangle 8"/>
          <p:cNvSpPr/>
          <p:nvPr/>
        </p:nvSpPr>
        <p:spPr>
          <a:xfrm>
            <a:off x="8595360" y="1572768"/>
            <a:ext cx="384048" cy="384048"/>
          </a:xfrm>
          <a:prstGeom prst="roundRect">
            <a:avLst>
              <a:gd name="adj" fmla="val 50000"/>
            </a:avLst>
          </a:prstGeom>
          <a:solidFill>
            <a:srgbClr val="1F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0" y="1572768"/>
            <a:ext cx="384048" cy="384048"/>
          </a:xfrm>
          <a:prstGeom prst="rect">
            <a:avLst/>
          </a:prstGeom>
          <a:noFill/>
        </p:spPr>
        <p:txBody>
          <a:bodyPr wrap="square" lIns="0" rIns="0" tIns="0" bIns="0" anchor="ctr">
            <a:spAutoFit/>
          </a:bodyPr>
          <a:lstStyle/>
          <a:p>
            <a:pPr algn="ctr">
              <a:spcAft>
                <a:spcPts val="0"/>
              </a:spcAft>
            </a:pPr>
            <a:r>
              <a:rPr sz="1150" b="1">
                <a:solidFill>
                  <a:srgbClr val="ECEEF1"/>
                </a:solidFill>
                <a:latin typeface="Arial"/>
              </a:rPr>
              <a:t>1</a:t>
            </a:r>
          </a:p>
        </p:txBody>
      </p:sp>
      <p:sp>
        <p:nvSpPr>
          <p:cNvPr id="11" name="TextBox 10"/>
          <p:cNvSpPr txBox="1"/>
          <p:nvPr/>
        </p:nvSpPr>
        <p:spPr>
          <a:xfrm>
            <a:off x="9116568" y="1554480"/>
            <a:ext cx="2523744" cy="777240"/>
          </a:xfrm>
          <a:prstGeom prst="rect">
            <a:avLst/>
          </a:prstGeom>
          <a:noFill/>
        </p:spPr>
        <p:txBody>
          <a:bodyPr wrap="square" lIns="0" rIns="0" tIns="0" bIns="0" anchor="t">
            <a:spAutoFit/>
          </a:bodyPr>
          <a:lstStyle/>
          <a:p>
            <a:pPr algn="l">
              <a:lnSpc>
                <a:spcPct val="105000"/>
              </a:lnSpc>
              <a:spcAft>
                <a:spcPts val="0"/>
              </a:spcAft>
            </a:pPr>
            <a:r>
              <a:rPr sz="1200" b="1">
                <a:solidFill>
                  <a:srgbClr val="ECEEF1"/>
                </a:solidFill>
                <a:latin typeface="Arial"/>
              </a:rPr>
              <a:t>Opens the map</a:t>
            </a:r>
          </a:p>
          <a:p>
            <a:pPr algn="l">
              <a:lnSpc>
                <a:spcPct val="105000"/>
              </a:lnSpc>
              <a:spcAft>
                <a:spcPts val="0"/>
              </a:spcAft>
            </a:pPr>
            <a:r>
              <a:rPr sz="1050" b="0">
                <a:solidFill>
                  <a:srgbClr val="A9B0B9"/>
                </a:solidFill>
                <a:latin typeface="Arial"/>
              </a:rPr>
              <a:t>it starts on her location, with every outage nearby</a:t>
            </a:r>
          </a:p>
        </p:txBody>
      </p:sp>
      <p:sp>
        <p:nvSpPr>
          <p:cNvPr id="12" name="Rounded Rectangle 11"/>
          <p:cNvSpPr/>
          <p:nvPr/>
        </p:nvSpPr>
        <p:spPr>
          <a:xfrm>
            <a:off x="8595360" y="2423160"/>
            <a:ext cx="384048" cy="384048"/>
          </a:xfrm>
          <a:prstGeom prst="roundRect">
            <a:avLst>
              <a:gd name="adj" fmla="val 50000"/>
            </a:avLst>
          </a:prstGeom>
          <a:solidFill>
            <a:srgbClr val="1F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2423160"/>
            <a:ext cx="384048" cy="384048"/>
          </a:xfrm>
          <a:prstGeom prst="rect">
            <a:avLst/>
          </a:prstGeom>
          <a:noFill/>
        </p:spPr>
        <p:txBody>
          <a:bodyPr wrap="square" lIns="0" rIns="0" tIns="0" bIns="0" anchor="ctr">
            <a:spAutoFit/>
          </a:bodyPr>
          <a:lstStyle/>
          <a:p>
            <a:pPr algn="ctr">
              <a:spcAft>
                <a:spcPts val="0"/>
              </a:spcAft>
            </a:pPr>
            <a:r>
              <a:rPr sz="1150" b="1">
                <a:solidFill>
                  <a:srgbClr val="ECEEF1"/>
                </a:solidFill>
                <a:latin typeface="Arial"/>
              </a:rPr>
              <a:t>2</a:t>
            </a:r>
          </a:p>
        </p:txBody>
      </p:sp>
      <p:sp>
        <p:nvSpPr>
          <p:cNvPr id="14" name="TextBox 13"/>
          <p:cNvSpPr txBox="1"/>
          <p:nvPr/>
        </p:nvSpPr>
        <p:spPr>
          <a:xfrm>
            <a:off x="9116568" y="2404872"/>
            <a:ext cx="2523744" cy="777240"/>
          </a:xfrm>
          <a:prstGeom prst="rect">
            <a:avLst/>
          </a:prstGeom>
          <a:noFill/>
        </p:spPr>
        <p:txBody>
          <a:bodyPr wrap="square" lIns="0" rIns="0" tIns="0" bIns="0" anchor="t">
            <a:spAutoFit/>
          </a:bodyPr>
          <a:lstStyle/>
          <a:p>
            <a:pPr algn="l">
              <a:lnSpc>
                <a:spcPct val="105000"/>
              </a:lnSpc>
              <a:spcAft>
                <a:spcPts val="0"/>
              </a:spcAft>
            </a:pPr>
            <a:r>
              <a:rPr sz="1200" b="1">
                <a:solidFill>
                  <a:srgbClr val="ECEEF1"/>
                </a:solidFill>
                <a:latin typeface="Arial"/>
              </a:rPr>
              <a:t>Taps the water cut on her street</a:t>
            </a:r>
          </a:p>
          <a:p>
            <a:pPr algn="l">
              <a:lnSpc>
                <a:spcPct val="105000"/>
              </a:lnSpc>
              <a:spcAft>
                <a:spcPts val="0"/>
              </a:spcAft>
            </a:pPr>
            <a:r>
              <a:rPr sz="1050" b="0">
                <a:solidFill>
                  <a:srgbClr val="A9B0B9"/>
                </a:solidFill>
                <a:latin typeface="Arial"/>
              </a:rPr>
              <a:t>source, official start and end, addresses</a:t>
            </a:r>
          </a:p>
        </p:txBody>
      </p:sp>
      <p:sp>
        <p:nvSpPr>
          <p:cNvPr id="15" name="Rounded Rectangle 14"/>
          <p:cNvSpPr/>
          <p:nvPr/>
        </p:nvSpPr>
        <p:spPr>
          <a:xfrm>
            <a:off x="8595360" y="3273552"/>
            <a:ext cx="384048" cy="384048"/>
          </a:xfrm>
          <a:prstGeom prst="roundRect">
            <a:avLst>
              <a:gd name="adj" fmla="val 50000"/>
            </a:avLst>
          </a:prstGeom>
          <a:solidFill>
            <a:srgbClr val="1F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0" y="3273552"/>
            <a:ext cx="384048" cy="384048"/>
          </a:xfrm>
          <a:prstGeom prst="rect">
            <a:avLst/>
          </a:prstGeom>
          <a:noFill/>
        </p:spPr>
        <p:txBody>
          <a:bodyPr wrap="square" lIns="0" rIns="0" tIns="0" bIns="0" anchor="ctr">
            <a:spAutoFit/>
          </a:bodyPr>
          <a:lstStyle/>
          <a:p>
            <a:pPr algn="ctr">
              <a:spcAft>
                <a:spcPts val="0"/>
              </a:spcAft>
            </a:pPr>
            <a:r>
              <a:rPr sz="1150" b="1">
                <a:solidFill>
                  <a:srgbClr val="ECEEF1"/>
                </a:solidFill>
                <a:latin typeface="Arial"/>
              </a:rPr>
              <a:t>3</a:t>
            </a:r>
          </a:p>
        </p:txBody>
      </p:sp>
      <p:sp>
        <p:nvSpPr>
          <p:cNvPr id="17" name="TextBox 16"/>
          <p:cNvSpPr txBox="1"/>
          <p:nvPr/>
        </p:nvSpPr>
        <p:spPr>
          <a:xfrm>
            <a:off x="9116568" y="3255264"/>
            <a:ext cx="2523744" cy="777240"/>
          </a:xfrm>
          <a:prstGeom prst="rect">
            <a:avLst/>
          </a:prstGeom>
          <a:noFill/>
        </p:spPr>
        <p:txBody>
          <a:bodyPr wrap="square" lIns="0" rIns="0" tIns="0" bIns="0" anchor="t">
            <a:spAutoFit/>
          </a:bodyPr>
          <a:lstStyle/>
          <a:p>
            <a:pPr algn="l">
              <a:lnSpc>
                <a:spcPct val="105000"/>
              </a:lnSpc>
              <a:spcAft>
                <a:spcPts val="0"/>
              </a:spcAft>
            </a:pPr>
            <a:r>
              <a:rPr sz="1200" b="1">
                <a:solidFill>
                  <a:srgbClr val="ECEEF1"/>
                </a:solidFill>
                <a:latin typeface="Arial"/>
              </a:rPr>
              <a:t>Checks her saved addresses</a:t>
            </a:r>
          </a:p>
          <a:p>
            <a:pPr algn="l">
              <a:lnSpc>
                <a:spcPct val="105000"/>
              </a:lnSpc>
              <a:spcAft>
                <a:spcPts val="0"/>
              </a:spcAft>
            </a:pPr>
            <a:r>
              <a:rPr sz="1050" b="0">
                <a:solidFill>
                  <a:srgbClr val="A9B0B9"/>
                </a:solidFill>
                <a:latin typeface="Arial"/>
              </a:rPr>
              <a:t>is home, or her parents' flat, affected?</a:t>
            </a:r>
          </a:p>
        </p:txBody>
      </p:sp>
      <p:sp>
        <p:nvSpPr>
          <p:cNvPr id="18" name="Rounded Rectangle 17"/>
          <p:cNvSpPr/>
          <p:nvPr/>
        </p:nvSpPr>
        <p:spPr>
          <a:xfrm>
            <a:off x="8595360" y="4123944"/>
            <a:ext cx="384048" cy="384048"/>
          </a:xfrm>
          <a:prstGeom prst="roundRect">
            <a:avLst>
              <a:gd name="adj" fmla="val 50000"/>
            </a:avLst>
          </a:prstGeom>
          <a:solidFill>
            <a:srgbClr val="1F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0" y="4123944"/>
            <a:ext cx="384048" cy="384048"/>
          </a:xfrm>
          <a:prstGeom prst="rect">
            <a:avLst/>
          </a:prstGeom>
          <a:noFill/>
        </p:spPr>
        <p:txBody>
          <a:bodyPr wrap="square" lIns="0" rIns="0" tIns="0" bIns="0" anchor="ctr">
            <a:spAutoFit/>
          </a:bodyPr>
          <a:lstStyle/>
          <a:p>
            <a:pPr algn="ctr">
              <a:spcAft>
                <a:spcPts val="0"/>
              </a:spcAft>
            </a:pPr>
            <a:r>
              <a:rPr sz="1150" b="1">
                <a:solidFill>
                  <a:srgbClr val="ECEEF1"/>
                </a:solidFill>
                <a:latin typeface="Arial"/>
              </a:rPr>
              <a:t>4</a:t>
            </a:r>
          </a:p>
        </p:txBody>
      </p:sp>
      <p:sp>
        <p:nvSpPr>
          <p:cNvPr id="20" name="TextBox 19"/>
          <p:cNvSpPr txBox="1"/>
          <p:nvPr/>
        </p:nvSpPr>
        <p:spPr>
          <a:xfrm>
            <a:off x="9116568" y="4105656"/>
            <a:ext cx="2523744" cy="777240"/>
          </a:xfrm>
          <a:prstGeom prst="rect">
            <a:avLst/>
          </a:prstGeom>
          <a:noFill/>
        </p:spPr>
        <p:txBody>
          <a:bodyPr wrap="square" lIns="0" rIns="0" tIns="0" bIns="0" anchor="t">
            <a:spAutoFit/>
          </a:bodyPr>
          <a:lstStyle/>
          <a:p>
            <a:pPr algn="l">
              <a:lnSpc>
                <a:spcPct val="105000"/>
              </a:lnSpc>
              <a:spcAft>
                <a:spcPts val="0"/>
              </a:spcAft>
            </a:pPr>
            <a:r>
              <a:rPr sz="1200" b="1">
                <a:solidFill>
                  <a:srgbClr val="ECEEF1"/>
                </a:solidFill>
                <a:latin typeface="Arial"/>
              </a:rPr>
              <a:t>Opens the calendar</a:t>
            </a:r>
          </a:p>
          <a:p>
            <a:pPr algn="l">
              <a:lnSpc>
                <a:spcPct val="105000"/>
              </a:lnSpc>
              <a:spcAft>
                <a:spcPts val="0"/>
              </a:spcAft>
            </a:pPr>
            <a:r>
              <a:rPr sz="1050" b="0">
                <a:solidFill>
                  <a:srgbClr val="A9B0B9"/>
                </a:solidFill>
                <a:latin typeface="Arial"/>
              </a:rPr>
              <a:t>what's planned for the coming days</a:t>
            </a:r>
          </a:p>
        </p:txBody>
      </p:sp>
      <p:sp>
        <p:nvSpPr>
          <p:cNvPr id="21" name="Rounded Rectangle 20"/>
          <p:cNvSpPr/>
          <p:nvPr/>
        </p:nvSpPr>
        <p:spPr>
          <a:xfrm>
            <a:off x="8595360" y="4974336"/>
            <a:ext cx="384048" cy="384048"/>
          </a:xfrm>
          <a:prstGeom prst="roundRect">
            <a:avLst>
              <a:gd name="adj" fmla="val 50000"/>
            </a:avLst>
          </a:prstGeom>
          <a:solidFill>
            <a:srgbClr val="1F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95360" y="4974336"/>
            <a:ext cx="384048" cy="384048"/>
          </a:xfrm>
          <a:prstGeom prst="rect">
            <a:avLst/>
          </a:prstGeom>
          <a:noFill/>
        </p:spPr>
        <p:txBody>
          <a:bodyPr wrap="square" lIns="0" rIns="0" tIns="0" bIns="0" anchor="ctr">
            <a:spAutoFit/>
          </a:bodyPr>
          <a:lstStyle/>
          <a:p>
            <a:pPr algn="ctr">
              <a:spcAft>
                <a:spcPts val="0"/>
              </a:spcAft>
            </a:pPr>
            <a:r>
              <a:rPr sz="1150" b="1">
                <a:solidFill>
                  <a:srgbClr val="ECEEF1"/>
                </a:solidFill>
                <a:latin typeface="Arial"/>
              </a:rPr>
              <a:t>5</a:t>
            </a:r>
          </a:p>
        </p:txBody>
      </p:sp>
      <p:sp>
        <p:nvSpPr>
          <p:cNvPr id="23" name="TextBox 22"/>
          <p:cNvSpPr txBox="1"/>
          <p:nvPr/>
        </p:nvSpPr>
        <p:spPr>
          <a:xfrm>
            <a:off x="9116568" y="4956048"/>
            <a:ext cx="2523744" cy="777240"/>
          </a:xfrm>
          <a:prstGeom prst="rect">
            <a:avLst/>
          </a:prstGeom>
          <a:noFill/>
        </p:spPr>
        <p:txBody>
          <a:bodyPr wrap="square" lIns="0" rIns="0" tIns="0" bIns="0" anchor="t">
            <a:spAutoFit/>
          </a:bodyPr>
          <a:lstStyle/>
          <a:p>
            <a:pPr algn="l">
              <a:lnSpc>
                <a:spcPct val="105000"/>
              </a:lnSpc>
              <a:spcAft>
                <a:spcPts val="0"/>
              </a:spcAft>
            </a:pPr>
            <a:r>
              <a:rPr sz="1200" b="1">
                <a:solidFill>
                  <a:srgbClr val="ECEEF1"/>
                </a:solidFill>
                <a:latin typeface="Arial"/>
              </a:rPr>
              <a:t>A neighbour taps "Me too"</a:t>
            </a:r>
          </a:p>
          <a:p>
            <a:pPr algn="l">
              <a:lnSpc>
                <a:spcPct val="105000"/>
              </a:lnSpc>
              <a:spcAft>
                <a:spcPts val="0"/>
              </a:spcAft>
            </a:pPr>
            <a:r>
              <a:rPr sz="1050" b="0">
                <a:solidFill>
                  <a:srgbClr val="A9B0B9"/>
                </a:solidFill>
                <a:latin typeface="Arial"/>
              </a:rPr>
              <a:t>3 answers nearby → Confirmed, live for everyone</a:t>
            </a:r>
          </a:p>
        </p:txBody>
      </p:sp>
      <p:sp>
        <p:nvSpPr>
          <p:cNvPr id="24" name="Rounded Rectangle 23"/>
          <p:cNvSpPr/>
          <p:nvPr/>
        </p:nvSpPr>
        <p:spPr>
          <a:xfrm>
            <a:off x="548640" y="6291072"/>
            <a:ext cx="237744" cy="237744"/>
          </a:xfrm>
          <a:prstGeom prst="roundRect">
            <a:avLst>
              <a:gd name="adj" fmla="val 28125"/>
            </a:avLst>
          </a:prstGeom>
          <a:solidFill>
            <a:srgbClr val="EC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00646" y="6391370"/>
            <a:ext cx="133731" cy="37147"/>
          </a:xfrm>
          <a:prstGeom prst="roundRect">
            <a:avLst>
              <a:gd name="adj" fmla="val 50000"/>
            </a:avLst>
          </a:prstGeom>
          <a:solidFill>
            <a:srgbClr val="B4B6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0646" y="6391370"/>
            <a:ext cx="81724" cy="37147"/>
          </a:xfrm>
          <a:prstGeom prst="roundRect">
            <a:avLst>
              <a:gd name="adj" fmla="val 50000"/>
            </a:avLst>
          </a:prstGeom>
          <a:solidFill>
            <a:srgbClr val="16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960120" y="6409944"/>
            <a:ext cx="8503920" cy="0"/>
          </a:xfrm>
          <a:prstGeom prst="line">
            <a:avLst/>
          </a:prstGeom>
          <a:ln w="9525">
            <a:solidFill>
              <a:srgbClr val="2A3038"/>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601200" y="6291072"/>
            <a:ext cx="2039112" cy="237744"/>
          </a:xfrm>
          <a:prstGeom prst="rect">
            <a:avLst/>
          </a:prstGeom>
          <a:noFill/>
        </p:spPr>
        <p:txBody>
          <a:bodyPr wrap="square" lIns="0" rIns="0" tIns="0" bIns="0" anchor="ctr">
            <a:spAutoFit/>
          </a:bodyPr>
          <a:lstStyle/>
          <a:p>
            <a:pPr algn="r">
              <a:spcAft>
                <a:spcPts val="0"/>
              </a:spcAft>
            </a:pPr>
            <a:r>
              <a:rPr sz="1000" b="0">
                <a:solidFill>
                  <a:srgbClr val="A9B0B9"/>
                </a:solidFill>
                <a:latin typeface="Arial"/>
              </a:rPr>
              <a:t>Work In Progress · Chișinău</a:t>
            </a:r>
            <a:r>
              <a:rPr sz="1000" b="1">
                <a:solidFill>
                  <a:srgbClr val="A9B0B9"/>
                </a:solidFill>
                <a:latin typeface="Arial"/>
              </a:rPr>
              <a:t>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5486400" cy="274320"/>
          </a:xfrm>
          <a:prstGeom prst="rect">
            <a:avLst/>
          </a:prstGeom>
          <a:noFill/>
        </p:spPr>
        <p:txBody>
          <a:bodyPr wrap="square" lIns="0" rIns="0" tIns="0" bIns="0" anchor="t">
            <a:spAutoFit/>
          </a:bodyPr>
          <a:lstStyle/>
          <a:p>
            <a:pPr algn="l">
              <a:spcAft>
                <a:spcPts val="0"/>
              </a:spcAft>
            </a:pPr>
            <a:r>
              <a:rPr sz="1100" b="1" spc="300">
                <a:solidFill>
                  <a:srgbClr val="555A61"/>
                </a:solidFill>
                <a:latin typeface="Arial"/>
              </a:rPr>
              <a:t>HOW IT WORKS · 1 OF 2</a:t>
            </a:r>
          </a:p>
        </p:txBody>
      </p:sp>
      <p:sp>
        <p:nvSpPr>
          <p:cNvPr id="3" name="TextBox 2"/>
          <p:cNvSpPr txBox="1"/>
          <p:nvPr/>
        </p:nvSpPr>
        <p:spPr>
          <a:xfrm>
            <a:off x="548640" y="758952"/>
            <a:ext cx="10058400" cy="640080"/>
          </a:xfrm>
          <a:prstGeom prst="rect">
            <a:avLst/>
          </a:prstGeom>
          <a:noFill/>
        </p:spPr>
        <p:txBody>
          <a:bodyPr wrap="square" lIns="0" rIns="0" tIns="0" bIns="0" anchor="t">
            <a:spAutoFit/>
          </a:bodyPr>
          <a:lstStyle/>
          <a:p>
            <a:pPr algn="l">
              <a:spcAft>
                <a:spcPts val="0"/>
              </a:spcAft>
            </a:pPr>
            <a:r>
              <a:rPr sz="3000" b="1">
                <a:solidFill>
                  <a:srgbClr val="16181B"/>
                </a:solidFill>
                <a:latin typeface="Arial"/>
              </a:rPr>
              <a:t>Official data: from 4 providers to one map</a:t>
            </a:r>
          </a:p>
        </p:txBody>
      </p:sp>
      <p:sp>
        <p:nvSpPr>
          <p:cNvPr id="4" name="Rounded Rectangle 3"/>
          <p:cNvSpPr/>
          <p:nvPr/>
        </p:nvSpPr>
        <p:spPr>
          <a:xfrm>
            <a:off x="548640" y="1600200"/>
            <a:ext cx="3447288" cy="2240280"/>
          </a:xfrm>
          <a:prstGeom prst="roundRect">
            <a:avLst>
              <a:gd name="adj" fmla="val 8979"/>
            </a:avLst>
          </a:prstGeom>
          <a:solidFill>
            <a:srgbClr val="F3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64792"/>
            <a:ext cx="3017520" cy="274320"/>
          </a:xfrm>
          <a:prstGeom prst="rect">
            <a:avLst/>
          </a:prstGeom>
          <a:noFill/>
        </p:spPr>
        <p:txBody>
          <a:bodyPr wrap="square" lIns="0" rIns="0" tIns="0" bIns="0" anchor="t">
            <a:spAutoFit/>
          </a:bodyPr>
          <a:lstStyle/>
          <a:p>
            <a:pPr algn="l">
              <a:spcAft>
                <a:spcPts val="0"/>
              </a:spcAft>
            </a:pPr>
            <a:r>
              <a:rPr sz="1050" b="1" spc="200">
                <a:solidFill>
                  <a:srgbClr val="555A61"/>
                </a:solidFill>
                <a:latin typeface="Arial"/>
              </a:rPr>
              <a:t>INPUT</a:t>
            </a:r>
          </a:p>
        </p:txBody>
      </p:sp>
      <p:sp>
        <p:nvSpPr>
          <p:cNvPr id="6" name="TextBox 5"/>
          <p:cNvSpPr txBox="1"/>
          <p:nvPr/>
        </p:nvSpPr>
        <p:spPr>
          <a:xfrm>
            <a:off x="777240" y="2103120"/>
            <a:ext cx="3017520" cy="1280160"/>
          </a:xfrm>
          <a:prstGeom prst="rect">
            <a:avLst/>
          </a:prstGeom>
          <a:noFill/>
        </p:spPr>
        <p:txBody>
          <a:bodyPr wrap="square" lIns="0" rIns="0" tIns="0" bIns="0" anchor="t">
            <a:spAutoFit/>
          </a:bodyPr>
          <a:lstStyle/>
          <a:p>
            <a:pPr algn="l">
              <a:lnSpc>
                <a:spcPct val="108000"/>
              </a:lnSpc>
              <a:spcAft>
                <a:spcPts val="500"/>
              </a:spcAft>
            </a:pPr>
            <a:r>
              <a:rPr sz="1250" b="1">
                <a:solidFill>
                  <a:srgbClr val="16181B"/>
                </a:solidFill>
                <a:latin typeface="Arial"/>
              </a:rPr>
              <a:t>4 official provider websites</a:t>
            </a:r>
          </a:p>
          <a:p>
            <a:pPr algn="l">
              <a:lnSpc>
                <a:spcPct val="108000"/>
              </a:lnSpc>
              <a:spcAft>
                <a:spcPts val="500"/>
              </a:spcAft>
            </a:pPr>
            <a:r>
              <a:rPr sz="1100" b="0">
                <a:solidFill>
                  <a:srgbClr val="555A61"/>
                </a:solidFill>
                <a:latin typeface="Arial"/>
              </a:rPr>
              <a:t>Apă-Canal Chișinău (water) · Premier Energy (power) · Energocom and Chișinău-Gaz (gas)</a:t>
            </a:r>
          </a:p>
        </p:txBody>
      </p:sp>
      <p:cxnSp>
        <p:nvCxnSpPr>
          <p:cNvPr id="7" name="Connector 6"/>
          <p:cNvCxnSpPr/>
          <p:nvPr/>
        </p:nvCxnSpPr>
        <p:spPr>
          <a:xfrm>
            <a:off x="4023359" y="2715768"/>
            <a:ext cx="320041" cy="0"/>
          </a:xfrm>
          <a:prstGeom prst="line">
            <a:avLst/>
          </a:prstGeom>
          <a:ln w="19050">
            <a:solidFill>
              <a:srgbClr val="16181B"/>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370831" y="1600200"/>
            <a:ext cx="3447288" cy="2240280"/>
          </a:xfrm>
          <a:prstGeom prst="roundRect">
            <a:avLst>
              <a:gd name="adj" fmla="val 8979"/>
            </a:avLst>
          </a:prstGeom>
          <a:solidFill>
            <a:srgbClr val="FFFFFF"/>
          </a:solidFill>
          <a:ln w="12700">
            <a:solidFill>
              <a:srgbClr val="C4C4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9431" y="1764792"/>
            <a:ext cx="3017520" cy="274320"/>
          </a:xfrm>
          <a:prstGeom prst="rect">
            <a:avLst/>
          </a:prstGeom>
          <a:noFill/>
        </p:spPr>
        <p:txBody>
          <a:bodyPr wrap="square" lIns="0" rIns="0" tIns="0" bIns="0" anchor="t">
            <a:spAutoFit/>
          </a:bodyPr>
          <a:lstStyle/>
          <a:p>
            <a:pPr algn="l">
              <a:spcAft>
                <a:spcPts val="0"/>
              </a:spcAft>
            </a:pPr>
            <a:r>
              <a:rPr sz="1050" b="1" spc="200">
                <a:solidFill>
                  <a:srgbClr val="555A61"/>
                </a:solidFill>
                <a:latin typeface="Arial"/>
              </a:rPr>
              <a:t>OUR ENGINE</a:t>
            </a:r>
          </a:p>
        </p:txBody>
      </p:sp>
      <p:sp>
        <p:nvSpPr>
          <p:cNvPr id="10" name="TextBox 9"/>
          <p:cNvSpPr txBox="1"/>
          <p:nvPr/>
        </p:nvSpPr>
        <p:spPr>
          <a:xfrm>
            <a:off x="4599431" y="2103120"/>
            <a:ext cx="3017520" cy="1280160"/>
          </a:xfrm>
          <a:prstGeom prst="rect">
            <a:avLst/>
          </a:prstGeom>
          <a:noFill/>
        </p:spPr>
        <p:txBody>
          <a:bodyPr wrap="square" lIns="0" rIns="0" tIns="0" bIns="0" anchor="t">
            <a:spAutoFit/>
          </a:bodyPr>
          <a:lstStyle/>
          <a:p>
            <a:pPr algn="l">
              <a:lnSpc>
                <a:spcPct val="108000"/>
              </a:lnSpc>
              <a:spcAft>
                <a:spcPts val="500"/>
              </a:spcAft>
            </a:pPr>
            <a:r>
              <a:rPr sz="1250" b="1">
                <a:solidFill>
                  <a:srgbClr val="16181B"/>
                </a:solidFill>
                <a:latin typeface="Arial"/>
              </a:rPr>
              <a:t>Importers every hour (gas every 2 h)</a:t>
            </a:r>
          </a:p>
          <a:p>
            <a:pPr algn="l">
              <a:lnSpc>
                <a:spcPct val="108000"/>
              </a:lnSpc>
              <a:spcAft>
                <a:spcPts val="500"/>
              </a:spcAft>
            </a:pPr>
            <a:r>
              <a:rPr sz="1100" b="0">
                <a:solidFill>
                  <a:srgbClr val="555A61"/>
                </a:solidFill>
                <a:latin typeface="Arial"/>
              </a:rPr>
              <a:t>Read addresses and times, place them on the real streets (OpenStreetMap)</a:t>
            </a:r>
          </a:p>
          <a:p>
            <a:pPr algn="l">
              <a:lnSpc>
                <a:spcPct val="108000"/>
              </a:lnSpc>
              <a:spcAft>
                <a:spcPts val="500"/>
              </a:spcAft>
            </a:pPr>
            <a:r>
              <a:rPr sz="1100" b="0">
                <a:solidFill>
                  <a:srgbClr val="555A61"/>
                </a:solidFill>
                <a:latin typeface="Arial"/>
              </a:rPr>
              <a:t>Removed from the source → marked resolved</a:t>
            </a:r>
          </a:p>
        </p:txBody>
      </p:sp>
      <p:cxnSp>
        <p:nvCxnSpPr>
          <p:cNvPr id="11" name="Connector 10"/>
          <p:cNvCxnSpPr/>
          <p:nvPr/>
        </p:nvCxnSpPr>
        <p:spPr>
          <a:xfrm>
            <a:off x="7845551" y="2715768"/>
            <a:ext cx="320041" cy="0"/>
          </a:xfrm>
          <a:prstGeom prst="line">
            <a:avLst/>
          </a:prstGeom>
          <a:ln w="19050">
            <a:solidFill>
              <a:srgbClr val="16181B"/>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193023" y="1600200"/>
            <a:ext cx="3447288" cy="2240280"/>
          </a:xfrm>
          <a:prstGeom prst="roundRect">
            <a:avLst>
              <a:gd name="adj" fmla="val 8979"/>
            </a:avLst>
          </a:prstGeom>
          <a:solidFill>
            <a:srgbClr val="E7EEFA"/>
          </a:solidFill>
          <a:ln w="12700">
            <a:solidFill>
              <a:srgbClr val="1F5F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21624" y="1764792"/>
            <a:ext cx="3017520" cy="274320"/>
          </a:xfrm>
          <a:prstGeom prst="rect">
            <a:avLst/>
          </a:prstGeom>
          <a:noFill/>
        </p:spPr>
        <p:txBody>
          <a:bodyPr wrap="square" lIns="0" rIns="0" tIns="0" bIns="0" anchor="t">
            <a:spAutoFit/>
          </a:bodyPr>
          <a:lstStyle/>
          <a:p>
            <a:pPr algn="l">
              <a:spcAft>
                <a:spcPts val="0"/>
              </a:spcAft>
            </a:pPr>
            <a:r>
              <a:rPr sz="1050" b="1" spc="200">
                <a:solidFill>
                  <a:srgbClr val="555A61"/>
                </a:solidFill>
                <a:latin typeface="Arial"/>
              </a:rPr>
              <a:t>OUTPUT</a:t>
            </a:r>
          </a:p>
        </p:txBody>
      </p:sp>
      <p:sp>
        <p:nvSpPr>
          <p:cNvPr id="14" name="TextBox 13"/>
          <p:cNvSpPr txBox="1"/>
          <p:nvPr/>
        </p:nvSpPr>
        <p:spPr>
          <a:xfrm>
            <a:off x="8421624" y="2103120"/>
            <a:ext cx="3017520" cy="1280160"/>
          </a:xfrm>
          <a:prstGeom prst="rect">
            <a:avLst/>
          </a:prstGeom>
          <a:noFill/>
        </p:spPr>
        <p:txBody>
          <a:bodyPr wrap="square" lIns="0" rIns="0" tIns="0" bIns="0" anchor="t">
            <a:spAutoFit/>
          </a:bodyPr>
          <a:lstStyle/>
          <a:p>
            <a:pPr algn="l">
              <a:lnSpc>
                <a:spcPct val="108000"/>
              </a:lnSpc>
              <a:spcAft>
                <a:spcPts val="500"/>
              </a:spcAft>
            </a:pPr>
            <a:r>
              <a:rPr sz="1250" b="1">
                <a:solidFill>
                  <a:srgbClr val="1F5FC9"/>
                </a:solidFill>
                <a:latin typeface="Arial"/>
              </a:rPr>
              <a:t>On the map and in the calendar</a:t>
            </a:r>
          </a:p>
          <a:p>
            <a:pPr algn="l">
              <a:lnSpc>
                <a:spcPct val="108000"/>
              </a:lnSpc>
              <a:spcAft>
                <a:spcPts val="500"/>
              </a:spcAft>
            </a:pPr>
            <a:r>
              <a:rPr sz="1100" b="0">
                <a:solidFill>
                  <a:srgbClr val="555A61"/>
                </a:solidFill>
                <a:latin typeface="Arial"/>
              </a:rPr>
              <a:t>What's off, where, until when, and whether your saved addresses are affected</a:t>
            </a:r>
          </a:p>
        </p:txBody>
      </p:sp>
      <p:sp>
        <p:nvSpPr>
          <p:cNvPr id="15" name="Rounded Rectangle 14"/>
          <p:cNvSpPr/>
          <p:nvPr/>
        </p:nvSpPr>
        <p:spPr>
          <a:xfrm>
            <a:off x="8375903" y="3401568"/>
            <a:ext cx="1133856" cy="274320"/>
          </a:xfrm>
          <a:prstGeom prst="roundRect">
            <a:avLst>
              <a:gd name="adj" fmla="val 50000"/>
            </a:avLst>
          </a:prstGeom>
          <a:solidFill>
            <a:srgbClr val="E7EEFA"/>
          </a:solidFill>
          <a:ln w="12700">
            <a:solidFill>
              <a:srgbClr val="1F5F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522207" y="3483864"/>
            <a:ext cx="109728" cy="109728"/>
          </a:xfrm>
          <a:prstGeom prst="ellipse">
            <a:avLst/>
          </a:prstGeom>
          <a:solidFill>
            <a:srgbClr val="1F5F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05087" y="3401568"/>
            <a:ext cx="768096" cy="274320"/>
          </a:xfrm>
          <a:prstGeom prst="rect">
            <a:avLst/>
          </a:prstGeom>
          <a:noFill/>
        </p:spPr>
        <p:txBody>
          <a:bodyPr wrap="square" lIns="0" rIns="0" tIns="0" bIns="0" anchor="ctr">
            <a:spAutoFit/>
          </a:bodyPr>
          <a:lstStyle/>
          <a:p>
            <a:pPr algn="l">
              <a:spcAft>
                <a:spcPts val="0"/>
              </a:spcAft>
            </a:pPr>
            <a:r>
              <a:rPr sz="900" b="1">
                <a:solidFill>
                  <a:srgbClr val="1F5FC9"/>
                </a:solidFill>
                <a:latin typeface="Arial"/>
              </a:rPr>
              <a:t>Official</a:t>
            </a:r>
          </a:p>
        </p:txBody>
      </p:sp>
      <p:sp>
        <p:nvSpPr>
          <p:cNvPr id="18" name="Rounded Rectangle 17"/>
          <p:cNvSpPr/>
          <p:nvPr/>
        </p:nvSpPr>
        <p:spPr>
          <a:xfrm>
            <a:off x="9564624" y="3401568"/>
            <a:ext cx="1133856" cy="274320"/>
          </a:xfrm>
          <a:prstGeom prst="roundRect">
            <a:avLst>
              <a:gd name="adj" fmla="val 50000"/>
            </a:avLst>
          </a:prstGeom>
          <a:solidFill>
            <a:srgbClr val="FDF3D7"/>
          </a:solidFill>
          <a:ln w="12700">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10928" y="3483864"/>
            <a:ext cx="109728" cy="109728"/>
          </a:xfrm>
          <a:prstGeom prst="ellipse">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93807" y="3401568"/>
            <a:ext cx="768096" cy="274320"/>
          </a:xfrm>
          <a:prstGeom prst="rect">
            <a:avLst/>
          </a:prstGeom>
          <a:noFill/>
        </p:spPr>
        <p:txBody>
          <a:bodyPr wrap="square" lIns="0" rIns="0" tIns="0" bIns="0" anchor="ctr">
            <a:spAutoFit/>
          </a:bodyPr>
          <a:lstStyle/>
          <a:p>
            <a:pPr algn="l">
              <a:spcAft>
                <a:spcPts val="0"/>
              </a:spcAft>
            </a:pPr>
            <a:r>
              <a:rPr sz="900" b="1">
                <a:solidFill>
                  <a:srgbClr val="A16207"/>
                </a:solidFill>
                <a:latin typeface="Arial"/>
              </a:rPr>
              <a:t>Partial</a:t>
            </a:r>
          </a:p>
        </p:txBody>
      </p:sp>
      <p:sp>
        <p:nvSpPr>
          <p:cNvPr id="21" name="Rounded Rectangle 20"/>
          <p:cNvSpPr/>
          <p:nvPr/>
        </p:nvSpPr>
        <p:spPr>
          <a:xfrm>
            <a:off x="548640" y="4069080"/>
            <a:ext cx="5440680" cy="2011680"/>
          </a:xfrm>
          <a:prstGeom prst="roundRect">
            <a:avLst>
              <a:gd name="adj" fmla="val 10000"/>
            </a:avLst>
          </a:prstGeom>
          <a:solidFill>
            <a:srgbClr val="F3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224528"/>
            <a:ext cx="5029200" cy="274320"/>
          </a:xfrm>
          <a:prstGeom prst="rect">
            <a:avLst/>
          </a:prstGeom>
          <a:noFill/>
        </p:spPr>
        <p:txBody>
          <a:bodyPr wrap="square" lIns="0" rIns="0" tIns="0" bIns="0" anchor="t">
            <a:spAutoFit/>
          </a:bodyPr>
          <a:lstStyle/>
          <a:p>
            <a:pPr algn="l">
              <a:spcAft>
                <a:spcPts val="0"/>
              </a:spcAft>
            </a:pPr>
            <a:r>
              <a:rPr sz="1050" b="1" spc="150">
                <a:solidFill>
                  <a:srgbClr val="1C7340"/>
                </a:solidFill>
                <a:latin typeface="Arial"/>
              </a:rPr>
              <a:t>●  </a:t>
            </a:r>
            <a:r>
              <a:rPr sz="1050" b="1" spc="150">
                <a:solidFill>
                  <a:srgbClr val="555A61"/>
                </a:solidFill>
                <a:latin typeface="Arial"/>
              </a:rPr>
              <a:t>WHAT'S REAL</a:t>
            </a:r>
          </a:p>
        </p:txBody>
      </p:sp>
      <p:sp>
        <p:nvSpPr>
          <p:cNvPr id="23" name="TextBox 22"/>
          <p:cNvSpPr txBox="1"/>
          <p:nvPr/>
        </p:nvSpPr>
        <p:spPr>
          <a:xfrm>
            <a:off x="777240" y="4572000"/>
            <a:ext cx="5029200" cy="1463040"/>
          </a:xfrm>
          <a:prstGeom prst="rect">
            <a:avLst/>
          </a:prstGeom>
          <a:noFill/>
        </p:spPr>
        <p:txBody>
          <a:bodyPr wrap="square" lIns="0" rIns="0" tIns="0" bIns="0" anchor="t">
            <a:spAutoFit/>
          </a:bodyPr>
          <a:lstStyle/>
          <a:p>
            <a:pPr algn="l">
              <a:lnSpc>
                <a:spcPct val="110000"/>
              </a:lnSpc>
              <a:spcAft>
                <a:spcPts val="500"/>
              </a:spcAft>
            </a:pPr>
            <a:r>
              <a:rPr sz="1200" b="0">
                <a:solidFill>
                  <a:srgbClr val="16181B"/>
                </a:solidFill>
                <a:latin typeface="Arial"/>
              </a:rPr>
              <a:t>All 4 official feeds, live and updating on their own</a:t>
            </a:r>
          </a:p>
          <a:p>
            <a:pPr algn="l">
              <a:lnSpc>
                <a:spcPct val="110000"/>
              </a:lnSpc>
              <a:spcAft>
                <a:spcPts val="500"/>
              </a:spcAft>
            </a:pPr>
            <a:r>
              <a:rPr sz="1200" b="0">
                <a:solidFill>
                  <a:srgbClr val="16181B"/>
                </a:solidFill>
                <a:latin typeface="Arial"/>
              </a:rPr>
              <a:t>Real streets, planned cuts in the calendar, saved addresses</a:t>
            </a:r>
          </a:p>
          <a:p>
            <a:pPr algn="l">
              <a:lnSpc>
                <a:spcPct val="110000"/>
              </a:lnSpc>
              <a:spcAft>
                <a:spcPts val="500"/>
              </a:spcAft>
            </a:pPr>
            <a:r>
              <a:rPr sz="1200" b="0">
                <a:solidFill>
                  <a:srgbClr val="16181B"/>
                </a:solidFill>
                <a:latin typeface="Arial"/>
              </a:rPr>
              <a:t>Deployed web app for mobile and desktop. No mock data.</a:t>
            </a:r>
          </a:p>
        </p:txBody>
      </p:sp>
      <p:sp>
        <p:nvSpPr>
          <p:cNvPr id="24" name="Rounded Rectangle 23"/>
          <p:cNvSpPr/>
          <p:nvPr/>
        </p:nvSpPr>
        <p:spPr>
          <a:xfrm>
            <a:off x="6199632" y="4069080"/>
            <a:ext cx="5440680" cy="2011680"/>
          </a:xfrm>
          <a:prstGeom prst="roundRect">
            <a:avLst>
              <a:gd name="adj" fmla="val 10000"/>
            </a:avLst>
          </a:prstGeom>
          <a:solidFill>
            <a:srgbClr val="FFFFFF"/>
          </a:solidFill>
          <a:ln w="12700">
            <a:solidFill>
              <a:srgbClr val="C4C4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8232" y="4224528"/>
            <a:ext cx="5029200" cy="274320"/>
          </a:xfrm>
          <a:prstGeom prst="rect">
            <a:avLst/>
          </a:prstGeom>
          <a:noFill/>
        </p:spPr>
        <p:txBody>
          <a:bodyPr wrap="square" lIns="0" rIns="0" tIns="0" bIns="0" anchor="t">
            <a:spAutoFit/>
          </a:bodyPr>
          <a:lstStyle/>
          <a:p>
            <a:pPr algn="l">
              <a:spcAft>
                <a:spcPts val="0"/>
              </a:spcAft>
            </a:pPr>
            <a:r>
              <a:rPr sz="1050" b="1" spc="150">
                <a:solidFill>
                  <a:srgbClr val="A16207"/>
                </a:solidFill>
                <a:latin typeface="Arial"/>
              </a:rPr>
              <a:t>●  </a:t>
            </a:r>
            <a:r>
              <a:rPr sz="1050" b="1" spc="150">
                <a:solidFill>
                  <a:srgbClr val="555A61"/>
                </a:solidFill>
                <a:latin typeface="Arial"/>
              </a:rPr>
              <a:t>NOT BUILT YET</a:t>
            </a:r>
          </a:p>
        </p:txBody>
      </p:sp>
      <p:sp>
        <p:nvSpPr>
          <p:cNvPr id="26" name="TextBox 25"/>
          <p:cNvSpPr txBox="1"/>
          <p:nvPr/>
        </p:nvSpPr>
        <p:spPr>
          <a:xfrm>
            <a:off x="6428232" y="4572000"/>
            <a:ext cx="5029200" cy="1463040"/>
          </a:xfrm>
          <a:prstGeom prst="rect">
            <a:avLst/>
          </a:prstGeom>
          <a:noFill/>
        </p:spPr>
        <p:txBody>
          <a:bodyPr wrap="square" lIns="0" rIns="0" tIns="0" bIns="0" anchor="t">
            <a:spAutoFit/>
          </a:bodyPr>
          <a:lstStyle/>
          <a:p>
            <a:pPr algn="l">
              <a:lnSpc>
                <a:spcPct val="110000"/>
              </a:lnSpc>
              <a:spcAft>
                <a:spcPts val="500"/>
              </a:spcAft>
            </a:pPr>
            <a:r>
              <a:rPr sz="1200" b="0">
                <a:solidFill>
                  <a:srgbClr val="16181B"/>
                </a:solidFill>
                <a:latin typeface="Arial"/>
              </a:rPr>
              <a:t>Direct feeds from providers: today we read their public websites</a:t>
            </a:r>
          </a:p>
          <a:p>
            <a:pPr algn="l">
              <a:lnSpc>
                <a:spcPct val="110000"/>
              </a:lnSpc>
              <a:spcAft>
                <a:spcPts val="500"/>
              </a:spcAft>
            </a:pPr>
            <a:r>
              <a:rPr sz="1200" b="0">
                <a:solidFill>
                  <a:srgbClr val="16181B"/>
                </a:solidFill>
                <a:latin typeface="Arial"/>
              </a:rPr>
              <a:t>Push / email alerts for saved addresses (the setting is saved, nothing is sent yet)</a:t>
            </a:r>
          </a:p>
        </p:txBody>
      </p:sp>
      <p:sp>
        <p:nvSpPr>
          <p:cNvPr id="27" name="Rounded Rectangle 26"/>
          <p:cNvSpPr/>
          <p:nvPr/>
        </p:nvSpPr>
        <p:spPr>
          <a:xfrm>
            <a:off x="548640" y="6291072"/>
            <a:ext cx="237744" cy="237744"/>
          </a:xfrm>
          <a:prstGeom prst="roundRect">
            <a:avLst>
              <a:gd name="adj" fmla="val 28125"/>
            </a:avLst>
          </a:prstGeom>
          <a:solidFill>
            <a:srgbClr val="16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00646" y="6391370"/>
            <a:ext cx="133731" cy="37147"/>
          </a:xfrm>
          <a:prstGeom prst="roundRect">
            <a:avLst>
              <a:gd name="adj" fmla="val 50000"/>
            </a:avLst>
          </a:prstGeom>
          <a:solidFill>
            <a:srgbClr val="5C5D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00646" y="6391370"/>
            <a:ext cx="81724" cy="37147"/>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960120" y="6409944"/>
            <a:ext cx="8503920" cy="0"/>
          </a:xfrm>
          <a:prstGeom prst="line">
            <a:avLst/>
          </a:prstGeom>
          <a:ln w="9525">
            <a:solidFill>
              <a:srgbClr val="C4C4BB"/>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601200" y="6291072"/>
            <a:ext cx="2039112" cy="237744"/>
          </a:xfrm>
          <a:prstGeom prst="rect">
            <a:avLst/>
          </a:prstGeom>
          <a:noFill/>
        </p:spPr>
        <p:txBody>
          <a:bodyPr wrap="square" lIns="0" rIns="0" tIns="0" bIns="0" anchor="ctr">
            <a:spAutoFit/>
          </a:bodyPr>
          <a:lstStyle/>
          <a:p>
            <a:pPr algn="r">
              <a:spcAft>
                <a:spcPts val="0"/>
              </a:spcAft>
            </a:pPr>
            <a:r>
              <a:rPr sz="1000" b="0">
                <a:solidFill>
                  <a:srgbClr val="555A61"/>
                </a:solidFill>
                <a:latin typeface="Arial"/>
              </a:rPr>
              <a:t>Work In Progress · Chișinău</a:t>
            </a:r>
            <a:r>
              <a:rPr sz="1000" b="1">
                <a:solidFill>
                  <a:srgbClr val="555A61"/>
                </a:solidFill>
                <a:latin typeface="Arial"/>
              </a:rPr>
              <a:t>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5486400" cy="274320"/>
          </a:xfrm>
          <a:prstGeom prst="rect">
            <a:avLst/>
          </a:prstGeom>
          <a:noFill/>
        </p:spPr>
        <p:txBody>
          <a:bodyPr wrap="square" lIns="0" rIns="0" tIns="0" bIns="0" anchor="t">
            <a:spAutoFit/>
          </a:bodyPr>
          <a:lstStyle/>
          <a:p>
            <a:pPr algn="l">
              <a:spcAft>
                <a:spcPts val="0"/>
              </a:spcAft>
            </a:pPr>
            <a:r>
              <a:rPr sz="1100" b="1" spc="300">
                <a:solidFill>
                  <a:srgbClr val="555A61"/>
                </a:solidFill>
                <a:latin typeface="Arial"/>
              </a:rPr>
              <a:t>HOW IT WORKS · 2 OF 2</a:t>
            </a:r>
          </a:p>
        </p:txBody>
      </p:sp>
      <p:sp>
        <p:nvSpPr>
          <p:cNvPr id="3" name="TextBox 2"/>
          <p:cNvSpPr txBox="1"/>
          <p:nvPr/>
        </p:nvSpPr>
        <p:spPr>
          <a:xfrm>
            <a:off x="548640" y="758952"/>
            <a:ext cx="10058400" cy="640080"/>
          </a:xfrm>
          <a:prstGeom prst="rect">
            <a:avLst/>
          </a:prstGeom>
          <a:noFill/>
        </p:spPr>
        <p:txBody>
          <a:bodyPr wrap="square" lIns="0" rIns="0" tIns="0" bIns="0" anchor="t">
            <a:spAutoFit/>
          </a:bodyPr>
          <a:lstStyle/>
          <a:p>
            <a:pPr algn="l">
              <a:spcAft>
                <a:spcPts val="0"/>
              </a:spcAft>
            </a:pPr>
            <a:r>
              <a:rPr sz="3000" b="1">
                <a:solidFill>
                  <a:srgbClr val="16181B"/>
                </a:solidFill>
                <a:latin typeface="Arial"/>
              </a:rPr>
              <a:t>Resident reports: verified by neighbours</a:t>
            </a:r>
          </a:p>
        </p:txBody>
      </p:sp>
      <p:sp>
        <p:nvSpPr>
          <p:cNvPr id="4" name="Rounded Rectangle 3"/>
          <p:cNvSpPr/>
          <p:nvPr/>
        </p:nvSpPr>
        <p:spPr>
          <a:xfrm>
            <a:off x="548640" y="1600200"/>
            <a:ext cx="3447288" cy="2240280"/>
          </a:xfrm>
          <a:prstGeom prst="roundRect">
            <a:avLst>
              <a:gd name="adj" fmla="val 8979"/>
            </a:avLst>
          </a:prstGeom>
          <a:solidFill>
            <a:srgbClr val="F3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64792"/>
            <a:ext cx="3017520" cy="274320"/>
          </a:xfrm>
          <a:prstGeom prst="rect">
            <a:avLst/>
          </a:prstGeom>
          <a:noFill/>
        </p:spPr>
        <p:txBody>
          <a:bodyPr wrap="square" lIns="0" rIns="0" tIns="0" bIns="0" anchor="t">
            <a:spAutoFit/>
          </a:bodyPr>
          <a:lstStyle/>
          <a:p>
            <a:pPr algn="l">
              <a:spcAft>
                <a:spcPts val="0"/>
              </a:spcAft>
            </a:pPr>
            <a:r>
              <a:rPr sz="1050" b="1" spc="200">
                <a:solidFill>
                  <a:srgbClr val="555A61"/>
                </a:solidFill>
                <a:latin typeface="Arial"/>
              </a:rPr>
              <a:t>INPUT</a:t>
            </a:r>
          </a:p>
        </p:txBody>
      </p:sp>
      <p:sp>
        <p:nvSpPr>
          <p:cNvPr id="6" name="TextBox 5"/>
          <p:cNvSpPr txBox="1"/>
          <p:nvPr/>
        </p:nvSpPr>
        <p:spPr>
          <a:xfrm>
            <a:off x="777240" y="2103120"/>
            <a:ext cx="3017520" cy="1280160"/>
          </a:xfrm>
          <a:prstGeom prst="rect">
            <a:avLst/>
          </a:prstGeom>
          <a:noFill/>
        </p:spPr>
        <p:txBody>
          <a:bodyPr wrap="square" lIns="0" rIns="0" tIns="0" bIns="0" anchor="t">
            <a:spAutoFit/>
          </a:bodyPr>
          <a:lstStyle/>
          <a:p>
            <a:pPr algn="l">
              <a:lnSpc>
                <a:spcPct val="108000"/>
              </a:lnSpc>
              <a:spcAft>
                <a:spcPts val="500"/>
              </a:spcAft>
            </a:pPr>
            <a:r>
              <a:rPr sz="1250" b="1">
                <a:solidFill>
                  <a:srgbClr val="16181B"/>
                </a:solidFill>
                <a:latin typeface="Arial"/>
              </a:rPr>
              <a:t>A resident reports a problem</a:t>
            </a:r>
          </a:p>
          <a:p>
            <a:pPr algn="l">
              <a:lnSpc>
                <a:spcPct val="108000"/>
              </a:lnSpc>
              <a:spcAft>
                <a:spcPts val="500"/>
              </a:spcAft>
            </a:pPr>
            <a:r>
              <a:rPr sz="1100" b="0">
                <a:solidFill>
                  <a:srgbClr val="555A61"/>
                </a:solidFill>
                <a:latin typeface="Arial"/>
              </a:rPr>
              <a:t>From the web app or the Telegram bot: type, location, now or later</a:t>
            </a:r>
          </a:p>
        </p:txBody>
      </p:sp>
      <p:cxnSp>
        <p:nvCxnSpPr>
          <p:cNvPr id="7" name="Connector 6"/>
          <p:cNvCxnSpPr/>
          <p:nvPr/>
        </p:nvCxnSpPr>
        <p:spPr>
          <a:xfrm>
            <a:off x="4023359" y="2715768"/>
            <a:ext cx="320041" cy="0"/>
          </a:xfrm>
          <a:prstGeom prst="line">
            <a:avLst/>
          </a:prstGeom>
          <a:ln w="19050">
            <a:solidFill>
              <a:srgbClr val="16181B"/>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370831" y="1600200"/>
            <a:ext cx="3447288" cy="2240280"/>
          </a:xfrm>
          <a:prstGeom prst="roundRect">
            <a:avLst>
              <a:gd name="adj" fmla="val 8979"/>
            </a:avLst>
          </a:prstGeom>
          <a:solidFill>
            <a:srgbClr val="FFFFFF"/>
          </a:solidFill>
          <a:ln w="12700">
            <a:solidFill>
              <a:srgbClr val="C4C4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9431" y="1764792"/>
            <a:ext cx="3017520" cy="274320"/>
          </a:xfrm>
          <a:prstGeom prst="rect">
            <a:avLst/>
          </a:prstGeom>
          <a:noFill/>
        </p:spPr>
        <p:txBody>
          <a:bodyPr wrap="square" lIns="0" rIns="0" tIns="0" bIns="0" anchor="t">
            <a:spAutoFit/>
          </a:bodyPr>
          <a:lstStyle/>
          <a:p>
            <a:pPr algn="l">
              <a:spcAft>
                <a:spcPts val="0"/>
              </a:spcAft>
            </a:pPr>
            <a:r>
              <a:rPr sz="1050" b="1" spc="200">
                <a:solidFill>
                  <a:srgbClr val="555A61"/>
                </a:solidFill>
                <a:latin typeface="Arial"/>
              </a:rPr>
              <a:t>OUR ENGINE</a:t>
            </a:r>
          </a:p>
        </p:txBody>
      </p:sp>
      <p:sp>
        <p:nvSpPr>
          <p:cNvPr id="10" name="TextBox 9"/>
          <p:cNvSpPr txBox="1"/>
          <p:nvPr/>
        </p:nvSpPr>
        <p:spPr>
          <a:xfrm>
            <a:off x="4599431" y="2103120"/>
            <a:ext cx="3017520" cy="1280160"/>
          </a:xfrm>
          <a:prstGeom prst="rect">
            <a:avLst/>
          </a:prstGeom>
          <a:noFill/>
        </p:spPr>
        <p:txBody>
          <a:bodyPr wrap="square" lIns="0" rIns="0" tIns="0" bIns="0" anchor="t">
            <a:spAutoFit/>
          </a:bodyPr>
          <a:lstStyle/>
          <a:p>
            <a:pPr algn="l">
              <a:lnSpc>
                <a:spcPct val="108000"/>
              </a:lnSpc>
              <a:spcAft>
                <a:spcPts val="500"/>
              </a:spcAft>
            </a:pPr>
            <a:r>
              <a:rPr sz="1250" b="1">
                <a:solidFill>
                  <a:srgbClr val="16181B"/>
                </a:solidFill>
                <a:latin typeface="Arial"/>
              </a:rPr>
              <a:t>Neighbours verify it</a:t>
            </a:r>
          </a:p>
          <a:p>
            <a:pPr algn="l">
              <a:lnSpc>
                <a:spcPct val="108000"/>
              </a:lnSpc>
              <a:spcAft>
                <a:spcPts val="500"/>
              </a:spcAft>
            </a:pPr>
            <a:r>
              <a:rPr sz="1100" b="0">
                <a:solidFill>
                  <a:srgbClr val="555A61"/>
                </a:solidFill>
                <a:latin typeface="Arial"/>
              </a:rPr>
              <a:t>Same problem within 300 m? Confirm that one instead</a:t>
            </a:r>
          </a:p>
          <a:p>
            <a:pPr algn="l">
              <a:lnSpc>
                <a:spcPct val="108000"/>
              </a:lnSpc>
              <a:spcAft>
                <a:spcPts val="500"/>
              </a:spcAft>
            </a:pPr>
            <a:r>
              <a:rPr sz="1100" b="0">
                <a:solidFill>
                  <a:srgbClr val="555A61"/>
                </a:solidFill>
                <a:latin typeface="Arial"/>
              </a:rPr>
              <a:t>Signed-in users within 50 m are asked "Do you have this problem too?" Anyone can answer on the event page: one per device, within 1 km</a:t>
            </a:r>
          </a:p>
        </p:txBody>
      </p:sp>
      <p:cxnSp>
        <p:nvCxnSpPr>
          <p:cNvPr id="11" name="Connector 10"/>
          <p:cNvCxnSpPr/>
          <p:nvPr/>
        </p:nvCxnSpPr>
        <p:spPr>
          <a:xfrm>
            <a:off x="7845551" y="2715768"/>
            <a:ext cx="320041" cy="0"/>
          </a:xfrm>
          <a:prstGeom prst="line">
            <a:avLst/>
          </a:prstGeom>
          <a:ln w="19050">
            <a:solidFill>
              <a:srgbClr val="16181B"/>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193023" y="1600200"/>
            <a:ext cx="3447288" cy="2240280"/>
          </a:xfrm>
          <a:prstGeom prst="roundRect">
            <a:avLst>
              <a:gd name="adj" fmla="val 8979"/>
            </a:avLst>
          </a:prstGeom>
          <a:solidFill>
            <a:srgbClr val="E3F3EA"/>
          </a:solidFill>
          <a:ln w="12700">
            <a:solidFill>
              <a:srgbClr val="1C7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21624" y="1764792"/>
            <a:ext cx="3017520" cy="274320"/>
          </a:xfrm>
          <a:prstGeom prst="rect">
            <a:avLst/>
          </a:prstGeom>
          <a:noFill/>
        </p:spPr>
        <p:txBody>
          <a:bodyPr wrap="square" lIns="0" rIns="0" tIns="0" bIns="0" anchor="t">
            <a:spAutoFit/>
          </a:bodyPr>
          <a:lstStyle/>
          <a:p>
            <a:pPr algn="l">
              <a:spcAft>
                <a:spcPts val="0"/>
              </a:spcAft>
            </a:pPr>
            <a:r>
              <a:rPr sz="1050" b="1" spc="200">
                <a:solidFill>
                  <a:srgbClr val="555A61"/>
                </a:solidFill>
                <a:latin typeface="Arial"/>
              </a:rPr>
              <a:t>OUTPUT</a:t>
            </a:r>
          </a:p>
        </p:txBody>
      </p:sp>
      <p:sp>
        <p:nvSpPr>
          <p:cNvPr id="14" name="TextBox 13"/>
          <p:cNvSpPr txBox="1"/>
          <p:nvPr/>
        </p:nvSpPr>
        <p:spPr>
          <a:xfrm>
            <a:off x="8421624" y="2103120"/>
            <a:ext cx="3017520" cy="1280160"/>
          </a:xfrm>
          <a:prstGeom prst="rect">
            <a:avLst/>
          </a:prstGeom>
          <a:noFill/>
        </p:spPr>
        <p:txBody>
          <a:bodyPr wrap="square" lIns="0" rIns="0" tIns="0" bIns="0" anchor="t">
            <a:spAutoFit/>
          </a:bodyPr>
          <a:lstStyle/>
          <a:p>
            <a:pPr algn="l">
              <a:lnSpc>
                <a:spcPct val="108000"/>
              </a:lnSpc>
              <a:spcAft>
                <a:spcPts val="500"/>
              </a:spcAft>
            </a:pPr>
            <a:r>
              <a:rPr sz="1250" b="1">
                <a:solidFill>
                  <a:srgbClr val="1C7340"/>
                </a:solidFill>
                <a:latin typeface="Arial"/>
              </a:rPr>
              <a:t>3 × "Me too" → Confirmed</a:t>
            </a:r>
          </a:p>
          <a:p>
            <a:pPr algn="l">
              <a:lnSpc>
                <a:spcPct val="108000"/>
              </a:lnSpc>
              <a:spcAft>
                <a:spcPts val="500"/>
              </a:spcAft>
            </a:pPr>
            <a:r>
              <a:rPr sz="1100" b="0">
                <a:solidFill>
                  <a:srgbClr val="555A61"/>
                </a:solidFill>
                <a:latin typeface="Arial"/>
              </a:rPr>
              <a:t>More "Mine works" (at least 3) → Disputed, taken off the map. No answers in 6 h → expires</a:t>
            </a:r>
          </a:p>
        </p:txBody>
      </p:sp>
      <p:sp>
        <p:nvSpPr>
          <p:cNvPr id="15" name="Rounded Rectangle 14"/>
          <p:cNvSpPr/>
          <p:nvPr/>
        </p:nvSpPr>
        <p:spPr>
          <a:xfrm>
            <a:off x="8375903" y="3401568"/>
            <a:ext cx="1133856" cy="274320"/>
          </a:xfrm>
          <a:prstGeom prst="roundRect">
            <a:avLst>
              <a:gd name="adj" fmla="val 50000"/>
            </a:avLst>
          </a:prstGeom>
          <a:solidFill>
            <a:srgbClr val="E9E9E3"/>
          </a:solidFill>
          <a:ln w="12700">
            <a:solidFill>
              <a:srgbClr val="555A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522207" y="3483864"/>
            <a:ext cx="109728" cy="109728"/>
          </a:xfrm>
          <a:prstGeom prst="ellipse">
            <a:avLst/>
          </a:prstGeom>
          <a:solidFill>
            <a:srgbClr val="555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05087" y="3401568"/>
            <a:ext cx="768096" cy="274320"/>
          </a:xfrm>
          <a:prstGeom prst="rect">
            <a:avLst/>
          </a:prstGeom>
          <a:noFill/>
        </p:spPr>
        <p:txBody>
          <a:bodyPr wrap="square" lIns="0" rIns="0" tIns="0" bIns="0" anchor="ctr">
            <a:spAutoFit/>
          </a:bodyPr>
          <a:lstStyle/>
          <a:p>
            <a:pPr algn="l">
              <a:spcAft>
                <a:spcPts val="0"/>
              </a:spcAft>
            </a:pPr>
            <a:r>
              <a:rPr sz="900" b="1">
                <a:solidFill>
                  <a:srgbClr val="555A61"/>
                </a:solidFill>
                <a:latin typeface="Arial"/>
              </a:rPr>
              <a:t>Unconfirmed</a:t>
            </a:r>
          </a:p>
        </p:txBody>
      </p:sp>
      <p:sp>
        <p:nvSpPr>
          <p:cNvPr id="18" name="Rounded Rectangle 17"/>
          <p:cNvSpPr/>
          <p:nvPr/>
        </p:nvSpPr>
        <p:spPr>
          <a:xfrm>
            <a:off x="9564624" y="3401568"/>
            <a:ext cx="1133856" cy="274320"/>
          </a:xfrm>
          <a:prstGeom prst="roundRect">
            <a:avLst>
              <a:gd name="adj" fmla="val 50000"/>
            </a:avLst>
          </a:prstGeom>
          <a:solidFill>
            <a:srgbClr val="E3F3EA"/>
          </a:solidFill>
          <a:ln w="12700">
            <a:solidFill>
              <a:srgbClr val="1C7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10928" y="3483864"/>
            <a:ext cx="109728" cy="109728"/>
          </a:xfrm>
          <a:prstGeom prst="ellipse">
            <a:avLst/>
          </a:prstGeom>
          <a:solidFill>
            <a:srgbClr val="1C7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93807" y="3401568"/>
            <a:ext cx="768096" cy="274320"/>
          </a:xfrm>
          <a:prstGeom prst="rect">
            <a:avLst/>
          </a:prstGeom>
          <a:noFill/>
        </p:spPr>
        <p:txBody>
          <a:bodyPr wrap="square" lIns="0" rIns="0" tIns="0" bIns="0" anchor="ctr">
            <a:spAutoFit/>
          </a:bodyPr>
          <a:lstStyle/>
          <a:p>
            <a:pPr algn="l">
              <a:spcAft>
                <a:spcPts val="0"/>
              </a:spcAft>
            </a:pPr>
            <a:r>
              <a:rPr sz="900" b="1">
                <a:solidFill>
                  <a:srgbClr val="1C7340"/>
                </a:solidFill>
                <a:latin typeface="Arial"/>
              </a:rPr>
              <a:t>Confirmed</a:t>
            </a:r>
          </a:p>
        </p:txBody>
      </p:sp>
      <p:sp>
        <p:nvSpPr>
          <p:cNvPr id="21" name="Rounded Rectangle 20"/>
          <p:cNvSpPr/>
          <p:nvPr/>
        </p:nvSpPr>
        <p:spPr>
          <a:xfrm>
            <a:off x="548640" y="4069080"/>
            <a:ext cx="5440680" cy="2011680"/>
          </a:xfrm>
          <a:prstGeom prst="roundRect">
            <a:avLst>
              <a:gd name="adj" fmla="val 10000"/>
            </a:avLst>
          </a:prstGeom>
          <a:solidFill>
            <a:srgbClr val="F3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224528"/>
            <a:ext cx="5029200" cy="274320"/>
          </a:xfrm>
          <a:prstGeom prst="rect">
            <a:avLst/>
          </a:prstGeom>
          <a:noFill/>
        </p:spPr>
        <p:txBody>
          <a:bodyPr wrap="square" lIns="0" rIns="0" tIns="0" bIns="0" anchor="t">
            <a:spAutoFit/>
          </a:bodyPr>
          <a:lstStyle/>
          <a:p>
            <a:pPr algn="l">
              <a:spcAft>
                <a:spcPts val="0"/>
              </a:spcAft>
            </a:pPr>
            <a:r>
              <a:rPr sz="1050" b="1" spc="150">
                <a:solidFill>
                  <a:srgbClr val="1C7340"/>
                </a:solidFill>
                <a:latin typeface="Arial"/>
              </a:rPr>
              <a:t>●  </a:t>
            </a:r>
            <a:r>
              <a:rPr sz="1050" b="1" spc="150">
                <a:solidFill>
                  <a:srgbClr val="555A61"/>
                </a:solidFill>
                <a:latin typeface="Arial"/>
              </a:rPr>
              <a:t>WHAT'S REAL</a:t>
            </a:r>
          </a:p>
        </p:txBody>
      </p:sp>
      <p:sp>
        <p:nvSpPr>
          <p:cNvPr id="23" name="TextBox 22"/>
          <p:cNvSpPr txBox="1"/>
          <p:nvPr/>
        </p:nvSpPr>
        <p:spPr>
          <a:xfrm>
            <a:off x="777240" y="4572000"/>
            <a:ext cx="5029200" cy="1463040"/>
          </a:xfrm>
          <a:prstGeom prst="rect">
            <a:avLst/>
          </a:prstGeom>
          <a:noFill/>
        </p:spPr>
        <p:txBody>
          <a:bodyPr wrap="square" lIns="0" rIns="0" tIns="0" bIns="0" anchor="t">
            <a:spAutoFit/>
          </a:bodyPr>
          <a:lstStyle/>
          <a:p>
            <a:pPr algn="l">
              <a:lnSpc>
                <a:spcPct val="110000"/>
              </a:lnSpc>
              <a:spcAft>
                <a:spcPts val="500"/>
              </a:spcAft>
            </a:pPr>
            <a:r>
              <a:rPr sz="1200" b="0">
                <a:solidFill>
                  <a:srgbClr val="16181B"/>
                </a:solidFill>
                <a:latin typeface="Arial"/>
              </a:rPr>
              <a:t>Reporting on the web, with sign-in (email / Google)</a:t>
            </a:r>
          </a:p>
          <a:p>
            <a:pPr algn="l">
              <a:lnSpc>
                <a:spcPct val="110000"/>
              </a:lnSpc>
              <a:spcAft>
                <a:spcPts val="500"/>
              </a:spcAft>
            </a:pPr>
            <a:r>
              <a:rPr sz="1200" b="0">
                <a:solidFill>
                  <a:srgbClr val="16181B"/>
                </a:solidFill>
                <a:latin typeface="Arial"/>
              </a:rPr>
              <a:t>Telegram bot prototype: link your account, report a problem</a:t>
            </a:r>
          </a:p>
          <a:p>
            <a:pPr algn="l">
              <a:lnSpc>
                <a:spcPct val="110000"/>
              </a:lnSpc>
              <a:spcAft>
                <a:spcPts val="500"/>
              </a:spcAft>
            </a:pPr>
            <a:r>
              <a:rPr sz="1200" b="0">
                <a:solidFill>
                  <a:srgbClr val="16181B"/>
                </a:solidFill>
                <a:latin typeface="Arial"/>
              </a:rPr>
              <a:t>Confirmations update the map in real time</a:t>
            </a:r>
          </a:p>
        </p:txBody>
      </p:sp>
      <p:sp>
        <p:nvSpPr>
          <p:cNvPr id="24" name="Rounded Rectangle 23"/>
          <p:cNvSpPr/>
          <p:nvPr/>
        </p:nvSpPr>
        <p:spPr>
          <a:xfrm>
            <a:off x="6199632" y="4069080"/>
            <a:ext cx="5440680" cy="2011680"/>
          </a:xfrm>
          <a:prstGeom prst="roundRect">
            <a:avLst>
              <a:gd name="adj" fmla="val 10000"/>
            </a:avLst>
          </a:prstGeom>
          <a:solidFill>
            <a:srgbClr val="FFFFFF"/>
          </a:solidFill>
          <a:ln w="12700">
            <a:solidFill>
              <a:srgbClr val="C4C4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8232" y="4224528"/>
            <a:ext cx="5029200" cy="274320"/>
          </a:xfrm>
          <a:prstGeom prst="rect">
            <a:avLst/>
          </a:prstGeom>
          <a:noFill/>
        </p:spPr>
        <p:txBody>
          <a:bodyPr wrap="square" lIns="0" rIns="0" tIns="0" bIns="0" anchor="t">
            <a:spAutoFit/>
          </a:bodyPr>
          <a:lstStyle/>
          <a:p>
            <a:pPr algn="l">
              <a:spcAft>
                <a:spcPts val="0"/>
              </a:spcAft>
            </a:pPr>
            <a:r>
              <a:rPr sz="1050" b="1" spc="150">
                <a:solidFill>
                  <a:srgbClr val="A16207"/>
                </a:solidFill>
                <a:latin typeface="Arial"/>
              </a:rPr>
              <a:t>●  </a:t>
            </a:r>
            <a:r>
              <a:rPr sz="1050" b="1" spc="150">
                <a:solidFill>
                  <a:srgbClr val="555A61"/>
                </a:solidFill>
                <a:latin typeface="Arial"/>
              </a:rPr>
              <a:t>NOT BUILT YET</a:t>
            </a:r>
          </a:p>
        </p:txBody>
      </p:sp>
      <p:sp>
        <p:nvSpPr>
          <p:cNvPr id="26" name="TextBox 25"/>
          <p:cNvSpPr txBox="1"/>
          <p:nvPr/>
        </p:nvSpPr>
        <p:spPr>
          <a:xfrm>
            <a:off x="6428232" y="4572000"/>
            <a:ext cx="5029200" cy="1463040"/>
          </a:xfrm>
          <a:prstGeom prst="rect">
            <a:avLst/>
          </a:prstGeom>
          <a:noFill/>
        </p:spPr>
        <p:txBody>
          <a:bodyPr wrap="square" lIns="0" rIns="0" tIns="0" bIns="0" anchor="t">
            <a:spAutoFit/>
          </a:bodyPr>
          <a:lstStyle/>
          <a:p>
            <a:pPr algn="l">
              <a:lnSpc>
                <a:spcPct val="110000"/>
              </a:lnSpc>
              <a:spcAft>
                <a:spcPts val="500"/>
              </a:spcAft>
            </a:pPr>
            <a:r>
              <a:rPr sz="1200" b="0">
                <a:solidFill>
                  <a:srgbClr val="16181B"/>
                </a:solidFill>
                <a:latin typeface="Arial"/>
              </a:rPr>
              <a:t>The daily outage forecast in Telegram</a:t>
            </a:r>
          </a:p>
          <a:p>
            <a:pPr algn="l">
              <a:lnSpc>
                <a:spcPct val="110000"/>
              </a:lnSpc>
              <a:spcAft>
                <a:spcPts val="500"/>
              </a:spcAft>
            </a:pPr>
            <a:r>
              <a:rPr sz="1200" b="0">
                <a:solidFill>
                  <a:srgbClr val="16181B"/>
                </a:solidFill>
                <a:latin typeface="Arial"/>
              </a:rPr>
              <a:t>Alerts when a problem is confirmed near your saved addresses</a:t>
            </a:r>
          </a:p>
        </p:txBody>
      </p:sp>
      <p:sp>
        <p:nvSpPr>
          <p:cNvPr id="27" name="Rounded Rectangle 26"/>
          <p:cNvSpPr/>
          <p:nvPr/>
        </p:nvSpPr>
        <p:spPr>
          <a:xfrm>
            <a:off x="548640" y="6291072"/>
            <a:ext cx="237744" cy="237744"/>
          </a:xfrm>
          <a:prstGeom prst="roundRect">
            <a:avLst>
              <a:gd name="adj" fmla="val 28125"/>
            </a:avLst>
          </a:prstGeom>
          <a:solidFill>
            <a:srgbClr val="16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00646" y="6391370"/>
            <a:ext cx="133731" cy="37147"/>
          </a:xfrm>
          <a:prstGeom prst="roundRect">
            <a:avLst>
              <a:gd name="adj" fmla="val 50000"/>
            </a:avLst>
          </a:prstGeom>
          <a:solidFill>
            <a:srgbClr val="5C5D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00646" y="6391370"/>
            <a:ext cx="81724" cy="37147"/>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960120" y="6409944"/>
            <a:ext cx="8503920" cy="0"/>
          </a:xfrm>
          <a:prstGeom prst="line">
            <a:avLst/>
          </a:prstGeom>
          <a:ln w="9525">
            <a:solidFill>
              <a:srgbClr val="C4C4BB"/>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601200" y="6291072"/>
            <a:ext cx="2039112" cy="237744"/>
          </a:xfrm>
          <a:prstGeom prst="rect">
            <a:avLst/>
          </a:prstGeom>
          <a:noFill/>
        </p:spPr>
        <p:txBody>
          <a:bodyPr wrap="square" lIns="0" rIns="0" tIns="0" bIns="0" anchor="ctr">
            <a:spAutoFit/>
          </a:bodyPr>
          <a:lstStyle/>
          <a:p>
            <a:pPr algn="r">
              <a:spcAft>
                <a:spcPts val="0"/>
              </a:spcAft>
            </a:pPr>
            <a:r>
              <a:rPr sz="1000" b="0">
                <a:solidFill>
                  <a:srgbClr val="555A61"/>
                </a:solidFill>
                <a:latin typeface="Arial"/>
              </a:rPr>
              <a:t>Work In Progress · Chișinău</a:t>
            </a:r>
            <a:r>
              <a:rPr sz="1000" b="1">
                <a:solidFill>
                  <a:srgbClr val="555A61"/>
                </a:solidFill>
                <a:latin typeface="Arial"/>
              </a:rPr>
              <a:t>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216"/>
        </a:solidFill>
        <a:effectLst/>
      </p:bgPr>
    </p:bg>
    <p:spTree>
      <p:nvGrpSpPr>
        <p:cNvPr id="1" name=""/>
        <p:cNvGrpSpPr/>
        <p:nvPr/>
      </p:nvGrpSpPr>
      <p:grpSpPr/>
      <p:sp>
        <p:nvSpPr>
          <p:cNvPr id="2" name="TextBox 1"/>
          <p:cNvSpPr txBox="1"/>
          <p:nvPr/>
        </p:nvSpPr>
        <p:spPr>
          <a:xfrm>
            <a:off x="548640" y="502920"/>
            <a:ext cx="5486400" cy="274320"/>
          </a:xfrm>
          <a:prstGeom prst="rect">
            <a:avLst/>
          </a:prstGeom>
          <a:noFill/>
        </p:spPr>
        <p:txBody>
          <a:bodyPr wrap="square" lIns="0" rIns="0" tIns="0" bIns="0" anchor="t">
            <a:spAutoFit/>
          </a:bodyPr>
          <a:lstStyle/>
          <a:p>
            <a:pPr algn="l">
              <a:spcAft>
                <a:spcPts val="0"/>
              </a:spcAft>
            </a:pPr>
            <a:r>
              <a:rPr sz="1100" b="1" spc="300">
                <a:solidFill>
                  <a:srgbClr val="A9B0B9"/>
                </a:solidFill>
                <a:latin typeface="Arial"/>
              </a:rPr>
              <a:t>IMPACT</a:t>
            </a:r>
          </a:p>
        </p:txBody>
      </p:sp>
      <p:sp>
        <p:nvSpPr>
          <p:cNvPr id="3" name="TextBox 2"/>
          <p:cNvSpPr txBox="1"/>
          <p:nvPr/>
        </p:nvSpPr>
        <p:spPr>
          <a:xfrm>
            <a:off x="548640" y="822960"/>
            <a:ext cx="8229600" cy="731520"/>
          </a:xfrm>
          <a:prstGeom prst="rect">
            <a:avLst/>
          </a:prstGeom>
          <a:noFill/>
        </p:spPr>
        <p:txBody>
          <a:bodyPr wrap="square" lIns="0" rIns="0" tIns="0" bIns="0" anchor="t">
            <a:spAutoFit/>
          </a:bodyPr>
          <a:lstStyle/>
          <a:p>
            <a:pPr algn="l">
              <a:spcAft>
                <a:spcPts val="0"/>
              </a:spcAft>
            </a:pPr>
            <a:r>
              <a:rPr sz="3600" b="1">
                <a:solidFill>
                  <a:srgbClr val="ECEEF1"/>
                </a:solidFill>
                <a:latin typeface="Arial"/>
              </a:rPr>
              <a:t>Know before, not after.</a:t>
            </a:r>
          </a:p>
        </p:txBody>
      </p:sp>
      <p:sp>
        <p:nvSpPr>
          <p:cNvPr id="4" name="Rounded Rectangle 3"/>
          <p:cNvSpPr/>
          <p:nvPr/>
        </p:nvSpPr>
        <p:spPr>
          <a:xfrm>
            <a:off x="548640" y="1828800"/>
            <a:ext cx="3593592" cy="2103120"/>
          </a:xfrm>
          <a:prstGeom prst="roundRect">
            <a:avLst>
              <a:gd name="adj" fmla="val 10869"/>
            </a:avLst>
          </a:prstGeom>
          <a:solidFill>
            <a:srgbClr val="171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59" y="2103120"/>
            <a:ext cx="128016" cy="128016"/>
          </a:xfrm>
          <a:prstGeom prst="ellipse">
            <a:avLst/>
          </a:prstGeom>
          <a:solidFill>
            <a:srgbClr val="7A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2377440"/>
            <a:ext cx="3200400" cy="914400"/>
          </a:xfrm>
          <a:prstGeom prst="rect">
            <a:avLst/>
          </a:prstGeom>
          <a:noFill/>
        </p:spPr>
        <p:txBody>
          <a:bodyPr wrap="square" lIns="0" rIns="0" tIns="0" bIns="0" anchor="t">
            <a:spAutoFit/>
          </a:bodyPr>
          <a:lstStyle/>
          <a:p>
            <a:pPr algn="l">
              <a:spcAft>
                <a:spcPts val="0"/>
              </a:spcAft>
            </a:pPr>
            <a:r>
              <a:rPr sz="5000" b="1">
                <a:solidFill>
                  <a:srgbClr val="ECEEF1"/>
                </a:solidFill>
                <a:latin typeface="Arial"/>
              </a:rPr>
              <a:t>4 → 1</a:t>
            </a:r>
          </a:p>
        </p:txBody>
      </p:sp>
      <p:sp>
        <p:nvSpPr>
          <p:cNvPr id="7" name="TextBox 6"/>
          <p:cNvSpPr txBox="1"/>
          <p:nvPr/>
        </p:nvSpPr>
        <p:spPr>
          <a:xfrm>
            <a:off x="822959" y="3291840"/>
            <a:ext cx="3108960" cy="548640"/>
          </a:xfrm>
          <a:prstGeom prst="rect">
            <a:avLst/>
          </a:prstGeom>
          <a:noFill/>
        </p:spPr>
        <p:txBody>
          <a:bodyPr wrap="square" lIns="0" rIns="0" tIns="0" bIns="0" anchor="t">
            <a:spAutoFit/>
          </a:bodyPr>
          <a:lstStyle/>
          <a:p>
            <a:pPr algn="l">
              <a:lnSpc>
                <a:spcPct val="110000"/>
              </a:lnSpc>
              <a:spcAft>
                <a:spcPts val="0"/>
              </a:spcAft>
            </a:pPr>
            <a:r>
              <a:rPr sz="1300" b="0">
                <a:solidFill>
                  <a:srgbClr val="A9B0B9"/>
                </a:solidFill>
                <a:latin typeface="Arial"/>
              </a:rPr>
              <a:t>websites to check become one map</a:t>
            </a:r>
          </a:p>
        </p:txBody>
      </p:sp>
      <p:sp>
        <p:nvSpPr>
          <p:cNvPr id="8" name="Rounded Rectangle 7"/>
          <p:cNvSpPr/>
          <p:nvPr/>
        </p:nvSpPr>
        <p:spPr>
          <a:xfrm>
            <a:off x="4297679" y="1828800"/>
            <a:ext cx="3593592" cy="2103120"/>
          </a:xfrm>
          <a:prstGeom prst="roundRect">
            <a:avLst>
              <a:gd name="adj" fmla="val 10869"/>
            </a:avLst>
          </a:prstGeom>
          <a:solidFill>
            <a:srgbClr val="171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71999" y="2103120"/>
            <a:ext cx="128016" cy="128016"/>
          </a:xfrm>
          <a:prstGeom prst="ellipse">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1999" y="2377440"/>
            <a:ext cx="3200400" cy="914400"/>
          </a:xfrm>
          <a:prstGeom prst="rect">
            <a:avLst/>
          </a:prstGeom>
          <a:noFill/>
        </p:spPr>
        <p:txBody>
          <a:bodyPr wrap="square" lIns="0" rIns="0" tIns="0" bIns="0" anchor="t">
            <a:spAutoFit/>
          </a:bodyPr>
          <a:lstStyle/>
          <a:p>
            <a:pPr algn="l">
              <a:spcAft>
                <a:spcPts val="0"/>
              </a:spcAft>
            </a:pPr>
            <a:r>
              <a:rPr sz="5000" b="1">
                <a:solidFill>
                  <a:srgbClr val="ECEEF1"/>
                </a:solidFill>
                <a:latin typeface="Arial"/>
              </a:rPr>
              <a:t>≤ 1 h</a:t>
            </a:r>
          </a:p>
        </p:txBody>
      </p:sp>
      <p:sp>
        <p:nvSpPr>
          <p:cNvPr id="11" name="TextBox 10"/>
          <p:cNvSpPr txBox="1"/>
          <p:nvPr/>
        </p:nvSpPr>
        <p:spPr>
          <a:xfrm>
            <a:off x="4571999" y="3291840"/>
            <a:ext cx="3108960" cy="548640"/>
          </a:xfrm>
          <a:prstGeom prst="rect">
            <a:avLst/>
          </a:prstGeom>
          <a:noFill/>
        </p:spPr>
        <p:txBody>
          <a:bodyPr wrap="square" lIns="0" rIns="0" tIns="0" bIns="0" anchor="t">
            <a:spAutoFit/>
          </a:bodyPr>
          <a:lstStyle/>
          <a:p>
            <a:pPr algn="l">
              <a:lnSpc>
                <a:spcPct val="110000"/>
              </a:lnSpc>
              <a:spcAft>
                <a:spcPts val="0"/>
              </a:spcAft>
            </a:pPr>
            <a:r>
              <a:rPr sz="1300" b="0">
                <a:solidFill>
                  <a:srgbClr val="A9B0B9"/>
                </a:solidFill>
                <a:latin typeface="Arial"/>
              </a:rPr>
              <a:t>from a provider's announcement to the map</a:t>
            </a:r>
          </a:p>
        </p:txBody>
      </p:sp>
      <p:sp>
        <p:nvSpPr>
          <p:cNvPr id="12" name="Rounded Rectangle 11"/>
          <p:cNvSpPr/>
          <p:nvPr/>
        </p:nvSpPr>
        <p:spPr>
          <a:xfrm>
            <a:off x="8046719" y="1828800"/>
            <a:ext cx="3593592" cy="2103120"/>
          </a:xfrm>
          <a:prstGeom prst="roundRect">
            <a:avLst>
              <a:gd name="adj" fmla="val 10869"/>
            </a:avLst>
          </a:prstGeom>
          <a:solidFill>
            <a:srgbClr val="171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321040" y="2103120"/>
            <a:ext cx="128016" cy="128016"/>
          </a:xfrm>
          <a:prstGeom prst="ellipse">
            <a:avLst/>
          </a:prstGeom>
          <a:solidFill>
            <a:srgbClr val="5CC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2377440"/>
            <a:ext cx="3200400" cy="914400"/>
          </a:xfrm>
          <a:prstGeom prst="rect">
            <a:avLst/>
          </a:prstGeom>
          <a:noFill/>
        </p:spPr>
        <p:txBody>
          <a:bodyPr wrap="square" lIns="0" rIns="0" tIns="0" bIns="0" anchor="t">
            <a:spAutoFit/>
          </a:bodyPr>
          <a:lstStyle/>
          <a:p>
            <a:pPr algn="l">
              <a:spcAft>
                <a:spcPts val="0"/>
              </a:spcAft>
            </a:pPr>
            <a:r>
              <a:rPr sz="5000" b="1">
                <a:solidFill>
                  <a:srgbClr val="ECEEF1"/>
                </a:solidFill>
                <a:latin typeface="Arial"/>
              </a:rPr>
              <a:t>720K</a:t>
            </a:r>
          </a:p>
        </p:txBody>
      </p:sp>
      <p:sp>
        <p:nvSpPr>
          <p:cNvPr id="15" name="TextBox 14"/>
          <p:cNvSpPr txBox="1"/>
          <p:nvPr/>
        </p:nvSpPr>
        <p:spPr>
          <a:xfrm>
            <a:off x="8321040" y="3291840"/>
            <a:ext cx="3108960" cy="548640"/>
          </a:xfrm>
          <a:prstGeom prst="rect">
            <a:avLst/>
          </a:prstGeom>
          <a:noFill/>
        </p:spPr>
        <p:txBody>
          <a:bodyPr wrap="square" lIns="0" rIns="0" tIns="0" bIns="0" anchor="t">
            <a:spAutoFit/>
          </a:bodyPr>
          <a:lstStyle/>
          <a:p>
            <a:pPr algn="l">
              <a:lnSpc>
                <a:spcPct val="110000"/>
              </a:lnSpc>
              <a:spcAft>
                <a:spcPts val="0"/>
              </a:spcAft>
            </a:pPr>
            <a:r>
              <a:rPr sz="1300" b="0">
                <a:solidFill>
                  <a:srgbClr val="A9B0B9"/>
                </a:solidFill>
                <a:latin typeface="Arial"/>
              </a:rPr>
              <a:t>residents of Chișinău covered</a:t>
            </a:r>
          </a:p>
        </p:txBody>
      </p:sp>
      <p:sp>
        <p:nvSpPr>
          <p:cNvPr id="16" name="Rounded Rectangle 15"/>
          <p:cNvSpPr/>
          <p:nvPr/>
        </p:nvSpPr>
        <p:spPr>
          <a:xfrm>
            <a:off x="548640" y="4160520"/>
            <a:ext cx="11091672" cy="1920240"/>
          </a:xfrm>
          <a:prstGeom prst="roundRect">
            <a:avLst>
              <a:gd name="adj" fmla="val 11904"/>
            </a:avLst>
          </a:prstGeom>
          <a:solidFill>
            <a:srgbClr val="171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315968"/>
            <a:ext cx="10515600" cy="274320"/>
          </a:xfrm>
          <a:prstGeom prst="rect">
            <a:avLst/>
          </a:prstGeom>
          <a:noFill/>
        </p:spPr>
        <p:txBody>
          <a:bodyPr wrap="square" lIns="0" rIns="0" tIns="0" bIns="0" anchor="t">
            <a:spAutoFit/>
          </a:bodyPr>
          <a:lstStyle/>
          <a:p>
            <a:pPr algn="l">
              <a:spcAft>
                <a:spcPts val="0"/>
              </a:spcAft>
            </a:pPr>
            <a:r>
              <a:rPr sz="1050" b="1" spc="150">
                <a:solidFill>
                  <a:srgbClr val="A9B0B9"/>
                </a:solidFill>
                <a:latin typeface="Arial"/>
              </a:rPr>
              <a:t>WHAT THIS MEANS FOR THE CITY</a:t>
            </a:r>
          </a:p>
        </p:txBody>
      </p:sp>
      <p:sp>
        <p:nvSpPr>
          <p:cNvPr id="18" name="TextBox 17"/>
          <p:cNvSpPr txBox="1"/>
          <p:nvPr/>
        </p:nvSpPr>
        <p:spPr>
          <a:xfrm>
            <a:off x="822960" y="4645152"/>
            <a:ext cx="10515600" cy="731520"/>
          </a:xfrm>
          <a:prstGeom prst="rect">
            <a:avLst/>
          </a:prstGeom>
          <a:noFill/>
        </p:spPr>
        <p:txBody>
          <a:bodyPr wrap="square" lIns="0" rIns="0" tIns="0" bIns="0" anchor="t">
            <a:spAutoFit/>
          </a:bodyPr>
          <a:lstStyle/>
          <a:p>
            <a:pPr algn="l">
              <a:lnSpc>
                <a:spcPct val="115000"/>
              </a:lnSpc>
              <a:spcAft>
                <a:spcPts val="0"/>
              </a:spcAft>
            </a:pPr>
            <a:r>
              <a:rPr sz="1400" b="0">
                <a:solidFill>
                  <a:srgbClr val="ECEEF1"/>
                </a:solidFill>
                <a:latin typeface="Arial"/>
              </a:rPr>
              <a:t>Residents learn about cuts before they happen, instead of 1 in 3 finding out when they're hit. Providers and City Hall get a live, verified picture of breakdowns, and fewer calls.</a:t>
            </a:r>
          </a:p>
        </p:txBody>
      </p:sp>
      <p:sp>
        <p:nvSpPr>
          <p:cNvPr id="19" name="TextBox 18"/>
          <p:cNvSpPr txBox="1"/>
          <p:nvPr/>
        </p:nvSpPr>
        <p:spPr>
          <a:xfrm>
            <a:off x="822960" y="5440680"/>
            <a:ext cx="10515600" cy="548640"/>
          </a:xfrm>
          <a:prstGeom prst="rect">
            <a:avLst/>
          </a:prstGeom>
          <a:noFill/>
        </p:spPr>
        <p:txBody>
          <a:bodyPr wrap="square" lIns="0" rIns="0" tIns="0" bIns="0" anchor="t">
            <a:spAutoFit/>
          </a:bodyPr>
          <a:lstStyle/>
          <a:p>
            <a:pPr algn="l">
              <a:lnSpc>
                <a:spcPct val="110000"/>
              </a:lnSpc>
              <a:spcAft>
                <a:spcPts val="0"/>
              </a:spcAft>
            </a:pPr>
            <a:r>
              <a:rPr sz="1050" b="0">
                <a:solidFill>
                  <a:srgbClr val="A9B0B9"/>
                </a:solidFill>
                <a:latin typeface="Arial"/>
              </a:rPr>
              <a:t>How we estimated: 4 = the official sources we import · 1 h = our import schedule · 720K = 2024 census, Chișinău municipality · demand: 91% of the people we surveyed want this in one place, 83% would use it.</a:t>
            </a:r>
          </a:p>
        </p:txBody>
      </p:sp>
      <p:sp>
        <p:nvSpPr>
          <p:cNvPr id="20" name="Rounded Rectangle 19"/>
          <p:cNvSpPr/>
          <p:nvPr/>
        </p:nvSpPr>
        <p:spPr>
          <a:xfrm>
            <a:off x="548640" y="6291072"/>
            <a:ext cx="237744" cy="237744"/>
          </a:xfrm>
          <a:prstGeom prst="roundRect">
            <a:avLst>
              <a:gd name="adj" fmla="val 28125"/>
            </a:avLst>
          </a:prstGeom>
          <a:solidFill>
            <a:srgbClr val="EC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00646" y="6391370"/>
            <a:ext cx="133731" cy="37147"/>
          </a:xfrm>
          <a:prstGeom prst="roundRect">
            <a:avLst>
              <a:gd name="adj" fmla="val 50000"/>
            </a:avLst>
          </a:prstGeom>
          <a:solidFill>
            <a:srgbClr val="B4B6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00646" y="6391370"/>
            <a:ext cx="81724" cy="37147"/>
          </a:xfrm>
          <a:prstGeom prst="roundRect">
            <a:avLst>
              <a:gd name="adj" fmla="val 50000"/>
            </a:avLst>
          </a:prstGeom>
          <a:solidFill>
            <a:srgbClr val="16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960120" y="6409944"/>
            <a:ext cx="8503920" cy="0"/>
          </a:xfrm>
          <a:prstGeom prst="line">
            <a:avLst/>
          </a:prstGeom>
          <a:ln w="9525">
            <a:solidFill>
              <a:srgbClr val="2A303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601200" y="6291072"/>
            <a:ext cx="2039112" cy="237744"/>
          </a:xfrm>
          <a:prstGeom prst="rect">
            <a:avLst/>
          </a:prstGeom>
          <a:noFill/>
        </p:spPr>
        <p:txBody>
          <a:bodyPr wrap="square" lIns="0" rIns="0" tIns="0" bIns="0" anchor="ctr">
            <a:spAutoFit/>
          </a:bodyPr>
          <a:lstStyle/>
          <a:p>
            <a:pPr algn="r">
              <a:spcAft>
                <a:spcPts val="0"/>
              </a:spcAft>
            </a:pPr>
            <a:r>
              <a:rPr sz="1000" b="0">
                <a:solidFill>
                  <a:srgbClr val="A9B0B9"/>
                </a:solidFill>
                <a:latin typeface="Arial"/>
              </a:rPr>
              <a:t>Work In Progress · Chișinău</a:t>
            </a:r>
            <a:r>
              <a:rPr sz="1000" b="1">
                <a:solidFill>
                  <a:srgbClr val="A9B0B9"/>
                </a:solidFill>
                <a:latin typeface="Arial"/>
              </a:rPr>
              <a:t>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EF"/>
        </a:solidFill>
        <a:effectLst/>
      </p:bgPr>
    </p:bg>
    <p:spTree>
      <p:nvGrpSpPr>
        <p:cNvPr id="1" name=""/>
        <p:cNvGrpSpPr/>
        <p:nvPr/>
      </p:nvGrpSpPr>
      <p:grpSpPr/>
      <p:sp>
        <p:nvSpPr>
          <p:cNvPr id="2" name="TextBox 1"/>
          <p:cNvSpPr txBox="1"/>
          <p:nvPr/>
        </p:nvSpPr>
        <p:spPr>
          <a:xfrm>
            <a:off x="548640" y="502920"/>
            <a:ext cx="5486400" cy="274320"/>
          </a:xfrm>
          <a:prstGeom prst="rect">
            <a:avLst/>
          </a:prstGeom>
          <a:noFill/>
        </p:spPr>
        <p:txBody>
          <a:bodyPr wrap="square" lIns="0" rIns="0" tIns="0" bIns="0" anchor="t">
            <a:spAutoFit/>
          </a:bodyPr>
          <a:lstStyle/>
          <a:p>
            <a:pPr algn="l">
              <a:spcAft>
                <a:spcPts val="0"/>
              </a:spcAft>
            </a:pPr>
            <a:r>
              <a:rPr sz="1100" b="1" spc="300">
                <a:solidFill>
                  <a:srgbClr val="555A61"/>
                </a:solidFill>
                <a:latin typeface="Arial"/>
              </a:rPr>
              <a:t>NEXT STEPS</a:t>
            </a:r>
          </a:p>
        </p:txBody>
      </p:sp>
      <p:sp>
        <p:nvSpPr>
          <p:cNvPr id="3" name="TextBox 2"/>
          <p:cNvSpPr txBox="1"/>
          <p:nvPr/>
        </p:nvSpPr>
        <p:spPr>
          <a:xfrm>
            <a:off x="548640" y="822960"/>
            <a:ext cx="8229600" cy="731520"/>
          </a:xfrm>
          <a:prstGeom prst="rect">
            <a:avLst/>
          </a:prstGeom>
          <a:noFill/>
        </p:spPr>
        <p:txBody>
          <a:bodyPr wrap="square" lIns="0" rIns="0" tIns="0" bIns="0" anchor="t">
            <a:spAutoFit/>
          </a:bodyPr>
          <a:lstStyle/>
          <a:p>
            <a:pPr algn="l">
              <a:spcAft>
                <a:spcPts val="0"/>
              </a:spcAft>
            </a:pPr>
            <a:r>
              <a:rPr sz="3600" b="1">
                <a:solidFill>
                  <a:srgbClr val="16181B"/>
                </a:solidFill>
                <a:latin typeface="Arial"/>
              </a:rPr>
              <a:t>What happens on Monday</a:t>
            </a:r>
          </a:p>
        </p:txBody>
      </p:sp>
      <p:sp>
        <p:nvSpPr>
          <p:cNvPr id="4" name="Rounded Rectangle 3"/>
          <p:cNvSpPr/>
          <p:nvPr/>
        </p:nvSpPr>
        <p:spPr>
          <a:xfrm>
            <a:off x="548640" y="1828800"/>
            <a:ext cx="2670048" cy="3017520"/>
          </a:xfrm>
          <a:prstGeom prst="roundRect">
            <a:avLst>
              <a:gd name="adj" fmla="val 8561"/>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04672" y="2084831"/>
            <a:ext cx="457200" cy="457200"/>
          </a:xfrm>
          <a:prstGeom prst="roundRect">
            <a:avLst>
              <a:gd name="adj" fmla="val 50000"/>
            </a:avLst>
          </a:prstGeom>
          <a:solidFill>
            <a:srgbClr val="E7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084831"/>
            <a:ext cx="457200" cy="457200"/>
          </a:xfrm>
          <a:prstGeom prst="rect">
            <a:avLst/>
          </a:prstGeom>
          <a:noFill/>
        </p:spPr>
        <p:txBody>
          <a:bodyPr wrap="square" lIns="0" rIns="0" tIns="0" bIns="0" anchor="ctr">
            <a:spAutoFit/>
          </a:bodyPr>
          <a:lstStyle/>
          <a:p>
            <a:pPr algn="ctr">
              <a:spcAft>
                <a:spcPts val="0"/>
              </a:spcAft>
            </a:pPr>
            <a:r>
              <a:rPr sz="1300" b="1">
                <a:solidFill>
                  <a:srgbClr val="1F5FC9"/>
                </a:solidFill>
                <a:latin typeface="Arial"/>
              </a:rPr>
              <a:t>1</a:t>
            </a:r>
          </a:p>
        </p:txBody>
      </p:sp>
      <p:sp>
        <p:nvSpPr>
          <p:cNvPr id="7" name="TextBox 6"/>
          <p:cNvSpPr txBox="1"/>
          <p:nvPr/>
        </p:nvSpPr>
        <p:spPr>
          <a:xfrm>
            <a:off x="804672" y="2743200"/>
            <a:ext cx="2194560" cy="274320"/>
          </a:xfrm>
          <a:prstGeom prst="rect">
            <a:avLst/>
          </a:prstGeom>
          <a:noFill/>
        </p:spPr>
        <p:txBody>
          <a:bodyPr wrap="square" lIns="0" rIns="0" tIns="0" bIns="0" anchor="t">
            <a:spAutoFit/>
          </a:bodyPr>
          <a:lstStyle/>
          <a:p>
            <a:pPr algn="l">
              <a:spcAft>
                <a:spcPts val="0"/>
              </a:spcAft>
            </a:pPr>
            <a:r>
              <a:rPr sz="1050" b="1" spc="150">
                <a:solidFill>
                  <a:srgbClr val="1F5FC9"/>
                </a:solidFill>
                <a:latin typeface="Arial"/>
              </a:rPr>
              <a:t>NEXT WEEK</a:t>
            </a:r>
          </a:p>
        </p:txBody>
      </p:sp>
      <p:sp>
        <p:nvSpPr>
          <p:cNvPr id="8" name="TextBox 7"/>
          <p:cNvSpPr txBox="1"/>
          <p:nvPr/>
        </p:nvSpPr>
        <p:spPr>
          <a:xfrm>
            <a:off x="804672" y="3108960"/>
            <a:ext cx="2194560" cy="1645920"/>
          </a:xfrm>
          <a:prstGeom prst="rect">
            <a:avLst/>
          </a:prstGeom>
          <a:noFill/>
        </p:spPr>
        <p:txBody>
          <a:bodyPr wrap="square" lIns="0" rIns="0" tIns="0" bIns="0" anchor="t">
            <a:spAutoFit/>
          </a:bodyPr>
          <a:lstStyle/>
          <a:p>
            <a:pPr algn="l">
              <a:lnSpc>
                <a:spcPct val="115000"/>
              </a:lnSpc>
              <a:spcAft>
                <a:spcPts val="0"/>
              </a:spcAft>
            </a:pPr>
            <a:r>
              <a:rPr sz="1350" b="0">
                <a:solidFill>
                  <a:srgbClr val="16181B"/>
                </a:solidFill>
                <a:latin typeface="Arial"/>
              </a:rPr>
              <a:t>Test with real residents in one sector, and turn on alerts for saved addresses</a:t>
            </a:r>
          </a:p>
        </p:txBody>
      </p:sp>
      <p:sp>
        <p:nvSpPr>
          <p:cNvPr id="9" name="Rounded Rectangle 8"/>
          <p:cNvSpPr/>
          <p:nvPr/>
        </p:nvSpPr>
        <p:spPr>
          <a:xfrm>
            <a:off x="3383280" y="1828800"/>
            <a:ext cx="2670048" cy="3017520"/>
          </a:xfrm>
          <a:prstGeom prst="roundRect">
            <a:avLst>
              <a:gd name="adj" fmla="val 8561"/>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639312" y="2084831"/>
            <a:ext cx="457200" cy="457200"/>
          </a:xfrm>
          <a:prstGeom prst="roundRect">
            <a:avLst>
              <a:gd name="adj" fmla="val 50000"/>
            </a:avLst>
          </a:prstGeom>
          <a:solidFill>
            <a:srgbClr val="FDF3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39312" y="2084831"/>
            <a:ext cx="457200" cy="457200"/>
          </a:xfrm>
          <a:prstGeom prst="rect">
            <a:avLst/>
          </a:prstGeom>
          <a:noFill/>
        </p:spPr>
        <p:txBody>
          <a:bodyPr wrap="square" lIns="0" rIns="0" tIns="0" bIns="0" anchor="ctr">
            <a:spAutoFit/>
          </a:bodyPr>
          <a:lstStyle/>
          <a:p>
            <a:pPr algn="ctr">
              <a:spcAft>
                <a:spcPts val="0"/>
              </a:spcAft>
            </a:pPr>
            <a:r>
              <a:rPr sz="1300" b="1">
                <a:solidFill>
                  <a:srgbClr val="A16207"/>
                </a:solidFill>
                <a:latin typeface="Arial"/>
              </a:rPr>
              <a:t>2</a:t>
            </a:r>
          </a:p>
        </p:txBody>
      </p:sp>
      <p:sp>
        <p:nvSpPr>
          <p:cNvPr id="12" name="TextBox 11"/>
          <p:cNvSpPr txBox="1"/>
          <p:nvPr/>
        </p:nvSpPr>
        <p:spPr>
          <a:xfrm>
            <a:off x="3639312" y="2743200"/>
            <a:ext cx="2194560" cy="274320"/>
          </a:xfrm>
          <a:prstGeom prst="rect">
            <a:avLst/>
          </a:prstGeom>
          <a:noFill/>
        </p:spPr>
        <p:txBody>
          <a:bodyPr wrap="square" lIns="0" rIns="0" tIns="0" bIns="0" anchor="t">
            <a:spAutoFit/>
          </a:bodyPr>
          <a:lstStyle/>
          <a:p>
            <a:pPr algn="l">
              <a:spcAft>
                <a:spcPts val="0"/>
              </a:spcAft>
            </a:pPr>
            <a:r>
              <a:rPr sz="1050" b="1" spc="150">
                <a:solidFill>
                  <a:srgbClr val="A16207"/>
                </a:solidFill>
                <a:latin typeface="Arial"/>
              </a:rPr>
              <a:t>NEXT MONTH</a:t>
            </a:r>
          </a:p>
        </p:txBody>
      </p:sp>
      <p:sp>
        <p:nvSpPr>
          <p:cNvPr id="13" name="TextBox 12"/>
          <p:cNvSpPr txBox="1"/>
          <p:nvPr/>
        </p:nvSpPr>
        <p:spPr>
          <a:xfrm>
            <a:off x="3639312" y="3108960"/>
            <a:ext cx="2194560" cy="1645920"/>
          </a:xfrm>
          <a:prstGeom prst="rect">
            <a:avLst/>
          </a:prstGeom>
          <a:noFill/>
        </p:spPr>
        <p:txBody>
          <a:bodyPr wrap="square" lIns="0" rIns="0" tIns="0" bIns="0" anchor="t">
            <a:spAutoFit/>
          </a:bodyPr>
          <a:lstStyle/>
          <a:p>
            <a:pPr algn="l">
              <a:lnSpc>
                <a:spcPct val="115000"/>
              </a:lnSpc>
              <a:spcAft>
                <a:spcPts val="0"/>
              </a:spcAft>
            </a:pPr>
            <a:r>
              <a:rPr sz="1350" b="0">
                <a:solidFill>
                  <a:srgbClr val="16181B"/>
                </a:solidFill>
                <a:latin typeface="Arial"/>
              </a:rPr>
              <a:t>Pilot with City Hall and Apă-Canal: their outage data as a direct feed</a:t>
            </a:r>
          </a:p>
        </p:txBody>
      </p:sp>
      <p:sp>
        <p:nvSpPr>
          <p:cNvPr id="14" name="Rounded Rectangle 13"/>
          <p:cNvSpPr/>
          <p:nvPr/>
        </p:nvSpPr>
        <p:spPr>
          <a:xfrm>
            <a:off x="6217920" y="1828800"/>
            <a:ext cx="2670048" cy="3017520"/>
          </a:xfrm>
          <a:prstGeom prst="roundRect">
            <a:avLst>
              <a:gd name="adj" fmla="val 8561"/>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73952" y="2084831"/>
            <a:ext cx="457200" cy="457200"/>
          </a:xfrm>
          <a:prstGeom prst="roundRect">
            <a:avLst>
              <a:gd name="adj" fmla="val 50000"/>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73952" y="2084831"/>
            <a:ext cx="457200" cy="457200"/>
          </a:xfrm>
          <a:prstGeom prst="rect">
            <a:avLst/>
          </a:prstGeom>
          <a:noFill/>
        </p:spPr>
        <p:txBody>
          <a:bodyPr wrap="square" lIns="0" rIns="0" tIns="0" bIns="0" anchor="ctr">
            <a:spAutoFit/>
          </a:bodyPr>
          <a:lstStyle/>
          <a:p>
            <a:pPr algn="ctr">
              <a:spcAft>
                <a:spcPts val="0"/>
              </a:spcAft>
            </a:pPr>
            <a:r>
              <a:rPr sz="1300" b="1">
                <a:solidFill>
                  <a:srgbClr val="1C7340"/>
                </a:solidFill>
                <a:latin typeface="Arial"/>
              </a:rPr>
              <a:t>3</a:t>
            </a:r>
          </a:p>
        </p:txBody>
      </p:sp>
      <p:sp>
        <p:nvSpPr>
          <p:cNvPr id="17" name="TextBox 16"/>
          <p:cNvSpPr txBox="1"/>
          <p:nvPr/>
        </p:nvSpPr>
        <p:spPr>
          <a:xfrm>
            <a:off x="6473952" y="2743200"/>
            <a:ext cx="2194560" cy="274320"/>
          </a:xfrm>
          <a:prstGeom prst="rect">
            <a:avLst/>
          </a:prstGeom>
          <a:noFill/>
        </p:spPr>
        <p:txBody>
          <a:bodyPr wrap="square" lIns="0" rIns="0" tIns="0" bIns="0" anchor="t">
            <a:spAutoFit/>
          </a:bodyPr>
          <a:lstStyle/>
          <a:p>
            <a:pPr algn="l">
              <a:spcAft>
                <a:spcPts val="0"/>
              </a:spcAft>
            </a:pPr>
            <a:r>
              <a:rPr sz="1050" b="1" spc="150">
                <a:solidFill>
                  <a:srgbClr val="1C7340"/>
                </a:solidFill>
                <a:latin typeface="Arial"/>
              </a:rPr>
              <a:t>IN 3 MONTHS</a:t>
            </a:r>
          </a:p>
        </p:txBody>
      </p:sp>
      <p:sp>
        <p:nvSpPr>
          <p:cNvPr id="18" name="TextBox 17"/>
          <p:cNvSpPr txBox="1"/>
          <p:nvPr/>
        </p:nvSpPr>
        <p:spPr>
          <a:xfrm>
            <a:off x="6473952" y="3108960"/>
            <a:ext cx="2194560" cy="1645920"/>
          </a:xfrm>
          <a:prstGeom prst="rect">
            <a:avLst/>
          </a:prstGeom>
          <a:noFill/>
        </p:spPr>
        <p:txBody>
          <a:bodyPr wrap="square" lIns="0" rIns="0" tIns="0" bIns="0" anchor="t">
            <a:spAutoFit/>
          </a:bodyPr>
          <a:lstStyle/>
          <a:p>
            <a:pPr algn="l">
              <a:lnSpc>
                <a:spcPct val="115000"/>
              </a:lnSpc>
              <a:spcAft>
                <a:spcPts val="0"/>
              </a:spcAft>
            </a:pPr>
            <a:r>
              <a:rPr sz="1350" b="0">
                <a:solidFill>
                  <a:srgbClr val="16181B"/>
                </a:solidFill>
                <a:latin typeface="Arial"/>
              </a:rPr>
              <a:t>Public launch for Chișinău, plus the free Telegram daily forecast</a:t>
            </a:r>
          </a:p>
        </p:txBody>
      </p:sp>
      <p:sp>
        <p:nvSpPr>
          <p:cNvPr id="19" name="Rounded Rectangle 18"/>
          <p:cNvSpPr/>
          <p:nvPr/>
        </p:nvSpPr>
        <p:spPr>
          <a:xfrm>
            <a:off x="9052560" y="1828800"/>
            <a:ext cx="2587752" cy="3017520"/>
          </a:xfrm>
          <a:prstGeom prst="roundRect">
            <a:avLst>
              <a:gd name="adj" fmla="val 8833"/>
            </a:avLst>
          </a:prstGeom>
          <a:solidFill>
            <a:srgbClr val="171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08592" y="2103120"/>
            <a:ext cx="2103120" cy="274320"/>
          </a:xfrm>
          <a:prstGeom prst="rect">
            <a:avLst/>
          </a:prstGeom>
          <a:noFill/>
        </p:spPr>
        <p:txBody>
          <a:bodyPr wrap="square" lIns="0" rIns="0" tIns="0" bIns="0" anchor="t">
            <a:spAutoFit/>
          </a:bodyPr>
          <a:lstStyle/>
          <a:p>
            <a:pPr algn="l">
              <a:spcAft>
                <a:spcPts val="0"/>
              </a:spcAft>
            </a:pPr>
            <a:r>
              <a:rPr sz="1050" b="1" spc="150">
                <a:solidFill>
                  <a:srgbClr val="A9B0B9"/>
                </a:solidFill>
                <a:latin typeface="Arial"/>
              </a:rPr>
              <a:t>WHAT WE NEED</a:t>
            </a:r>
          </a:p>
        </p:txBody>
      </p:sp>
      <p:sp>
        <p:nvSpPr>
          <p:cNvPr id="21" name="TextBox 20"/>
          <p:cNvSpPr txBox="1"/>
          <p:nvPr/>
        </p:nvSpPr>
        <p:spPr>
          <a:xfrm>
            <a:off x="9308592" y="2514600"/>
            <a:ext cx="2148840" cy="2194560"/>
          </a:xfrm>
          <a:prstGeom prst="rect">
            <a:avLst/>
          </a:prstGeom>
          <a:noFill/>
        </p:spPr>
        <p:txBody>
          <a:bodyPr wrap="square" lIns="0" rIns="0" tIns="0" bIns="0" anchor="t">
            <a:spAutoFit/>
          </a:bodyPr>
          <a:lstStyle/>
          <a:p>
            <a:pPr algn="l">
              <a:lnSpc>
                <a:spcPct val="115000"/>
              </a:lnSpc>
              <a:spcAft>
                <a:spcPts val="0"/>
              </a:spcAft>
            </a:pPr>
            <a:r>
              <a:rPr sz="1350" b="0">
                <a:solidFill>
                  <a:srgbClr val="ECEEF1"/>
                </a:solidFill>
                <a:latin typeface="Arial"/>
              </a:rPr>
              <a:t>An intro to Chișinău City Hall and the utility providers, and access to their outage data</a:t>
            </a:r>
          </a:p>
        </p:txBody>
      </p:sp>
      <p:sp>
        <p:nvSpPr>
          <p:cNvPr id="22" name="Rounded Rectangle 21"/>
          <p:cNvSpPr/>
          <p:nvPr/>
        </p:nvSpPr>
        <p:spPr>
          <a:xfrm>
            <a:off x="548640" y="5120640"/>
            <a:ext cx="11091672" cy="777240"/>
          </a:xfrm>
          <a:prstGeom prst="roundRect">
            <a:avLst>
              <a:gd name="adj" fmla="val 23529"/>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120640"/>
            <a:ext cx="10607040" cy="777240"/>
          </a:xfrm>
          <a:prstGeom prst="rect">
            <a:avLst/>
          </a:prstGeom>
          <a:noFill/>
        </p:spPr>
        <p:txBody>
          <a:bodyPr wrap="square" lIns="0" rIns="0" tIns="0" bIns="0" anchor="ctr">
            <a:spAutoFit/>
          </a:bodyPr>
          <a:lstStyle/>
          <a:p>
            <a:pPr algn="l">
              <a:spcAft>
                <a:spcPts val="0"/>
              </a:spcAft>
            </a:pPr>
            <a:r>
              <a:rPr sz="1250" b="1">
                <a:solidFill>
                  <a:srgbClr val="16181B"/>
                </a:solidFill>
                <a:latin typeface="Arial"/>
              </a:rPr>
              <a:t>Two ways to market, same engine:  </a:t>
            </a:r>
            <a:r>
              <a:rPr sz="1250" b="0">
                <a:solidFill>
                  <a:srgbClr val="555A61"/>
                </a:solidFill>
                <a:latin typeface="Arial"/>
              </a:rPr>
              <a:t>B2G, the city's official outage map  ·  B2C, a freemium Telegram bot with a daily outage forecast</a:t>
            </a:r>
          </a:p>
        </p:txBody>
      </p:sp>
      <p:sp>
        <p:nvSpPr>
          <p:cNvPr id="24" name="Rounded Rectangle 23"/>
          <p:cNvSpPr/>
          <p:nvPr/>
        </p:nvSpPr>
        <p:spPr>
          <a:xfrm>
            <a:off x="548640" y="6291072"/>
            <a:ext cx="237744" cy="237744"/>
          </a:xfrm>
          <a:prstGeom prst="roundRect">
            <a:avLst>
              <a:gd name="adj" fmla="val 28125"/>
            </a:avLst>
          </a:prstGeom>
          <a:solidFill>
            <a:srgbClr val="16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00646" y="6391370"/>
            <a:ext cx="133731" cy="37147"/>
          </a:xfrm>
          <a:prstGeom prst="roundRect">
            <a:avLst>
              <a:gd name="adj" fmla="val 50000"/>
            </a:avLst>
          </a:prstGeom>
          <a:solidFill>
            <a:srgbClr val="5C5D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0646" y="6391370"/>
            <a:ext cx="81724" cy="37147"/>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960120" y="6409944"/>
            <a:ext cx="8503920" cy="0"/>
          </a:xfrm>
          <a:prstGeom prst="line">
            <a:avLst/>
          </a:prstGeom>
          <a:ln w="9525">
            <a:solidFill>
              <a:srgbClr val="C4C4BB"/>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601200" y="6291072"/>
            <a:ext cx="2039112" cy="237744"/>
          </a:xfrm>
          <a:prstGeom prst="rect">
            <a:avLst/>
          </a:prstGeom>
          <a:noFill/>
        </p:spPr>
        <p:txBody>
          <a:bodyPr wrap="square" lIns="0" rIns="0" tIns="0" bIns="0" anchor="ctr">
            <a:spAutoFit/>
          </a:bodyPr>
          <a:lstStyle/>
          <a:p>
            <a:pPr algn="r">
              <a:spcAft>
                <a:spcPts val="0"/>
              </a:spcAft>
            </a:pPr>
            <a:r>
              <a:rPr sz="1000" b="0">
                <a:solidFill>
                  <a:srgbClr val="555A61"/>
                </a:solidFill>
                <a:latin typeface="Arial"/>
              </a:rPr>
              <a:t>Work In Progress · Chișinău</a:t>
            </a:r>
            <a:r>
              <a:rPr sz="1000" b="1">
                <a:solidFill>
                  <a:srgbClr val="555A61"/>
                </a:solidFill>
                <a:latin typeface="Arial"/>
              </a:rPr>
              <a:t>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3EF"/>
        </a:solidFill>
        <a:effectLst/>
      </p:bgPr>
    </p:bg>
    <p:spTree>
      <p:nvGrpSpPr>
        <p:cNvPr id="1" name=""/>
        <p:cNvGrpSpPr/>
        <p:nvPr/>
      </p:nvGrpSpPr>
      <p:grpSpPr/>
      <p:sp>
        <p:nvSpPr>
          <p:cNvPr id="2" name="TextBox 1"/>
          <p:cNvSpPr txBox="1"/>
          <p:nvPr/>
        </p:nvSpPr>
        <p:spPr>
          <a:xfrm>
            <a:off x="548640" y="502920"/>
            <a:ext cx="5486400" cy="274320"/>
          </a:xfrm>
          <a:prstGeom prst="rect">
            <a:avLst/>
          </a:prstGeom>
          <a:noFill/>
        </p:spPr>
        <p:txBody>
          <a:bodyPr wrap="square" lIns="0" rIns="0" tIns="0" bIns="0" anchor="t">
            <a:spAutoFit/>
          </a:bodyPr>
          <a:lstStyle/>
          <a:p>
            <a:pPr algn="l">
              <a:spcAft>
                <a:spcPts val="0"/>
              </a:spcAft>
            </a:pPr>
            <a:r>
              <a:rPr sz="1100" b="1" spc="300">
                <a:solidFill>
                  <a:srgbClr val="555A61"/>
                </a:solidFill>
                <a:latin typeface="Arial"/>
              </a:rPr>
              <a:t>TEAM</a:t>
            </a:r>
          </a:p>
        </p:txBody>
      </p:sp>
      <p:sp>
        <p:nvSpPr>
          <p:cNvPr id="3" name="TextBox 2"/>
          <p:cNvSpPr txBox="1"/>
          <p:nvPr/>
        </p:nvSpPr>
        <p:spPr>
          <a:xfrm>
            <a:off x="548640" y="822960"/>
            <a:ext cx="7315200" cy="731520"/>
          </a:xfrm>
          <a:prstGeom prst="rect">
            <a:avLst/>
          </a:prstGeom>
          <a:noFill/>
        </p:spPr>
        <p:txBody>
          <a:bodyPr wrap="square" lIns="0" rIns="0" tIns="0" bIns="0" anchor="t">
            <a:spAutoFit/>
          </a:bodyPr>
          <a:lstStyle/>
          <a:p>
            <a:pPr algn="l">
              <a:spcAft>
                <a:spcPts val="0"/>
              </a:spcAft>
            </a:pPr>
            <a:r>
              <a:rPr sz="3600" b="1">
                <a:solidFill>
                  <a:srgbClr val="16181B"/>
                </a:solidFill>
                <a:latin typeface="Arial"/>
              </a:rPr>
              <a:t>Five people, one weekend.</a:t>
            </a:r>
          </a:p>
        </p:txBody>
      </p:sp>
      <p:sp>
        <p:nvSpPr>
          <p:cNvPr id="4" name="TextBox 3"/>
          <p:cNvSpPr txBox="1"/>
          <p:nvPr/>
        </p:nvSpPr>
        <p:spPr>
          <a:xfrm>
            <a:off x="548640" y="1508760"/>
            <a:ext cx="10058400" cy="365760"/>
          </a:xfrm>
          <a:prstGeom prst="rect">
            <a:avLst/>
          </a:prstGeom>
          <a:noFill/>
        </p:spPr>
        <p:txBody>
          <a:bodyPr wrap="square" lIns="0" rIns="0" tIns="0" bIns="0" anchor="t">
            <a:spAutoFit/>
          </a:bodyPr>
          <a:lstStyle/>
          <a:p>
            <a:pPr algn="l">
              <a:spcAft>
                <a:spcPts val="0"/>
              </a:spcAft>
            </a:pPr>
            <a:r>
              <a:rPr sz="1400" b="0">
                <a:solidFill>
                  <a:srgbClr val="555A61"/>
                </a:solidFill>
                <a:latin typeface="Arial"/>
              </a:rPr>
              <a:t>Built from scratch at GigaHack. [Names] stay on after the weekend.</a:t>
            </a:r>
          </a:p>
        </p:txBody>
      </p:sp>
      <p:sp>
        <p:nvSpPr>
          <p:cNvPr id="5" name="Rounded Rectangle 4"/>
          <p:cNvSpPr/>
          <p:nvPr/>
        </p:nvSpPr>
        <p:spPr>
          <a:xfrm>
            <a:off x="548640" y="2194560"/>
            <a:ext cx="2093976" cy="3840480"/>
          </a:xfrm>
          <a:prstGeom prst="roundRect">
            <a:avLst>
              <a:gd name="adj" fmla="val 10917"/>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2468880"/>
            <a:ext cx="1005840" cy="1005840"/>
          </a:xfrm>
          <a:prstGeom prst="ellipse">
            <a:avLst/>
          </a:prstGeom>
          <a:solidFill>
            <a:srgbClr val="E7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468880"/>
            <a:ext cx="1005840" cy="1005840"/>
          </a:xfrm>
          <a:prstGeom prst="rect">
            <a:avLst/>
          </a:prstGeom>
          <a:noFill/>
        </p:spPr>
        <p:txBody>
          <a:bodyPr wrap="square" lIns="0" rIns="0" tIns="0" bIns="0" anchor="ctr">
            <a:spAutoFit/>
          </a:bodyPr>
          <a:lstStyle/>
          <a:p>
            <a:pPr algn="ctr">
              <a:spcAft>
                <a:spcPts val="0"/>
              </a:spcAft>
            </a:pPr>
            <a:r>
              <a:rPr sz="1000" b="0">
                <a:solidFill>
                  <a:srgbClr val="1F5FC9"/>
                </a:solidFill>
                <a:latin typeface="Arial"/>
              </a:rPr>
              <a:t>[photo]</a:t>
            </a:r>
          </a:p>
        </p:txBody>
      </p:sp>
      <p:sp>
        <p:nvSpPr>
          <p:cNvPr id="8" name="TextBox 7"/>
          <p:cNvSpPr txBox="1"/>
          <p:nvPr/>
        </p:nvSpPr>
        <p:spPr>
          <a:xfrm>
            <a:off x="804672" y="3703320"/>
            <a:ext cx="1728216" cy="411480"/>
          </a:xfrm>
          <a:prstGeom prst="rect">
            <a:avLst/>
          </a:prstGeom>
          <a:noFill/>
        </p:spPr>
        <p:txBody>
          <a:bodyPr wrap="square" lIns="0" rIns="0" tIns="0" bIns="0" anchor="t">
            <a:spAutoFit/>
          </a:bodyPr>
          <a:lstStyle/>
          <a:p>
            <a:pPr algn="l">
              <a:spcAft>
                <a:spcPts val="0"/>
              </a:spcAft>
            </a:pPr>
            <a:r>
              <a:rPr sz="1800" b="1">
                <a:solidFill>
                  <a:srgbClr val="16181B"/>
                </a:solidFill>
                <a:latin typeface="Arial"/>
              </a:rPr>
              <a:t>[Name]</a:t>
            </a:r>
          </a:p>
        </p:txBody>
      </p:sp>
      <p:sp>
        <p:nvSpPr>
          <p:cNvPr id="9" name="TextBox 8"/>
          <p:cNvSpPr txBox="1"/>
          <p:nvPr/>
        </p:nvSpPr>
        <p:spPr>
          <a:xfrm>
            <a:off x="804672" y="4114800"/>
            <a:ext cx="1728216" cy="365760"/>
          </a:xfrm>
          <a:prstGeom prst="rect">
            <a:avLst/>
          </a:prstGeom>
          <a:noFill/>
        </p:spPr>
        <p:txBody>
          <a:bodyPr wrap="square" lIns="0" rIns="0" tIns="0" bIns="0" anchor="t">
            <a:spAutoFit/>
          </a:bodyPr>
          <a:lstStyle/>
          <a:p>
            <a:pPr algn="l">
              <a:spcAft>
                <a:spcPts val="0"/>
              </a:spcAft>
            </a:pPr>
            <a:r>
              <a:rPr sz="1250" b="1">
                <a:solidFill>
                  <a:srgbClr val="1F5FC9"/>
                </a:solidFill>
                <a:latin typeface="Arial"/>
              </a:rPr>
              <a:t>[Role]</a:t>
            </a:r>
          </a:p>
        </p:txBody>
      </p:sp>
      <p:sp>
        <p:nvSpPr>
          <p:cNvPr id="10" name="TextBox 9"/>
          <p:cNvSpPr txBox="1"/>
          <p:nvPr/>
        </p:nvSpPr>
        <p:spPr>
          <a:xfrm>
            <a:off x="804672" y="4526280"/>
            <a:ext cx="1682496" cy="1371600"/>
          </a:xfrm>
          <a:prstGeom prst="rect">
            <a:avLst/>
          </a:prstGeom>
          <a:noFill/>
        </p:spPr>
        <p:txBody>
          <a:bodyPr wrap="square" lIns="0" rIns="0" tIns="0" bIns="0" anchor="t">
            <a:spAutoFit/>
          </a:bodyPr>
          <a:lstStyle/>
          <a:p>
            <a:pPr algn="l">
              <a:lnSpc>
                <a:spcPct val="110000"/>
              </a:lnSpc>
              <a:spcAft>
                <a:spcPts val="0"/>
              </a:spcAft>
            </a:pPr>
            <a:r>
              <a:rPr sz="1150" b="0">
                <a:solidFill>
                  <a:srgbClr val="555A61"/>
                </a:solidFill>
                <a:latin typeface="Arial"/>
              </a:rPr>
              <a:t>[One line: why you]</a:t>
            </a:r>
          </a:p>
        </p:txBody>
      </p:sp>
      <p:sp>
        <p:nvSpPr>
          <p:cNvPr id="11" name="Rounded Rectangle 10"/>
          <p:cNvSpPr/>
          <p:nvPr/>
        </p:nvSpPr>
        <p:spPr>
          <a:xfrm>
            <a:off x="2798064" y="2194560"/>
            <a:ext cx="2093976" cy="3840480"/>
          </a:xfrm>
          <a:prstGeom prst="roundRect">
            <a:avLst>
              <a:gd name="adj" fmla="val 10917"/>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054096" y="2468880"/>
            <a:ext cx="1005840" cy="1005840"/>
          </a:xfrm>
          <a:prstGeom prst="ellipse">
            <a:avLst/>
          </a:prstGeom>
          <a:solidFill>
            <a:srgbClr val="FDF3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54096" y="2468880"/>
            <a:ext cx="1005840" cy="1005840"/>
          </a:xfrm>
          <a:prstGeom prst="rect">
            <a:avLst/>
          </a:prstGeom>
          <a:noFill/>
        </p:spPr>
        <p:txBody>
          <a:bodyPr wrap="square" lIns="0" rIns="0" tIns="0" bIns="0" anchor="ctr">
            <a:spAutoFit/>
          </a:bodyPr>
          <a:lstStyle/>
          <a:p>
            <a:pPr algn="ctr">
              <a:spcAft>
                <a:spcPts val="0"/>
              </a:spcAft>
            </a:pPr>
            <a:r>
              <a:rPr sz="1000" b="0">
                <a:solidFill>
                  <a:srgbClr val="A16207"/>
                </a:solidFill>
                <a:latin typeface="Arial"/>
              </a:rPr>
              <a:t>[photo]</a:t>
            </a:r>
          </a:p>
        </p:txBody>
      </p:sp>
      <p:sp>
        <p:nvSpPr>
          <p:cNvPr id="14" name="TextBox 13"/>
          <p:cNvSpPr txBox="1"/>
          <p:nvPr/>
        </p:nvSpPr>
        <p:spPr>
          <a:xfrm>
            <a:off x="3054096" y="3703320"/>
            <a:ext cx="1728216" cy="411480"/>
          </a:xfrm>
          <a:prstGeom prst="rect">
            <a:avLst/>
          </a:prstGeom>
          <a:noFill/>
        </p:spPr>
        <p:txBody>
          <a:bodyPr wrap="square" lIns="0" rIns="0" tIns="0" bIns="0" anchor="t">
            <a:spAutoFit/>
          </a:bodyPr>
          <a:lstStyle/>
          <a:p>
            <a:pPr algn="l">
              <a:spcAft>
                <a:spcPts val="0"/>
              </a:spcAft>
            </a:pPr>
            <a:r>
              <a:rPr sz="1800" b="1">
                <a:solidFill>
                  <a:srgbClr val="16181B"/>
                </a:solidFill>
                <a:latin typeface="Arial"/>
              </a:rPr>
              <a:t>[Name]</a:t>
            </a:r>
          </a:p>
        </p:txBody>
      </p:sp>
      <p:sp>
        <p:nvSpPr>
          <p:cNvPr id="15" name="TextBox 14"/>
          <p:cNvSpPr txBox="1"/>
          <p:nvPr/>
        </p:nvSpPr>
        <p:spPr>
          <a:xfrm>
            <a:off x="3054096" y="4114800"/>
            <a:ext cx="1728216" cy="365760"/>
          </a:xfrm>
          <a:prstGeom prst="rect">
            <a:avLst/>
          </a:prstGeom>
          <a:noFill/>
        </p:spPr>
        <p:txBody>
          <a:bodyPr wrap="square" lIns="0" rIns="0" tIns="0" bIns="0" anchor="t">
            <a:spAutoFit/>
          </a:bodyPr>
          <a:lstStyle/>
          <a:p>
            <a:pPr algn="l">
              <a:spcAft>
                <a:spcPts val="0"/>
              </a:spcAft>
            </a:pPr>
            <a:r>
              <a:rPr sz="1250" b="1">
                <a:solidFill>
                  <a:srgbClr val="A16207"/>
                </a:solidFill>
                <a:latin typeface="Arial"/>
              </a:rPr>
              <a:t>[Role]</a:t>
            </a:r>
          </a:p>
        </p:txBody>
      </p:sp>
      <p:sp>
        <p:nvSpPr>
          <p:cNvPr id="16" name="TextBox 15"/>
          <p:cNvSpPr txBox="1"/>
          <p:nvPr/>
        </p:nvSpPr>
        <p:spPr>
          <a:xfrm>
            <a:off x="3054096" y="4526280"/>
            <a:ext cx="1682496" cy="1371600"/>
          </a:xfrm>
          <a:prstGeom prst="rect">
            <a:avLst/>
          </a:prstGeom>
          <a:noFill/>
        </p:spPr>
        <p:txBody>
          <a:bodyPr wrap="square" lIns="0" rIns="0" tIns="0" bIns="0" anchor="t">
            <a:spAutoFit/>
          </a:bodyPr>
          <a:lstStyle/>
          <a:p>
            <a:pPr algn="l">
              <a:lnSpc>
                <a:spcPct val="110000"/>
              </a:lnSpc>
              <a:spcAft>
                <a:spcPts val="0"/>
              </a:spcAft>
            </a:pPr>
            <a:r>
              <a:rPr sz="1150" b="0">
                <a:solidFill>
                  <a:srgbClr val="555A61"/>
                </a:solidFill>
                <a:latin typeface="Arial"/>
              </a:rPr>
              <a:t>[One line: why you]</a:t>
            </a:r>
          </a:p>
        </p:txBody>
      </p:sp>
      <p:sp>
        <p:nvSpPr>
          <p:cNvPr id="17" name="Rounded Rectangle 16"/>
          <p:cNvSpPr/>
          <p:nvPr/>
        </p:nvSpPr>
        <p:spPr>
          <a:xfrm>
            <a:off x="5047488" y="2194560"/>
            <a:ext cx="2093976" cy="3840480"/>
          </a:xfrm>
          <a:prstGeom prst="roundRect">
            <a:avLst>
              <a:gd name="adj" fmla="val 10917"/>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303520" y="2468880"/>
            <a:ext cx="1005840" cy="1005840"/>
          </a:xfrm>
          <a:prstGeom prst="ellipse">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0" y="2468880"/>
            <a:ext cx="1005840" cy="1005840"/>
          </a:xfrm>
          <a:prstGeom prst="rect">
            <a:avLst/>
          </a:prstGeom>
          <a:noFill/>
        </p:spPr>
        <p:txBody>
          <a:bodyPr wrap="square" lIns="0" rIns="0" tIns="0" bIns="0" anchor="ctr">
            <a:spAutoFit/>
          </a:bodyPr>
          <a:lstStyle/>
          <a:p>
            <a:pPr algn="ctr">
              <a:spcAft>
                <a:spcPts val="0"/>
              </a:spcAft>
            </a:pPr>
            <a:r>
              <a:rPr sz="1000" b="0">
                <a:solidFill>
                  <a:srgbClr val="1C7340"/>
                </a:solidFill>
                <a:latin typeface="Arial"/>
              </a:rPr>
              <a:t>[photo]</a:t>
            </a:r>
          </a:p>
        </p:txBody>
      </p:sp>
      <p:sp>
        <p:nvSpPr>
          <p:cNvPr id="20" name="TextBox 19"/>
          <p:cNvSpPr txBox="1"/>
          <p:nvPr/>
        </p:nvSpPr>
        <p:spPr>
          <a:xfrm>
            <a:off x="5303520" y="3703320"/>
            <a:ext cx="1728216" cy="411480"/>
          </a:xfrm>
          <a:prstGeom prst="rect">
            <a:avLst/>
          </a:prstGeom>
          <a:noFill/>
        </p:spPr>
        <p:txBody>
          <a:bodyPr wrap="square" lIns="0" rIns="0" tIns="0" bIns="0" anchor="t">
            <a:spAutoFit/>
          </a:bodyPr>
          <a:lstStyle/>
          <a:p>
            <a:pPr algn="l">
              <a:spcAft>
                <a:spcPts val="0"/>
              </a:spcAft>
            </a:pPr>
            <a:r>
              <a:rPr sz="1800" b="1">
                <a:solidFill>
                  <a:srgbClr val="16181B"/>
                </a:solidFill>
                <a:latin typeface="Arial"/>
              </a:rPr>
              <a:t>[Name]</a:t>
            </a:r>
          </a:p>
        </p:txBody>
      </p:sp>
      <p:sp>
        <p:nvSpPr>
          <p:cNvPr id="21" name="TextBox 20"/>
          <p:cNvSpPr txBox="1"/>
          <p:nvPr/>
        </p:nvSpPr>
        <p:spPr>
          <a:xfrm>
            <a:off x="5303520" y="4114800"/>
            <a:ext cx="1728216" cy="365760"/>
          </a:xfrm>
          <a:prstGeom prst="rect">
            <a:avLst/>
          </a:prstGeom>
          <a:noFill/>
        </p:spPr>
        <p:txBody>
          <a:bodyPr wrap="square" lIns="0" rIns="0" tIns="0" bIns="0" anchor="t">
            <a:spAutoFit/>
          </a:bodyPr>
          <a:lstStyle/>
          <a:p>
            <a:pPr algn="l">
              <a:spcAft>
                <a:spcPts val="0"/>
              </a:spcAft>
            </a:pPr>
            <a:r>
              <a:rPr sz="1250" b="1">
                <a:solidFill>
                  <a:srgbClr val="1C7340"/>
                </a:solidFill>
                <a:latin typeface="Arial"/>
              </a:rPr>
              <a:t>[Role]</a:t>
            </a:r>
          </a:p>
        </p:txBody>
      </p:sp>
      <p:sp>
        <p:nvSpPr>
          <p:cNvPr id="22" name="TextBox 21"/>
          <p:cNvSpPr txBox="1"/>
          <p:nvPr/>
        </p:nvSpPr>
        <p:spPr>
          <a:xfrm>
            <a:off x="5303520" y="4526280"/>
            <a:ext cx="1682496" cy="1371600"/>
          </a:xfrm>
          <a:prstGeom prst="rect">
            <a:avLst/>
          </a:prstGeom>
          <a:noFill/>
        </p:spPr>
        <p:txBody>
          <a:bodyPr wrap="square" lIns="0" rIns="0" tIns="0" bIns="0" anchor="t">
            <a:spAutoFit/>
          </a:bodyPr>
          <a:lstStyle/>
          <a:p>
            <a:pPr algn="l">
              <a:lnSpc>
                <a:spcPct val="110000"/>
              </a:lnSpc>
              <a:spcAft>
                <a:spcPts val="0"/>
              </a:spcAft>
            </a:pPr>
            <a:r>
              <a:rPr sz="1150" b="0">
                <a:solidFill>
                  <a:srgbClr val="555A61"/>
                </a:solidFill>
                <a:latin typeface="Arial"/>
              </a:rPr>
              <a:t>[One line: why you]</a:t>
            </a:r>
          </a:p>
        </p:txBody>
      </p:sp>
      <p:sp>
        <p:nvSpPr>
          <p:cNvPr id="23" name="Rounded Rectangle 22"/>
          <p:cNvSpPr/>
          <p:nvPr/>
        </p:nvSpPr>
        <p:spPr>
          <a:xfrm>
            <a:off x="7296912" y="2194560"/>
            <a:ext cx="2093976" cy="3840480"/>
          </a:xfrm>
          <a:prstGeom prst="roundRect">
            <a:avLst>
              <a:gd name="adj" fmla="val 10917"/>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552944" y="2468880"/>
            <a:ext cx="1005840" cy="1005840"/>
          </a:xfrm>
          <a:prstGeom prst="ellipse">
            <a:avLst/>
          </a:prstGeom>
          <a:solidFill>
            <a:srgbClr val="E7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52944" y="2468880"/>
            <a:ext cx="1005840" cy="1005840"/>
          </a:xfrm>
          <a:prstGeom prst="rect">
            <a:avLst/>
          </a:prstGeom>
          <a:noFill/>
        </p:spPr>
        <p:txBody>
          <a:bodyPr wrap="square" lIns="0" rIns="0" tIns="0" bIns="0" anchor="ctr">
            <a:spAutoFit/>
          </a:bodyPr>
          <a:lstStyle/>
          <a:p>
            <a:pPr algn="ctr">
              <a:spcAft>
                <a:spcPts val="0"/>
              </a:spcAft>
            </a:pPr>
            <a:r>
              <a:rPr sz="1000" b="0">
                <a:solidFill>
                  <a:srgbClr val="1F5FC9"/>
                </a:solidFill>
                <a:latin typeface="Arial"/>
              </a:rPr>
              <a:t>[photo]</a:t>
            </a:r>
          </a:p>
        </p:txBody>
      </p:sp>
      <p:sp>
        <p:nvSpPr>
          <p:cNvPr id="26" name="TextBox 25"/>
          <p:cNvSpPr txBox="1"/>
          <p:nvPr/>
        </p:nvSpPr>
        <p:spPr>
          <a:xfrm>
            <a:off x="7552944" y="3703320"/>
            <a:ext cx="1728216" cy="411480"/>
          </a:xfrm>
          <a:prstGeom prst="rect">
            <a:avLst/>
          </a:prstGeom>
          <a:noFill/>
        </p:spPr>
        <p:txBody>
          <a:bodyPr wrap="square" lIns="0" rIns="0" tIns="0" bIns="0" anchor="t">
            <a:spAutoFit/>
          </a:bodyPr>
          <a:lstStyle/>
          <a:p>
            <a:pPr algn="l">
              <a:spcAft>
                <a:spcPts val="0"/>
              </a:spcAft>
            </a:pPr>
            <a:r>
              <a:rPr sz="1800" b="1">
                <a:solidFill>
                  <a:srgbClr val="16181B"/>
                </a:solidFill>
                <a:latin typeface="Arial"/>
              </a:rPr>
              <a:t>[Name]</a:t>
            </a:r>
          </a:p>
        </p:txBody>
      </p:sp>
      <p:sp>
        <p:nvSpPr>
          <p:cNvPr id="27" name="TextBox 26"/>
          <p:cNvSpPr txBox="1"/>
          <p:nvPr/>
        </p:nvSpPr>
        <p:spPr>
          <a:xfrm>
            <a:off x="7552944" y="4114800"/>
            <a:ext cx="1728216" cy="365760"/>
          </a:xfrm>
          <a:prstGeom prst="rect">
            <a:avLst/>
          </a:prstGeom>
          <a:noFill/>
        </p:spPr>
        <p:txBody>
          <a:bodyPr wrap="square" lIns="0" rIns="0" tIns="0" bIns="0" anchor="t">
            <a:spAutoFit/>
          </a:bodyPr>
          <a:lstStyle/>
          <a:p>
            <a:pPr algn="l">
              <a:spcAft>
                <a:spcPts val="0"/>
              </a:spcAft>
            </a:pPr>
            <a:r>
              <a:rPr sz="1250" b="1">
                <a:solidFill>
                  <a:srgbClr val="1F5FC9"/>
                </a:solidFill>
                <a:latin typeface="Arial"/>
              </a:rPr>
              <a:t>[Role]</a:t>
            </a:r>
          </a:p>
        </p:txBody>
      </p:sp>
      <p:sp>
        <p:nvSpPr>
          <p:cNvPr id="28" name="TextBox 27"/>
          <p:cNvSpPr txBox="1"/>
          <p:nvPr/>
        </p:nvSpPr>
        <p:spPr>
          <a:xfrm>
            <a:off x="7552944" y="4526280"/>
            <a:ext cx="1682496" cy="1371600"/>
          </a:xfrm>
          <a:prstGeom prst="rect">
            <a:avLst/>
          </a:prstGeom>
          <a:noFill/>
        </p:spPr>
        <p:txBody>
          <a:bodyPr wrap="square" lIns="0" rIns="0" tIns="0" bIns="0" anchor="t">
            <a:spAutoFit/>
          </a:bodyPr>
          <a:lstStyle/>
          <a:p>
            <a:pPr algn="l">
              <a:lnSpc>
                <a:spcPct val="110000"/>
              </a:lnSpc>
              <a:spcAft>
                <a:spcPts val="0"/>
              </a:spcAft>
            </a:pPr>
            <a:r>
              <a:rPr sz="1150" b="0">
                <a:solidFill>
                  <a:srgbClr val="555A61"/>
                </a:solidFill>
                <a:latin typeface="Arial"/>
              </a:rPr>
              <a:t>[One line: why you]</a:t>
            </a:r>
          </a:p>
        </p:txBody>
      </p:sp>
      <p:sp>
        <p:nvSpPr>
          <p:cNvPr id="29" name="Rounded Rectangle 28"/>
          <p:cNvSpPr/>
          <p:nvPr/>
        </p:nvSpPr>
        <p:spPr>
          <a:xfrm>
            <a:off x="9546336" y="2194560"/>
            <a:ext cx="2093976" cy="3840480"/>
          </a:xfrm>
          <a:prstGeom prst="roundRect">
            <a:avLst>
              <a:gd name="adj" fmla="val 10917"/>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02367" y="2468880"/>
            <a:ext cx="1005840" cy="1005840"/>
          </a:xfrm>
          <a:prstGeom prst="ellipse">
            <a:avLst/>
          </a:prstGeom>
          <a:solidFill>
            <a:srgbClr val="FDF3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02367" y="2468880"/>
            <a:ext cx="1005840" cy="1005840"/>
          </a:xfrm>
          <a:prstGeom prst="rect">
            <a:avLst/>
          </a:prstGeom>
          <a:noFill/>
        </p:spPr>
        <p:txBody>
          <a:bodyPr wrap="square" lIns="0" rIns="0" tIns="0" bIns="0" anchor="ctr">
            <a:spAutoFit/>
          </a:bodyPr>
          <a:lstStyle/>
          <a:p>
            <a:pPr algn="ctr">
              <a:spcAft>
                <a:spcPts val="0"/>
              </a:spcAft>
            </a:pPr>
            <a:r>
              <a:rPr sz="1000" b="0">
                <a:solidFill>
                  <a:srgbClr val="A16207"/>
                </a:solidFill>
                <a:latin typeface="Arial"/>
              </a:rPr>
              <a:t>[photo]</a:t>
            </a:r>
          </a:p>
        </p:txBody>
      </p:sp>
      <p:sp>
        <p:nvSpPr>
          <p:cNvPr id="32" name="TextBox 31"/>
          <p:cNvSpPr txBox="1"/>
          <p:nvPr/>
        </p:nvSpPr>
        <p:spPr>
          <a:xfrm>
            <a:off x="9802367" y="3703320"/>
            <a:ext cx="1728216" cy="411480"/>
          </a:xfrm>
          <a:prstGeom prst="rect">
            <a:avLst/>
          </a:prstGeom>
          <a:noFill/>
        </p:spPr>
        <p:txBody>
          <a:bodyPr wrap="square" lIns="0" rIns="0" tIns="0" bIns="0" anchor="t">
            <a:spAutoFit/>
          </a:bodyPr>
          <a:lstStyle/>
          <a:p>
            <a:pPr algn="l">
              <a:spcAft>
                <a:spcPts val="0"/>
              </a:spcAft>
            </a:pPr>
            <a:r>
              <a:rPr sz="1800" b="1">
                <a:solidFill>
                  <a:srgbClr val="16181B"/>
                </a:solidFill>
                <a:latin typeface="Arial"/>
              </a:rPr>
              <a:t>[Name]</a:t>
            </a:r>
          </a:p>
        </p:txBody>
      </p:sp>
      <p:sp>
        <p:nvSpPr>
          <p:cNvPr id="33" name="TextBox 32"/>
          <p:cNvSpPr txBox="1"/>
          <p:nvPr/>
        </p:nvSpPr>
        <p:spPr>
          <a:xfrm>
            <a:off x="9802367" y="4114800"/>
            <a:ext cx="1728216" cy="365760"/>
          </a:xfrm>
          <a:prstGeom prst="rect">
            <a:avLst/>
          </a:prstGeom>
          <a:noFill/>
        </p:spPr>
        <p:txBody>
          <a:bodyPr wrap="square" lIns="0" rIns="0" tIns="0" bIns="0" anchor="t">
            <a:spAutoFit/>
          </a:bodyPr>
          <a:lstStyle/>
          <a:p>
            <a:pPr algn="l">
              <a:spcAft>
                <a:spcPts val="0"/>
              </a:spcAft>
            </a:pPr>
            <a:r>
              <a:rPr sz="1250" b="1">
                <a:solidFill>
                  <a:srgbClr val="A16207"/>
                </a:solidFill>
                <a:latin typeface="Arial"/>
              </a:rPr>
              <a:t>[Role]</a:t>
            </a:r>
          </a:p>
        </p:txBody>
      </p:sp>
      <p:sp>
        <p:nvSpPr>
          <p:cNvPr id="34" name="TextBox 33"/>
          <p:cNvSpPr txBox="1"/>
          <p:nvPr/>
        </p:nvSpPr>
        <p:spPr>
          <a:xfrm>
            <a:off x="9802367" y="4526280"/>
            <a:ext cx="1682496" cy="1371600"/>
          </a:xfrm>
          <a:prstGeom prst="rect">
            <a:avLst/>
          </a:prstGeom>
          <a:noFill/>
        </p:spPr>
        <p:txBody>
          <a:bodyPr wrap="square" lIns="0" rIns="0" tIns="0" bIns="0" anchor="t">
            <a:spAutoFit/>
          </a:bodyPr>
          <a:lstStyle/>
          <a:p>
            <a:pPr algn="l">
              <a:lnSpc>
                <a:spcPct val="110000"/>
              </a:lnSpc>
              <a:spcAft>
                <a:spcPts val="0"/>
              </a:spcAft>
            </a:pPr>
            <a:r>
              <a:rPr sz="1150" b="0">
                <a:solidFill>
                  <a:srgbClr val="555A61"/>
                </a:solidFill>
                <a:latin typeface="Arial"/>
              </a:rPr>
              <a:t>[One line: why you]</a:t>
            </a:r>
          </a:p>
        </p:txBody>
      </p:sp>
      <p:sp>
        <p:nvSpPr>
          <p:cNvPr id="35" name="Rounded Rectangle 34"/>
          <p:cNvSpPr/>
          <p:nvPr/>
        </p:nvSpPr>
        <p:spPr>
          <a:xfrm>
            <a:off x="548640" y="6291072"/>
            <a:ext cx="237744" cy="237744"/>
          </a:xfrm>
          <a:prstGeom prst="roundRect">
            <a:avLst>
              <a:gd name="adj" fmla="val 28125"/>
            </a:avLst>
          </a:prstGeom>
          <a:solidFill>
            <a:srgbClr val="16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00646" y="6391370"/>
            <a:ext cx="133731" cy="37147"/>
          </a:xfrm>
          <a:prstGeom prst="roundRect">
            <a:avLst>
              <a:gd name="adj" fmla="val 50000"/>
            </a:avLst>
          </a:prstGeom>
          <a:solidFill>
            <a:srgbClr val="5C5D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00646" y="6391370"/>
            <a:ext cx="81724" cy="37147"/>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960120" y="6409944"/>
            <a:ext cx="8503920" cy="0"/>
          </a:xfrm>
          <a:prstGeom prst="line">
            <a:avLst/>
          </a:prstGeom>
          <a:ln w="9525">
            <a:solidFill>
              <a:srgbClr val="C4C4BB"/>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601200" y="6291072"/>
            <a:ext cx="2039112" cy="237744"/>
          </a:xfrm>
          <a:prstGeom prst="rect">
            <a:avLst/>
          </a:prstGeom>
          <a:noFill/>
        </p:spPr>
        <p:txBody>
          <a:bodyPr wrap="square" lIns="0" rIns="0" tIns="0" bIns="0" anchor="ctr">
            <a:spAutoFit/>
          </a:bodyPr>
          <a:lstStyle/>
          <a:p>
            <a:pPr algn="r">
              <a:spcAft>
                <a:spcPts val="0"/>
              </a:spcAft>
            </a:pPr>
            <a:r>
              <a:rPr sz="1000" b="0">
                <a:solidFill>
                  <a:srgbClr val="555A61"/>
                </a:solidFill>
                <a:latin typeface="Arial"/>
              </a:rPr>
              <a:t>Work In Progress · Chișinău</a:t>
            </a:r>
            <a:r>
              <a:rPr sz="1000" b="1">
                <a:solidFill>
                  <a:srgbClr val="555A61"/>
                </a:solidFill>
                <a:latin typeface="Arial"/>
              </a:rPr>
              <a:t>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216"/>
        </a:solidFill>
        <a:effectLst/>
      </p:bgPr>
    </p:bg>
    <p:spTree>
      <p:nvGrpSpPr>
        <p:cNvPr id="1" name=""/>
        <p:cNvGrpSpPr/>
        <p:nvPr/>
      </p:nvGrpSpPr>
      <p:grpSpPr/>
      <p:sp>
        <p:nvSpPr>
          <p:cNvPr id="2" name="Oval 1"/>
          <p:cNvSpPr/>
          <p:nvPr/>
        </p:nvSpPr>
        <p:spPr>
          <a:xfrm>
            <a:off x="-2011680" y="3291840"/>
            <a:ext cx="5486400" cy="5486400"/>
          </a:xfrm>
          <a:prstGeom prst="ellipse">
            <a:avLst/>
          </a:prstGeom>
          <a:gradFill rotWithShape="1">
            <a:gsLst>
              <a:gs pos="0">
                <a:srgbClr val="1D2229"/>
              </a:gs>
              <a:gs pos="100000">
                <a:srgbClr val="0F1216"/>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502920"/>
            <a:ext cx="384048" cy="384048"/>
          </a:xfrm>
          <a:prstGeom prst="roundRect">
            <a:avLst>
              <a:gd name="adj" fmla="val 28125"/>
            </a:avLst>
          </a:prstGeom>
          <a:solidFill>
            <a:srgbClr val="EC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32650" y="664940"/>
            <a:ext cx="216027" cy="60007"/>
          </a:xfrm>
          <a:prstGeom prst="roundRect">
            <a:avLst>
              <a:gd name="adj" fmla="val 50000"/>
            </a:avLst>
          </a:prstGeom>
          <a:solidFill>
            <a:srgbClr val="B4B6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32650" y="664940"/>
            <a:ext cx="132016" cy="60007"/>
          </a:xfrm>
          <a:prstGeom prst="roundRect">
            <a:avLst>
              <a:gd name="adj" fmla="val 50000"/>
            </a:avLst>
          </a:prstGeom>
          <a:solidFill>
            <a:srgbClr val="16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484632"/>
            <a:ext cx="2926080" cy="429768"/>
          </a:xfrm>
          <a:prstGeom prst="rect">
            <a:avLst/>
          </a:prstGeom>
          <a:noFill/>
        </p:spPr>
        <p:txBody>
          <a:bodyPr wrap="square" lIns="0" rIns="0" tIns="0" bIns="0" anchor="ctr">
            <a:spAutoFit/>
          </a:bodyPr>
          <a:lstStyle/>
          <a:p>
            <a:pPr algn="l">
              <a:spcAft>
                <a:spcPts val="0"/>
              </a:spcAft>
            </a:pPr>
            <a:r>
              <a:rPr sz="1300" b="1">
                <a:solidFill>
                  <a:srgbClr val="ECEEF1"/>
                </a:solidFill>
                <a:latin typeface="Arial"/>
              </a:rPr>
              <a:t>Work In Progress</a:t>
            </a:r>
          </a:p>
          <a:p>
            <a:pPr algn="l">
              <a:spcAft>
                <a:spcPts val="0"/>
              </a:spcAft>
            </a:pPr>
            <a:r>
              <a:rPr sz="1050" b="0">
                <a:solidFill>
                  <a:srgbClr val="A9B0B9"/>
                </a:solidFill>
                <a:latin typeface="Arial"/>
              </a:rPr>
              <a:t>Chișinău</a:t>
            </a:r>
          </a:p>
        </p:txBody>
      </p:sp>
      <p:sp>
        <p:nvSpPr>
          <p:cNvPr id="7" name="TextBox 6"/>
          <p:cNvSpPr txBox="1"/>
          <p:nvPr/>
        </p:nvSpPr>
        <p:spPr>
          <a:xfrm>
            <a:off x="548640" y="1508760"/>
            <a:ext cx="6766560" cy="2194560"/>
          </a:xfrm>
          <a:prstGeom prst="rect">
            <a:avLst/>
          </a:prstGeom>
          <a:noFill/>
        </p:spPr>
        <p:txBody>
          <a:bodyPr wrap="square" lIns="0" rIns="0" tIns="0" bIns="0" anchor="t">
            <a:spAutoFit/>
          </a:bodyPr>
          <a:lstStyle/>
          <a:p>
            <a:pPr algn="l">
              <a:lnSpc>
                <a:spcPct val="120000"/>
              </a:lnSpc>
              <a:spcAft>
                <a:spcPts val="0"/>
              </a:spcAft>
            </a:pPr>
            <a:r>
              <a:rPr sz="2200" b="0">
                <a:solidFill>
                  <a:srgbClr val="ECEEF1"/>
                </a:solidFill>
                <a:latin typeface="Arial"/>
              </a:rPr>
              <a:t>We offer a live outage map for people in Chișinău who find out about water, power and gas cuts too late, and we solve it by combining every provider's official announcements with reports confirmed by neighbours.</a:t>
            </a:r>
          </a:p>
        </p:txBody>
      </p:sp>
      <p:sp>
        <p:nvSpPr>
          <p:cNvPr id="8" name="TextBox 7"/>
          <p:cNvSpPr txBox="1"/>
          <p:nvPr/>
        </p:nvSpPr>
        <p:spPr>
          <a:xfrm>
            <a:off x="548640" y="3977639"/>
            <a:ext cx="6400800" cy="822960"/>
          </a:xfrm>
          <a:prstGeom prst="rect">
            <a:avLst/>
          </a:prstGeom>
          <a:noFill/>
        </p:spPr>
        <p:txBody>
          <a:bodyPr wrap="square" lIns="0" rIns="0" tIns="0" bIns="0" anchor="t">
            <a:spAutoFit/>
          </a:bodyPr>
          <a:lstStyle/>
          <a:p>
            <a:pPr algn="l">
              <a:spcAft>
                <a:spcPts val="0"/>
              </a:spcAft>
            </a:pPr>
            <a:r>
              <a:rPr sz="4400" b="1">
                <a:solidFill>
                  <a:srgbClr val="ECEEF1"/>
                </a:solidFill>
                <a:latin typeface="Arial"/>
              </a:rPr>
              <a:t>Thank you!</a:t>
            </a:r>
          </a:p>
        </p:txBody>
      </p:sp>
      <p:sp>
        <p:nvSpPr>
          <p:cNvPr id="9" name="TextBox 8"/>
          <p:cNvSpPr txBox="1"/>
          <p:nvPr/>
        </p:nvSpPr>
        <p:spPr>
          <a:xfrm>
            <a:off x="548640" y="4937760"/>
            <a:ext cx="6766560" cy="731520"/>
          </a:xfrm>
          <a:prstGeom prst="rect">
            <a:avLst/>
          </a:prstGeom>
          <a:noFill/>
        </p:spPr>
        <p:txBody>
          <a:bodyPr wrap="square" lIns="0" rIns="0" tIns="0" bIns="0" anchor="t">
            <a:spAutoFit/>
          </a:bodyPr>
          <a:lstStyle/>
          <a:p>
            <a:pPr algn="l">
              <a:spcAft>
                <a:spcPts val="0"/>
              </a:spcAft>
            </a:pPr>
            <a:r>
              <a:rPr sz="1400" b="1">
                <a:solidFill>
                  <a:srgbClr val="ECEEF1"/>
                </a:solidFill>
                <a:latin typeface="Arial"/>
              </a:rPr>
              <a:t>Work In Progress</a:t>
            </a:r>
            <a:r>
              <a:rPr sz="1400" b="0">
                <a:solidFill>
                  <a:srgbClr val="A9B0B9"/>
                </a:solidFill>
                <a:latin typeface="Arial"/>
              </a:rPr>
              <a:t>  ·  [email]  ·  wip-deploy-test.vercel.app</a:t>
            </a:r>
          </a:p>
        </p:txBody>
      </p:sp>
      <p:sp>
        <p:nvSpPr>
          <p:cNvPr id="10" name="Rounded Rectangle 9"/>
          <p:cNvSpPr/>
          <p:nvPr/>
        </p:nvSpPr>
        <p:spPr>
          <a:xfrm>
            <a:off x="7863840" y="502920"/>
            <a:ext cx="3867912" cy="5577840"/>
          </a:xfrm>
          <a:prstGeom prst="roundRect">
            <a:avLst>
              <a:gd name="adj" fmla="val 827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777240"/>
            <a:ext cx="3867912" cy="365760"/>
          </a:xfrm>
          <a:prstGeom prst="rect">
            <a:avLst/>
          </a:prstGeom>
          <a:noFill/>
        </p:spPr>
        <p:txBody>
          <a:bodyPr wrap="square" lIns="0" rIns="0" tIns="0" bIns="0" anchor="t">
            <a:spAutoFit/>
          </a:bodyPr>
          <a:lstStyle/>
          <a:p>
            <a:pPr algn="ctr">
              <a:spcAft>
                <a:spcPts val="0"/>
              </a:spcAft>
            </a:pPr>
            <a:r>
              <a:rPr sz="1600" b="1">
                <a:solidFill>
                  <a:srgbClr val="16181B"/>
                </a:solidFill>
                <a:latin typeface="Arial"/>
              </a:rPr>
              <a:t>It's live. Test it now</a:t>
            </a:r>
          </a:p>
        </p:txBody>
      </p:sp>
      <p:pic>
        <p:nvPicPr>
          <p:cNvPr id="12" name="Picture 11" descr="qr.png"/>
          <p:cNvPicPr>
            <a:picLocks noChangeAspect="1"/>
          </p:cNvPicPr>
          <p:nvPr/>
        </p:nvPicPr>
        <p:blipFill>
          <a:blip r:embed="rId2"/>
          <a:stretch>
            <a:fillRect/>
          </a:stretch>
        </p:blipFill>
        <p:spPr>
          <a:xfrm>
            <a:off x="8339327" y="1325880"/>
            <a:ext cx="2926080" cy="2926080"/>
          </a:xfrm>
          <a:prstGeom prst="rect">
            <a:avLst/>
          </a:prstGeom>
        </p:spPr>
      </p:pic>
      <p:sp>
        <p:nvSpPr>
          <p:cNvPr id="13" name="TextBox 12"/>
          <p:cNvSpPr txBox="1"/>
          <p:nvPr/>
        </p:nvSpPr>
        <p:spPr>
          <a:xfrm>
            <a:off x="7863840" y="4389120"/>
            <a:ext cx="3867912" cy="320040"/>
          </a:xfrm>
          <a:prstGeom prst="rect">
            <a:avLst/>
          </a:prstGeom>
          <a:noFill/>
        </p:spPr>
        <p:txBody>
          <a:bodyPr wrap="square" lIns="0" rIns="0" tIns="0" bIns="0" anchor="t">
            <a:spAutoFit/>
          </a:bodyPr>
          <a:lstStyle/>
          <a:p>
            <a:pPr algn="ctr">
              <a:spcAft>
                <a:spcPts val="0"/>
              </a:spcAft>
            </a:pPr>
            <a:r>
              <a:rPr sz="1300" b="1">
                <a:solidFill>
                  <a:srgbClr val="1F5FC9"/>
                </a:solidFill>
                <a:latin typeface="Arial"/>
              </a:rPr>
              <a:t>wip-deploy-test.vercel.app</a:t>
            </a:r>
          </a:p>
        </p:txBody>
      </p:sp>
      <p:sp>
        <p:nvSpPr>
          <p:cNvPr id="14" name="TextBox 13"/>
          <p:cNvSpPr txBox="1"/>
          <p:nvPr/>
        </p:nvSpPr>
        <p:spPr>
          <a:xfrm>
            <a:off x="8183879" y="4800600"/>
            <a:ext cx="3227832" cy="1005840"/>
          </a:xfrm>
          <a:prstGeom prst="rect">
            <a:avLst/>
          </a:prstGeom>
          <a:noFill/>
        </p:spPr>
        <p:txBody>
          <a:bodyPr wrap="square" lIns="0" rIns="0" tIns="0" bIns="0" anchor="t">
            <a:spAutoFit/>
          </a:bodyPr>
          <a:lstStyle/>
          <a:p>
            <a:pPr algn="ctr">
              <a:lnSpc>
                <a:spcPct val="115000"/>
              </a:lnSpc>
              <a:spcAft>
                <a:spcPts val="0"/>
              </a:spcAft>
            </a:pPr>
            <a:r>
              <a:rPr sz="1150" b="0">
                <a:solidFill>
                  <a:srgbClr val="555A61"/>
                </a:solidFill>
                <a:latin typeface="Arial"/>
              </a:rPr>
              <a:t>Jury, scan it on your phone. No account needed: open the map, tap an outage, check your street.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3EF"/>
        </a:solidFill>
        <a:effectLst/>
      </p:bgPr>
    </p:bg>
    <p:spTree>
      <p:nvGrpSpPr>
        <p:cNvPr id="1" name=""/>
        <p:cNvGrpSpPr/>
        <p:nvPr/>
      </p:nvGrpSpPr>
      <p:grpSpPr/>
      <p:sp>
        <p:nvSpPr>
          <p:cNvPr id="2" name="TextBox 1"/>
          <p:cNvSpPr txBox="1"/>
          <p:nvPr/>
        </p:nvSpPr>
        <p:spPr>
          <a:xfrm>
            <a:off x="548640" y="2377440"/>
            <a:ext cx="9144000" cy="914400"/>
          </a:xfrm>
          <a:prstGeom prst="rect">
            <a:avLst/>
          </a:prstGeom>
          <a:noFill/>
        </p:spPr>
        <p:txBody>
          <a:bodyPr wrap="square" lIns="0" rIns="0" tIns="0" bIns="0" anchor="t">
            <a:spAutoFit/>
          </a:bodyPr>
          <a:lstStyle/>
          <a:p>
            <a:pPr algn="l">
              <a:spcAft>
                <a:spcPts val="0"/>
              </a:spcAft>
            </a:pPr>
            <a:r>
              <a:rPr sz="4800" b="1">
                <a:solidFill>
                  <a:srgbClr val="16181B"/>
                </a:solidFill>
                <a:latin typeface="Arial"/>
              </a:rPr>
              <a:t>Backup slides</a:t>
            </a:r>
          </a:p>
        </p:txBody>
      </p:sp>
      <p:sp>
        <p:nvSpPr>
          <p:cNvPr id="3" name="TextBox 2"/>
          <p:cNvSpPr txBox="1"/>
          <p:nvPr/>
        </p:nvSpPr>
        <p:spPr>
          <a:xfrm>
            <a:off x="548640" y="3291840"/>
            <a:ext cx="9144000" cy="457200"/>
          </a:xfrm>
          <a:prstGeom prst="rect">
            <a:avLst/>
          </a:prstGeom>
          <a:noFill/>
        </p:spPr>
        <p:txBody>
          <a:bodyPr wrap="square" lIns="0" rIns="0" tIns="0" bIns="0" anchor="t">
            <a:spAutoFit/>
          </a:bodyPr>
          <a:lstStyle/>
          <a:p>
            <a:pPr algn="l">
              <a:spcAft>
                <a:spcPts val="0"/>
              </a:spcAft>
            </a:pPr>
            <a:r>
              <a:rPr sz="1800" b="0">
                <a:solidFill>
                  <a:srgbClr val="555A61"/>
                </a:solidFill>
                <a:latin typeface="Arial"/>
              </a:rPr>
              <a:t>Not part of the 5 minutes. Show them only if the jury asks.</a:t>
            </a:r>
          </a:p>
        </p:txBody>
      </p:sp>
      <p:sp>
        <p:nvSpPr>
          <p:cNvPr id="4" name="Oval 3"/>
          <p:cNvSpPr/>
          <p:nvPr/>
        </p:nvSpPr>
        <p:spPr>
          <a:xfrm>
            <a:off x="566928" y="2011680"/>
            <a:ext cx="182880" cy="182880"/>
          </a:xfrm>
          <a:prstGeom prst="ellipse">
            <a:avLst/>
          </a:prstGeom>
          <a:solidFill>
            <a:srgbClr val="1F5F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9536" y="2011680"/>
            <a:ext cx="182880" cy="182880"/>
          </a:xfrm>
          <a:prstGeom prst="ellipse">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52144" y="2011680"/>
            <a:ext cx="182880" cy="182880"/>
          </a:xfrm>
          <a:prstGeom prst="ellipse">
            <a:avLst/>
          </a:prstGeom>
          <a:solidFill>
            <a:srgbClr val="1C7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6291072"/>
            <a:ext cx="237744" cy="237744"/>
          </a:xfrm>
          <a:prstGeom prst="roundRect">
            <a:avLst>
              <a:gd name="adj" fmla="val 28125"/>
            </a:avLst>
          </a:prstGeom>
          <a:solidFill>
            <a:srgbClr val="16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00646" y="6391370"/>
            <a:ext cx="133731" cy="37147"/>
          </a:xfrm>
          <a:prstGeom prst="roundRect">
            <a:avLst>
              <a:gd name="adj" fmla="val 50000"/>
            </a:avLst>
          </a:prstGeom>
          <a:solidFill>
            <a:srgbClr val="5C5D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00646" y="6391370"/>
            <a:ext cx="81724" cy="37147"/>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960120" y="6409944"/>
            <a:ext cx="8503920" cy="0"/>
          </a:xfrm>
          <a:prstGeom prst="line">
            <a:avLst/>
          </a:prstGeom>
          <a:ln w="9525">
            <a:solidFill>
              <a:srgbClr val="C4C4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601200" y="6291072"/>
            <a:ext cx="2039112" cy="237744"/>
          </a:xfrm>
          <a:prstGeom prst="rect">
            <a:avLst/>
          </a:prstGeom>
          <a:noFill/>
        </p:spPr>
        <p:txBody>
          <a:bodyPr wrap="square" lIns="0" rIns="0" tIns="0" bIns="0" anchor="ctr">
            <a:spAutoFit/>
          </a:bodyPr>
          <a:lstStyle/>
          <a:p>
            <a:pPr algn="r">
              <a:spcAft>
                <a:spcPts val="0"/>
              </a:spcAft>
            </a:pPr>
            <a:r>
              <a:rPr sz="1000" b="0">
                <a:solidFill>
                  <a:srgbClr val="555A61"/>
                </a:solidFill>
                <a:latin typeface="Arial"/>
              </a:rPr>
              <a:t>Work In Progress · Chișinău</a:t>
            </a:r>
            <a:r>
              <a:rPr sz="1000" b="1">
                <a:solidFill>
                  <a:srgbClr val="555A61"/>
                </a:solidFill>
                <a:latin typeface="Arial"/>
              </a:rPr>
              <a:t>   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5486400" cy="274320"/>
          </a:xfrm>
          <a:prstGeom prst="rect">
            <a:avLst/>
          </a:prstGeom>
          <a:noFill/>
        </p:spPr>
        <p:txBody>
          <a:bodyPr wrap="square" lIns="0" rIns="0" tIns="0" bIns="0" anchor="t">
            <a:spAutoFit/>
          </a:bodyPr>
          <a:lstStyle/>
          <a:p>
            <a:pPr algn="l">
              <a:spcAft>
                <a:spcPts val="0"/>
              </a:spcAft>
            </a:pPr>
            <a:r>
              <a:rPr sz="1100" b="1" spc="300">
                <a:solidFill>
                  <a:srgbClr val="555A61"/>
                </a:solidFill>
                <a:latin typeface="Arial"/>
              </a:rPr>
              <a:t>BACKUP · DETAILS FOR Q&amp;A</a:t>
            </a:r>
          </a:p>
        </p:txBody>
      </p:sp>
      <p:sp>
        <p:nvSpPr>
          <p:cNvPr id="3" name="TextBox 2"/>
          <p:cNvSpPr txBox="1"/>
          <p:nvPr/>
        </p:nvSpPr>
        <p:spPr>
          <a:xfrm>
            <a:off x="548640" y="822960"/>
            <a:ext cx="9144000" cy="731520"/>
          </a:xfrm>
          <a:prstGeom prst="rect">
            <a:avLst/>
          </a:prstGeom>
          <a:noFill/>
        </p:spPr>
        <p:txBody>
          <a:bodyPr wrap="square" lIns="0" rIns="0" tIns="0" bIns="0" anchor="t">
            <a:spAutoFit/>
          </a:bodyPr>
          <a:lstStyle/>
          <a:p>
            <a:pPr algn="l">
              <a:spcAft>
                <a:spcPts val="0"/>
              </a:spcAft>
            </a:pPr>
            <a:r>
              <a:rPr sz="3000" b="1">
                <a:solidFill>
                  <a:srgbClr val="16181B"/>
                </a:solidFill>
                <a:latin typeface="Arial"/>
              </a:rPr>
              <a:t>Questions the jury may ask</a:t>
            </a:r>
          </a:p>
        </p:txBody>
      </p:sp>
      <p:sp>
        <p:nvSpPr>
          <p:cNvPr id="4" name="Rounded Rectangle 3"/>
          <p:cNvSpPr/>
          <p:nvPr/>
        </p:nvSpPr>
        <p:spPr>
          <a:xfrm>
            <a:off x="548640" y="1691640"/>
            <a:ext cx="5486400" cy="1344168"/>
          </a:xfrm>
          <a:prstGeom prst="roundRect">
            <a:avLst>
              <a:gd name="adj" fmla="val 13605"/>
            </a:avLst>
          </a:prstGeom>
          <a:solidFill>
            <a:srgbClr val="F3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28800"/>
            <a:ext cx="5029200" cy="1143000"/>
          </a:xfrm>
          <a:prstGeom prst="rect">
            <a:avLst/>
          </a:prstGeom>
          <a:noFill/>
        </p:spPr>
        <p:txBody>
          <a:bodyPr wrap="square" lIns="0" rIns="0" tIns="0" bIns="0" anchor="t">
            <a:spAutoFit/>
          </a:bodyPr>
          <a:lstStyle/>
          <a:p>
            <a:pPr algn="l">
              <a:lnSpc>
                <a:spcPct val="108000"/>
              </a:lnSpc>
              <a:spcAft>
                <a:spcPts val="300"/>
              </a:spcAft>
            </a:pPr>
            <a:r>
              <a:rPr sz="1250" b="1">
                <a:solidFill>
                  <a:srgbClr val="16181B"/>
                </a:solidFill>
                <a:latin typeface="Arial"/>
              </a:rPr>
              <a:t>How is this different from what already exists?</a:t>
            </a:r>
          </a:p>
          <a:p>
            <a:pPr algn="l">
              <a:lnSpc>
                <a:spcPct val="108000"/>
              </a:lnSpc>
              <a:spcAft>
                <a:spcPts val="300"/>
              </a:spcAft>
            </a:pPr>
            <a:r>
              <a:rPr sz="1100" b="0">
                <a:solidFill>
                  <a:srgbClr val="555A61"/>
                </a:solidFill>
                <a:latin typeface="Arial"/>
              </a:rPr>
              <a:t>Provider websites are separate tables with no map; Facebook groups are fast but unverified. We put all official data on one map and let neighbours verify the rest.</a:t>
            </a:r>
          </a:p>
        </p:txBody>
      </p:sp>
      <p:sp>
        <p:nvSpPr>
          <p:cNvPr id="6" name="Rounded Rectangle 5"/>
          <p:cNvSpPr/>
          <p:nvPr/>
        </p:nvSpPr>
        <p:spPr>
          <a:xfrm>
            <a:off x="6153912" y="1691640"/>
            <a:ext cx="5486400" cy="1344168"/>
          </a:xfrm>
          <a:prstGeom prst="roundRect">
            <a:avLst>
              <a:gd name="adj" fmla="val 13605"/>
            </a:avLst>
          </a:prstGeom>
          <a:solidFill>
            <a:srgbClr val="F3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82512" y="1828800"/>
            <a:ext cx="5029200" cy="1143000"/>
          </a:xfrm>
          <a:prstGeom prst="rect">
            <a:avLst/>
          </a:prstGeom>
          <a:noFill/>
        </p:spPr>
        <p:txBody>
          <a:bodyPr wrap="square" lIns="0" rIns="0" tIns="0" bIns="0" anchor="t">
            <a:spAutoFit/>
          </a:bodyPr>
          <a:lstStyle/>
          <a:p>
            <a:pPr algn="l">
              <a:lnSpc>
                <a:spcPct val="108000"/>
              </a:lnSpc>
              <a:spcAft>
                <a:spcPts val="300"/>
              </a:spcAft>
            </a:pPr>
            <a:r>
              <a:rPr sz="1250" b="1">
                <a:solidFill>
                  <a:srgbClr val="16181B"/>
                </a:solidFill>
                <a:latin typeface="Arial"/>
              </a:rPr>
              <a:t>What's real, and what's mocked?</a:t>
            </a:r>
          </a:p>
          <a:p>
            <a:pPr algn="l">
              <a:lnSpc>
                <a:spcPct val="108000"/>
              </a:lnSpc>
              <a:spcAft>
                <a:spcPts val="300"/>
              </a:spcAft>
            </a:pPr>
            <a:r>
              <a:rPr sz="1100" b="0">
                <a:solidFill>
                  <a:srgbClr val="555A61"/>
                </a:solidFill>
                <a:latin typeface="Arial"/>
              </a:rPr>
              <a:t>Nothing is mocked: 4 live official feeds, real streets, real-time confirmations. Telegram reporting works as a prototype. Not built yet: alerts for saved addresses, the Telegram forecast, direct provider feeds.</a:t>
            </a:r>
          </a:p>
        </p:txBody>
      </p:sp>
      <p:sp>
        <p:nvSpPr>
          <p:cNvPr id="8" name="Rounded Rectangle 7"/>
          <p:cNvSpPr/>
          <p:nvPr/>
        </p:nvSpPr>
        <p:spPr>
          <a:xfrm>
            <a:off x="548640" y="3172968"/>
            <a:ext cx="5486400" cy="1344168"/>
          </a:xfrm>
          <a:prstGeom prst="roundRect">
            <a:avLst>
              <a:gd name="adj" fmla="val 13605"/>
            </a:avLst>
          </a:prstGeom>
          <a:solidFill>
            <a:srgbClr val="F3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310128"/>
            <a:ext cx="5029200" cy="1143000"/>
          </a:xfrm>
          <a:prstGeom prst="rect">
            <a:avLst/>
          </a:prstGeom>
          <a:noFill/>
        </p:spPr>
        <p:txBody>
          <a:bodyPr wrap="square" lIns="0" rIns="0" tIns="0" bIns="0" anchor="t">
            <a:spAutoFit/>
          </a:bodyPr>
          <a:lstStyle/>
          <a:p>
            <a:pPr algn="l">
              <a:lnSpc>
                <a:spcPct val="108000"/>
              </a:lnSpc>
              <a:spcAft>
                <a:spcPts val="300"/>
              </a:spcAft>
            </a:pPr>
            <a:r>
              <a:rPr sz="1250" b="1">
                <a:solidFill>
                  <a:srgbClr val="16181B"/>
                </a:solidFill>
                <a:latin typeface="Arial"/>
              </a:rPr>
              <a:t>Does it work with real data?</a:t>
            </a:r>
          </a:p>
          <a:p>
            <a:pPr algn="l">
              <a:lnSpc>
                <a:spcPct val="108000"/>
              </a:lnSpc>
              <a:spcAft>
                <a:spcPts val="300"/>
              </a:spcAft>
            </a:pPr>
            <a:r>
              <a:rPr sz="1100" b="0">
                <a:solidFill>
                  <a:srgbClr val="555A61"/>
                </a:solidFill>
                <a:latin typeface="Arial"/>
              </a:rPr>
              <a:t>Yes. Everything on the map today comes from Apă-Canal, Premier Energy, Energocom and Chișinău-Gaz, updated every 1–2 hours.</a:t>
            </a:r>
          </a:p>
        </p:txBody>
      </p:sp>
      <p:sp>
        <p:nvSpPr>
          <p:cNvPr id="10" name="Rounded Rectangle 9"/>
          <p:cNvSpPr/>
          <p:nvPr/>
        </p:nvSpPr>
        <p:spPr>
          <a:xfrm>
            <a:off x="6153912" y="3172968"/>
            <a:ext cx="5486400" cy="1344168"/>
          </a:xfrm>
          <a:prstGeom prst="roundRect">
            <a:avLst>
              <a:gd name="adj" fmla="val 13605"/>
            </a:avLst>
          </a:prstGeom>
          <a:solidFill>
            <a:srgbClr val="F3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2512" y="3310128"/>
            <a:ext cx="5029200" cy="1143000"/>
          </a:xfrm>
          <a:prstGeom prst="rect">
            <a:avLst/>
          </a:prstGeom>
          <a:noFill/>
        </p:spPr>
        <p:txBody>
          <a:bodyPr wrap="square" lIns="0" rIns="0" tIns="0" bIns="0" anchor="t">
            <a:spAutoFit/>
          </a:bodyPr>
          <a:lstStyle/>
          <a:p>
            <a:pPr algn="l">
              <a:lnSpc>
                <a:spcPct val="108000"/>
              </a:lnSpc>
              <a:spcAft>
                <a:spcPts val="300"/>
              </a:spcAft>
            </a:pPr>
            <a:r>
              <a:rPr sz="1250" b="1">
                <a:solidFill>
                  <a:srgbClr val="16181B"/>
                </a:solidFill>
                <a:latin typeface="Arial"/>
              </a:rPr>
              <a:t>What would you need to go live?</a:t>
            </a:r>
          </a:p>
          <a:p>
            <a:pPr algn="l">
              <a:lnSpc>
                <a:spcPct val="108000"/>
              </a:lnSpc>
              <a:spcAft>
                <a:spcPts val="300"/>
              </a:spcAft>
            </a:pPr>
            <a:r>
              <a:rPr sz="1100" b="0">
                <a:solidFill>
                  <a:srgbClr val="555A61"/>
                </a:solidFill>
                <a:latin typeface="Arial"/>
              </a:rPr>
              <a:t>A direct outage feed from the providers (instead of reading their websites), a pilot with City Hall, and hosting for city-wide traffic.</a:t>
            </a:r>
          </a:p>
        </p:txBody>
      </p:sp>
      <p:sp>
        <p:nvSpPr>
          <p:cNvPr id="12" name="Rounded Rectangle 11"/>
          <p:cNvSpPr/>
          <p:nvPr/>
        </p:nvSpPr>
        <p:spPr>
          <a:xfrm>
            <a:off x="548640" y="4654296"/>
            <a:ext cx="5486400" cy="1344168"/>
          </a:xfrm>
          <a:prstGeom prst="roundRect">
            <a:avLst>
              <a:gd name="adj" fmla="val 13605"/>
            </a:avLst>
          </a:prstGeom>
          <a:solidFill>
            <a:srgbClr val="F3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791456"/>
            <a:ext cx="5029200" cy="1143000"/>
          </a:xfrm>
          <a:prstGeom prst="rect">
            <a:avLst/>
          </a:prstGeom>
          <a:noFill/>
        </p:spPr>
        <p:txBody>
          <a:bodyPr wrap="square" lIns="0" rIns="0" tIns="0" bIns="0" anchor="t">
            <a:spAutoFit/>
          </a:bodyPr>
          <a:lstStyle/>
          <a:p>
            <a:pPr algn="l">
              <a:lnSpc>
                <a:spcPct val="108000"/>
              </a:lnSpc>
              <a:spcAft>
                <a:spcPts val="300"/>
              </a:spcAft>
            </a:pPr>
            <a:r>
              <a:rPr sz="1250" b="1">
                <a:solidFill>
                  <a:srgbClr val="16181B"/>
                </a:solidFill>
                <a:latin typeface="Arial"/>
              </a:rPr>
              <a:t>What if a provider's website changes?</a:t>
            </a:r>
          </a:p>
          <a:p>
            <a:pPr algn="l">
              <a:lnSpc>
                <a:spcPct val="108000"/>
              </a:lnSpc>
              <a:spcAft>
                <a:spcPts val="300"/>
              </a:spcAft>
            </a:pPr>
            <a:r>
              <a:rPr sz="1100" b="0">
                <a:solidFill>
                  <a:srgbClr val="555A61"/>
                </a:solidFill>
                <a:latin typeface="Arial"/>
              </a:rPr>
              <a:t>Each importer runs on its own and fails safely: one broken source doesn't stop the others. The long-term fix is a direct feed.</a:t>
            </a:r>
          </a:p>
        </p:txBody>
      </p:sp>
      <p:sp>
        <p:nvSpPr>
          <p:cNvPr id="14" name="Rounded Rectangle 13"/>
          <p:cNvSpPr/>
          <p:nvPr/>
        </p:nvSpPr>
        <p:spPr>
          <a:xfrm>
            <a:off x="6153912" y="4654296"/>
            <a:ext cx="5486400" cy="1344168"/>
          </a:xfrm>
          <a:prstGeom prst="roundRect">
            <a:avLst>
              <a:gd name="adj" fmla="val 13605"/>
            </a:avLst>
          </a:prstGeom>
          <a:solidFill>
            <a:srgbClr val="F3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4791456"/>
            <a:ext cx="5029200" cy="1143000"/>
          </a:xfrm>
          <a:prstGeom prst="rect">
            <a:avLst/>
          </a:prstGeom>
          <a:noFill/>
        </p:spPr>
        <p:txBody>
          <a:bodyPr wrap="square" lIns="0" rIns="0" tIns="0" bIns="0" anchor="t">
            <a:spAutoFit/>
          </a:bodyPr>
          <a:lstStyle/>
          <a:p>
            <a:pPr algn="l">
              <a:lnSpc>
                <a:spcPct val="108000"/>
              </a:lnSpc>
              <a:spcAft>
                <a:spcPts val="300"/>
              </a:spcAft>
            </a:pPr>
            <a:r>
              <a:rPr sz="1250" b="1">
                <a:solidFill>
                  <a:srgbClr val="16181B"/>
                </a:solidFill>
                <a:latin typeface="Arial"/>
              </a:rPr>
              <a:t>How do you stop fake reports?</a:t>
            </a:r>
          </a:p>
          <a:p>
            <a:pPr algn="l">
              <a:lnSpc>
                <a:spcPct val="108000"/>
              </a:lnSpc>
              <a:spcAft>
                <a:spcPts val="300"/>
              </a:spcAft>
            </a:pPr>
            <a:r>
              <a:rPr sz="1100" b="0">
                <a:solidFill>
                  <a:srgbClr val="555A61"/>
                </a:solidFill>
                <a:latin typeface="Arial"/>
              </a:rPr>
              <a:t>A report needs an account, 3 "Me too" answers from people within 1 km, one answer per device, a Disputed status, and automatic expiry.</a:t>
            </a:r>
          </a:p>
        </p:txBody>
      </p:sp>
      <p:sp>
        <p:nvSpPr>
          <p:cNvPr id="16" name="Rounded Rectangle 15"/>
          <p:cNvSpPr/>
          <p:nvPr/>
        </p:nvSpPr>
        <p:spPr>
          <a:xfrm>
            <a:off x="548640" y="6291072"/>
            <a:ext cx="237744" cy="237744"/>
          </a:xfrm>
          <a:prstGeom prst="roundRect">
            <a:avLst>
              <a:gd name="adj" fmla="val 28125"/>
            </a:avLst>
          </a:prstGeom>
          <a:solidFill>
            <a:srgbClr val="16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00646" y="6391370"/>
            <a:ext cx="133731" cy="37147"/>
          </a:xfrm>
          <a:prstGeom prst="roundRect">
            <a:avLst>
              <a:gd name="adj" fmla="val 50000"/>
            </a:avLst>
          </a:prstGeom>
          <a:solidFill>
            <a:srgbClr val="5C5D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00646" y="6391370"/>
            <a:ext cx="81724" cy="37147"/>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960120" y="6409944"/>
            <a:ext cx="8503920" cy="0"/>
          </a:xfrm>
          <a:prstGeom prst="line">
            <a:avLst/>
          </a:prstGeom>
          <a:ln w="9525">
            <a:solidFill>
              <a:srgbClr val="C4C4BB"/>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601200" y="6291072"/>
            <a:ext cx="2039112" cy="237744"/>
          </a:xfrm>
          <a:prstGeom prst="rect">
            <a:avLst/>
          </a:prstGeom>
          <a:noFill/>
        </p:spPr>
        <p:txBody>
          <a:bodyPr wrap="square" lIns="0" rIns="0" tIns="0" bIns="0" anchor="ctr">
            <a:spAutoFit/>
          </a:bodyPr>
          <a:lstStyle/>
          <a:p>
            <a:pPr algn="r">
              <a:spcAft>
                <a:spcPts val="0"/>
              </a:spcAft>
            </a:pPr>
            <a:r>
              <a:rPr sz="1000" b="0">
                <a:solidFill>
                  <a:srgbClr val="555A61"/>
                </a:solidFill>
                <a:latin typeface="Arial"/>
              </a:rPr>
              <a:t>Work In Progress · Chișinău</a:t>
            </a:r>
            <a:r>
              <a:rPr sz="1000" b="1">
                <a:solidFill>
                  <a:srgbClr val="555A61"/>
                </a:solidFill>
                <a:latin typeface="Arial"/>
              </a:rPr>
              <a:t>   B1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5486400" cy="274320"/>
          </a:xfrm>
          <a:prstGeom prst="rect">
            <a:avLst/>
          </a:prstGeom>
          <a:noFill/>
        </p:spPr>
        <p:txBody>
          <a:bodyPr wrap="square" lIns="0" rIns="0" tIns="0" bIns="0" anchor="t">
            <a:spAutoFit/>
          </a:bodyPr>
          <a:lstStyle/>
          <a:p>
            <a:pPr algn="l">
              <a:spcAft>
                <a:spcPts val="0"/>
              </a:spcAft>
            </a:pPr>
            <a:r>
              <a:rPr sz="1100" b="1" spc="300">
                <a:solidFill>
                  <a:srgbClr val="555A61"/>
                </a:solidFill>
                <a:latin typeface="Arial"/>
              </a:rPr>
              <a:t>BACKUP · GO-TO-MARKET</a:t>
            </a:r>
          </a:p>
        </p:txBody>
      </p:sp>
      <p:sp>
        <p:nvSpPr>
          <p:cNvPr id="3" name="TextBox 2"/>
          <p:cNvSpPr txBox="1"/>
          <p:nvPr/>
        </p:nvSpPr>
        <p:spPr>
          <a:xfrm>
            <a:off x="548640" y="758952"/>
            <a:ext cx="8229600" cy="640080"/>
          </a:xfrm>
          <a:prstGeom prst="rect">
            <a:avLst/>
          </a:prstGeom>
          <a:noFill/>
        </p:spPr>
        <p:txBody>
          <a:bodyPr wrap="square" lIns="0" rIns="0" tIns="0" bIns="0" anchor="t">
            <a:spAutoFit/>
          </a:bodyPr>
          <a:lstStyle/>
          <a:p>
            <a:pPr algn="l">
              <a:spcAft>
                <a:spcPts val="0"/>
              </a:spcAft>
            </a:pPr>
            <a:r>
              <a:rPr sz="3200" b="1">
                <a:solidFill>
                  <a:srgbClr val="16181B"/>
                </a:solidFill>
                <a:latin typeface="Arial"/>
              </a:rPr>
              <a:t>Two ways to reach Chișinău</a:t>
            </a:r>
          </a:p>
        </p:txBody>
      </p:sp>
      <p:sp>
        <p:nvSpPr>
          <p:cNvPr id="4" name="TextBox 3"/>
          <p:cNvSpPr txBox="1"/>
          <p:nvPr/>
        </p:nvSpPr>
        <p:spPr>
          <a:xfrm>
            <a:off x="548640" y="1371600"/>
            <a:ext cx="10058400" cy="365760"/>
          </a:xfrm>
          <a:prstGeom prst="rect">
            <a:avLst/>
          </a:prstGeom>
          <a:noFill/>
        </p:spPr>
        <p:txBody>
          <a:bodyPr wrap="square" lIns="0" rIns="0" tIns="0" bIns="0" anchor="t">
            <a:spAutoFit/>
          </a:bodyPr>
          <a:lstStyle/>
          <a:p>
            <a:pPr algn="l">
              <a:spcAft>
                <a:spcPts val="0"/>
              </a:spcAft>
            </a:pPr>
            <a:r>
              <a:rPr sz="1300" b="0">
                <a:solidFill>
                  <a:srgbClr val="555A61"/>
                </a:solidFill>
                <a:latin typeface="Arial"/>
              </a:rPr>
              <a:t>Same engine, same data: official feeds + neighbour confirmations.</a:t>
            </a:r>
          </a:p>
        </p:txBody>
      </p:sp>
      <p:sp>
        <p:nvSpPr>
          <p:cNvPr id="5" name="Rounded Rectangle 4"/>
          <p:cNvSpPr/>
          <p:nvPr/>
        </p:nvSpPr>
        <p:spPr>
          <a:xfrm>
            <a:off x="548640" y="1920240"/>
            <a:ext cx="5440680" cy="4160520"/>
          </a:xfrm>
          <a:prstGeom prst="roundRect">
            <a:avLst>
              <a:gd name="adj" fmla="val 6593"/>
            </a:avLst>
          </a:prstGeom>
          <a:solidFill>
            <a:srgbClr val="F3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2176272"/>
            <a:ext cx="2148840" cy="329184"/>
          </a:xfrm>
          <a:prstGeom prst="roundRect">
            <a:avLst>
              <a:gd name="adj" fmla="val 50000"/>
            </a:avLst>
          </a:prstGeom>
          <a:solidFill>
            <a:srgbClr val="16181B"/>
          </a:solidFill>
          <a:ln w="12700">
            <a:solidFill>
              <a:srgbClr val="1618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176272"/>
            <a:ext cx="2148840" cy="329184"/>
          </a:xfrm>
          <a:prstGeom prst="rect">
            <a:avLst/>
          </a:prstGeom>
          <a:noFill/>
        </p:spPr>
        <p:txBody>
          <a:bodyPr wrap="square" lIns="0" rIns="0" tIns="0" bIns="0" anchor="ctr">
            <a:spAutoFit/>
          </a:bodyPr>
          <a:lstStyle/>
          <a:p>
            <a:pPr algn="ctr">
              <a:spcAft>
                <a:spcPts val="0"/>
              </a:spcAft>
            </a:pPr>
            <a:r>
              <a:rPr sz="1100" b="1">
                <a:solidFill>
                  <a:srgbClr val="FFFFFF"/>
                </a:solidFill>
                <a:latin typeface="Arial"/>
              </a:rPr>
              <a:t>B2G · Municipality</a:t>
            </a:r>
          </a:p>
        </p:txBody>
      </p:sp>
      <p:sp>
        <p:nvSpPr>
          <p:cNvPr id="8" name="TextBox 7"/>
          <p:cNvSpPr txBox="1"/>
          <p:nvPr/>
        </p:nvSpPr>
        <p:spPr>
          <a:xfrm>
            <a:off x="822960" y="2697480"/>
            <a:ext cx="4937760" cy="457200"/>
          </a:xfrm>
          <a:prstGeom prst="rect">
            <a:avLst/>
          </a:prstGeom>
          <a:noFill/>
        </p:spPr>
        <p:txBody>
          <a:bodyPr wrap="square" lIns="0" rIns="0" tIns="0" bIns="0" anchor="t">
            <a:spAutoFit/>
          </a:bodyPr>
          <a:lstStyle/>
          <a:p>
            <a:pPr algn="l">
              <a:spcAft>
                <a:spcPts val="0"/>
              </a:spcAft>
            </a:pPr>
            <a:r>
              <a:rPr sz="2000" b="1">
                <a:solidFill>
                  <a:srgbClr val="16181B"/>
                </a:solidFill>
                <a:latin typeface="Arial"/>
              </a:rPr>
              <a:t>The city's official outage map</a:t>
            </a:r>
          </a:p>
        </p:txBody>
      </p:sp>
      <p:sp>
        <p:nvSpPr>
          <p:cNvPr id="9" name="Oval 8"/>
          <p:cNvSpPr/>
          <p:nvPr/>
        </p:nvSpPr>
        <p:spPr>
          <a:xfrm>
            <a:off x="868680" y="3355848"/>
            <a:ext cx="118872" cy="118872"/>
          </a:xfrm>
          <a:prstGeom prst="ellipse">
            <a:avLst/>
          </a:prstGeom>
          <a:solidFill>
            <a:srgbClr val="1F5F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3291840"/>
            <a:ext cx="4663440" cy="640080"/>
          </a:xfrm>
          <a:prstGeom prst="rect">
            <a:avLst/>
          </a:prstGeom>
          <a:noFill/>
        </p:spPr>
        <p:txBody>
          <a:bodyPr wrap="square" lIns="0" rIns="0" tIns="0" bIns="0" anchor="t">
            <a:spAutoFit/>
          </a:bodyPr>
          <a:lstStyle/>
          <a:p>
            <a:pPr algn="l">
              <a:lnSpc>
                <a:spcPct val="105000"/>
              </a:lnSpc>
              <a:spcAft>
                <a:spcPts val="0"/>
              </a:spcAft>
            </a:pPr>
            <a:r>
              <a:rPr sz="1250" b="1">
                <a:solidFill>
                  <a:srgbClr val="16181B"/>
                </a:solidFill>
                <a:latin typeface="Arial"/>
              </a:rPr>
              <a:t>One place for everyone</a:t>
            </a:r>
          </a:p>
          <a:p>
            <a:pPr algn="l">
              <a:lnSpc>
                <a:spcPct val="105000"/>
              </a:lnSpc>
              <a:spcAft>
                <a:spcPts val="0"/>
              </a:spcAft>
            </a:pPr>
            <a:r>
              <a:rPr sz="1100" b="0">
                <a:solidFill>
                  <a:srgbClr val="555A61"/>
                </a:solidFill>
                <a:latin typeface="Arial"/>
              </a:rPr>
              <a:t>City Hall offers the all-in-one map to its 720K residents, under its own brand</a:t>
            </a:r>
          </a:p>
        </p:txBody>
      </p:sp>
      <p:sp>
        <p:nvSpPr>
          <p:cNvPr id="11" name="Oval 10"/>
          <p:cNvSpPr/>
          <p:nvPr/>
        </p:nvSpPr>
        <p:spPr>
          <a:xfrm>
            <a:off x="868680" y="4023360"/>
            <a:ext cx="118872" cy="118872"/>
          </a:xfrm>
          <a:prstGeom prst="ellipse">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3959352"/>
            <a:ext cx="4663440" cy="640080"/>
          </a:xfrm>
          <a:prstGeom prst="rect">
            <a:avLst/>
          </a:prstGeom>
          <a:noFill/>
        </p:spPr>
        <p:txBody>
          <a:bodyPr wrap="square" lIns="0" rIns="0" tIns="0" bIns="0" anchor="t">
            <a:spAutoFit/>
          </a:bodyPr>
          <a:lstStyle/>
          <a:p>
            <a:pPr algn="l">
              <a:lnSpc>
                <a:spcPct val="105000"/>
              </a:lnSpc>
              <a:spcAft>
                <a:spcPts val="0"/>
              </a:spcAft>
            </a:pPr>
            <a:r>
              <a:rPr sz="1250" b="1">
                <a:solidFill>
                  <a:srgbClr val="16181B"/>
                </a:solidFill>
                <a:latin typeface="Arial"/>
              </a:rPr>
              <a:t>Data straight from the source</a:t>
            </a:r>
          </a:p>
          <a:p>
            <a:pPr algn="l">
              <a:lnSpc>
                <a:spcPct val="105000"/>
              </a:lnSpc>
              <a:spcAft>
                <a:spcPts val="0"/>
              </a:spcAft>
            </a:pPr>
            <a:r>
              <a:rPr sz="1100" b="0">
                <a:solidFill>
                  <a:srgbClr val="555A61"/>
                </a:solidFill>
                <a:latin typeface="Arial"/>
              </a:rPr>
              <a:t>Municipal providers such as Apă-Canal publish directly, with no scraping</a:t>
            </a:r>
          </a:p>
        </p:txBody>
      </p:sp>
      <p:sp>
        <p:nvSpPr>
          <p:cNvPr id="13" name="Oval 12"/>
          <p:cNvSpPr/>
          <p:nvPr/>
        </p:nvSpPr>
        <p:spPr>
          <a:xfrm>
            <a:off x="868680" y="4690872"/>
            <a:ext cx="118872" cy="118872"/>
          </a:xfrm>
          <a:prstGeom prst="ellipse">
            <a:avLst/>
          </a:prstGeom>
          <a:solidFill>
            <a:srgbClr val="1C7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4626864"/>
            <a:ext cx="4663440" cy="640080"/>
          </a:xfrm>
          <a:prstGeom prst="rect">
            <a:avLst/>
          </a:prstGeom>
          <a:noFill/>
        </p:spPr>
        <p:txBody>
          <a:bodyPr wrap="square" lIns="0" rIns="0" tIns="0" bIns="0" anchor="t">
            <a:spAutoFit/>
          </a:bodyPr>
          <a:lstStyle/>
          <a:p>
            <a:pPr algn="l">
              <a:lnSpc>
                <a:spcPct val="105000"/>
              </a:lnSpc>
              <a:spcAft>
                <a:spcPts val="0"/>
              </a:spcAft>
            </a:pPr>
            <a:r>
              <a:rPr sz="1250" b="1">
                <a:solidFill>
                  <a:srgbClr val="16181B"/>
                </a:solidFill>
                <a:latin typeface="Arial"/>
              </a:rPr>
              <a:t>A live picture for the city</a:t>
            </a:r>
          </a:p>
          <a:p>
            <a:pPr algn="l">
              <a:lnSpc>
                <a:spcPct val="105000"/>
              </a:lnSpc>
              <a:spcAft>
                <a:spcPts val="0"/>
              </a:spcAft>
            </a:pPr>
            <a:r>
              <a:rPr sz="1100" b="0">
                <a:solidFill>
                  <a:srgbClr val="555A61"/>
                </a:solidFill>
                <a:latin typeface="Arial"/>
              </a:rPr>
              <a:t>Confirmed breakdowns across Chișinău in real time, for dispatch and planning</a:t>
            </a:r>
          </a:p>
        </p:txBody>
      </p:sp>
      <p:sp>
        <p:nvSpPr>
          <p:cNvPr id="15" name="Oval 14"/>
          <p:cNvSpPr/>
          <p:nvPr/>
        </p:nvSpPr>
        <p:spPr>
          <a:xfrm>
            <a:off x="868680" y="5358384"/>
            <a:ext cx="118872" cy="118872"/>
          </a:xfrm>
          <a:prstGeom prst="ellipse">
            <a:avLst/>
          </a:prstGeom>
          <a:solidFill>
            <a:srgbClr val="16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5294376"/>
            <a:ext cx="4663440" cy="640080"/>
          </a:xfrm>
          <a:prstGeom prst="rect">
            <a:avLst/>
          </a:prstGeom>
          <a:noFill/>
        </p:spPr>
        <p:txBody>
          <a:bodyPr wrap="square" lIns="0" rIns="0" tIns="0" bIns="0" anchor="t">
            <a:spAutoFit/>
          </a:bodyPr>
          <a:lstStyle/>
          <a:p>
            <a:pPr algn="l">
              <a:lnSpc>
                <a:spcPct val="105000"/>
              </a:lnSpc>
              <a:spcAft>
                <a:spcPts val="0"/>
              </a:spcAft>
            </a:pPr>
            <a:r>
              <a:rPr sz="1250" b="1">
                <a:solidFill>
                  <a:srgbClr val="16181B"/>
                </a:solidFill>
                <a:latin typeface="Arial"/>
              </a:rPr>
              <a:t>Fewer hotline calls</a:t>
            </a:r>
          </a:p>
          <a:p>
            <a:pPr algn="l">
              <a:lnSpc>
                <a:spcPct val="105000"/>
              </a:lnSpc>
              <a:spcAft>
                <a:spcPts val="0"/>
              </a:spcAft>
            </a:pPr>
            <a:r>
              <a:rPr sz="1100" b="0">
                <a:solidFill>
                  <a:srgbClr val="555A61"/>
                </a:solidFill>
                <a:latin typeface="Arial"/>
              </a:rPr>
              <a:t>Residents check the map instead of calling the provider</a:t>
            </a:r>
          </a:p>
        </p:txBody>
      </p:sp>
      <p:sp>
        <p:nvSpPr>
          <p:cNvPr id="17" name="Rounded Rectangle 16"/>
          <p:cNvSpPr/>
          <p:nvPr/>
        </p:nvSpPr>
        <p:spPr>
          <a:xfrm>
            <a:off x="6199632" y="1920240"/>
            <a:ext cx="5440680" cy="4160520"/>
          </a:xfrm>
          <a:prstGeom prst="roundRect">
            <a:avLst>
              <a:gd name="adj" fmla="val 6593"/>
            </a:avLst>
          </a:prstGeom>
          <a:solidFill>
            <a:srgbClr val="171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73952" y="2176272"/>
            <a:ext cx="2788920" cy="329184"/>
          </a:xfrm>
          <a:prstGeom prst="roundRect">
            <a:avLst>
              <a:gd name="adj" fmla="val 50000"/>
            </a:avLst>
          </a:prstGeom>
          <a:solidFill>
            <a:srgbClr val="ECEEF1"/>
          </a:solidFill>
          <a:ln w="12700">
            <a:solidFill>
              <a:srgbClr val="ECEE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2" y="2176272"/>
            <a:ext cx="2788920" cy="329184"/>
          </a:xfrm>
          <a:prstGeom prst="rect">
            <a:avLst/>
          </a:prstGeom>
          <a:noFill/>
        </p:spPr>
        <p:txBody>
          <a:bodyPr wrap="square" lIns="0" rIns="0" tIns="0" bIns="0" anchor="ctr">
            <a:spAutoFit/>
          </a:bodyPr>
          <a:lstStyle/>
          <a:p>
            <a:pPr algn="ctr">
              <a:spcAft>
                <a:spcPts val="0"/>
              </a:spcAft>
            </a:pPr>
            <a:r>
              <a:rPr sz="1100" b="1">
                <a:solidFill>
                  <a:srgbClr val="0F1216"/>
                </a:solidFill>
                <a:latin typeface="Arial"/>
              </a:rPr>
              <a:t>B2C · Freemium Telegram bot</a:t>
            </a:r>
          </a:p>
        </p:txBody>
      </p:sp>
      <p:sp>
        <p:nvSpPr>
          <p:cNvPr id="20" name="TextBox 19"/>
          <p:cNvSpPr txBox="1"/>
          <p:nvPr/>
        </p:nvSpPr>
        <p:spPr>
          <a:xfrm>
            <a:off x="6473952" y="2697480"/>
            <a:ext cx="3017520" cy="822960"/>
          </a:xfrm>
          <a:prstGeom prst="rect">
            <a:avLst/>
          </a:prstGeom>
          <a:noFill/>
        </p:spPr>
        <p:txBody>
          <a:bodyPr wrap="square" lIns="0" rIns="0" tIns="0" bIns="0" anchor="t">
            <a:spAutoFit/>
          </a:bodyPr>
          <a:lstStyle/>
          <a:p>
            <a:pPr algn="l">
              <a:lnSpc>
                <a:spcPct val="100000"/>
              </a:lnSpc>
              <a:spcAft>
                <a:spcPts val="0"/>
              </a:spcAft>
            </a:pPr>
            <a:r>
              <a:rPr sz="2000" b="1">
                <a:solidFill>
                  <a:srgbClr val="ECEEF1"/>
                </a:solidFill>
                <a:latin typeface="Arial"/>
              </a:rPr>
              <a:t>Your daily outage forecast</a:t>
            </a:r>
          </a:p>
        </p:txBody>
      </p:sp>
      <p:sp>
        <p:nvSpPr>
          <p:cNvPr id="21" name="TextBox 20"/>
          <p:cNvSpPr txBox="1"/>
          <p:nvPr/>
        </p:nvSpPr>
        <p:spPr>
          <a:xfrm>
            <a:off x="6473952" y="3520440"/>
            <a:ext cx="2926080" cy="1188720"/>
          </a:xfrm>
          <a:prstGeom prst="rect">
            <a:avLst/>
          </a:prstGeom>
          <a:noFill/>
        </p:spPr>
        <p:txBody>
          <a:bodyPr wrap="square" lIns="0" rIns="0" tIns="0" bIns="0" anchor="t">
            <a:spAutoFit/>
          </a:bodyPr>
          <a:lstStyle/>
          <a:p>
            <a:pPr algn="l">
              <a:lnSpc>
                <a:spcPct val="105000"/>
              </a:lnSpc>
              <a:spcAft>
                <a:spcPts val="200"/>
              </a:spcAft>
            </a:pPr>
            <a:r>
              <a:rPr sz="1250" b="1">
                <a:solidFill>
                  <a:srgbClr val="ECEEF1"/>
                </a:solidFill>
                <a:latin typeface="Arial"/>
              </a:rPr>
              <a:t>Free</a:t>
            </a:r>
          </a:p>
          <a:p>
            <a:pPr algn="l">
              <a:lnSpc>
                <a:spcPct val="105000"/>
              </a:lnSpc>
              <a:spcAft>
                <a:spcPts val="200"/>
              </a:spcAft>
            </a:pPr>
            <a:r>
              <a:rPr sz="1100" b="0">
                <a:solidFill>
                  <a:srgbClr val="A9B0B9"/>
                </a:solidFill>
                <a:latin typeface="Arial"/>
              </a:rPr>
              <a:t>Every morning: what's off today at your address</a:t>
            </a:r>
          </a:p>
          <a:p>
            <a:pPr algn="l">
              <a:lnSpc>
                <a:spcPct val="105000"/>
              </a:lnSpc>
              <a:spcAft>
                <a:spcPts val="200"/>
              </a:spcAft>
            </a:pPr>
            <a:r>
              <a:rPr sz="1100" b="0">
                <a:solidFill>
                  <a:srgbClr val="A9B0B9"/>
                </a:solidFill>
                <a:latin typeface="Arial"/>
              </a:rPr>
              <a:t>Next week's planned cuts, so there are no surprises</a:t>
            </a:r>
          </a:p>
        </p:txBody>
      </p:sp>
      <p:sp>
        <p:nvSpPr>
          <p:cNvPr id="22" name="TextBox 21"/>
          <p:cNvSpPr txBox="1"/>
          <p:nvPr/>
        </p:nvSpPr>
        <p:spPr>
          <a:xfrm>
            <a:off x="6473952" y="4846320"/>
            <a:ext cx="2926080" cy="1188720"/>
          </a:xfrm>
          <a:prstGeom prst="rect">
            <a:avLst/>
          </a:prstGeom>
          <a:noFill/>
        </p:spPr>
        <p:txBody>
          <a:bodyPr wrap="square" lIns="0" rIns="0" tIns="0" bIns="0" anchor="t">
            <a:spAutoFit/>
          </a:bodyPr>
          <a:lstStyle/>
          <a:p>
            <a:pPr algn="l">
              <a:lnSpc>
                <a:spcPct val="105000"/>
              </a:lnSpc>
              <a:spcAft>
                <a:spcPts val="200"/>
              </a:spcAft>
            </a:pPr>
            <a:r>
              <a:rPr sz="1250" b="1">
                <a:solidFill>
                  <a:srgbClr val="FACC15"/>
                </a:solidFill>
                <a:latin typeface="Arial"/>
              </a:rPr>
              <a:t>Premium</a:t>
            </a:r>
          </a:p>
          <a:p>
            <a:pPr algn="l">
              <a:lnSpc>
                <a:spcPct val="105000"/>
              </a:lnSpc>
              <a:spcAft>
                <a:spcPts val="200"/>
              </a:spcAft>
            </a:pPr>
            <a:r>
              <a:rPr sz="1100" b="0">
                <a:solidFill>
                  <a:srgbClr val="A9B0B9"/>
                </a:solidFill>
                <a:latin typeface="Arial"/>
              </a:rPr>
              <a:t>Several addresses: home, parents, office</a:t>
            </a:r>
          </a:p>
          <a:p>
            <a:pPr algn="l">
              <a:lnSpc>
                <a:spcPct val="105000"/>
              </a:lnSpc>
              <a:spcAft>
                <a:spcPts val="200"/>
              </a:spcAft>
            </a:pPr>
            <a:r>
              <a:rPr sz="1100" b="0">
                <a:solidFill>
                  <a:srgbClr val="A9B0B9"/>
                </a:solidFill>
                <a:latin typeface="Arial"/>
              </a:rPr>
              <a:t>Instant alert when a breakdown is confirmed nearby</a:t>
            </a:r>
          </a:p>
        </p:txBody>
      </p:sp>
      <p:sp>
        <p:nvSpPr>
          <p:cNvPr id="23" name="Rounded Rectangle 22"/>
          <p:cNvSpPr/>
          <p:nvPr/>
        </p:nvSpPr>
        <p:spPr>
          <a:xfrm>
            <a:off x="9555480" y="2176272"/>
            <a:ext cx="1874519" cy="3657600"/>
          </a:xfrm>
          <a:prstGeom prst="roundRect">
            <a:avLst>
              <a:gd name="adj" fmla="val 12195"/>
            </a:avLst>
          </a:prstGeom>
          <a:solidFill>
            <a:srgbClr val="0F12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0" y="2313432"/>
            <a:ext cx="274320" cy="274320"/>
          </a:xfrm>
          <a:prstGeom prst="ellipse">
            <a:avLst/>
          </a:prstGeom>
          <a:solidFill>
            <a:srgbClr val="7A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30967" y="2286000"/>
            <a:ext cx="1371600" cy="329184"/>
          </a:xfrm>
          <a:prstGeom prst="rect">
            <a:avLst/>
          </a:prstGeom>
          <a:noFill/>
        </p:spPr>
        <p:txBody>
          <a:bodyPr wrap="square" lIns="0" rIns="0" tIns="0" bIns="0" anchor="t">
            <a:spAutoFit/>
          </a:bodyPr>
          <a:lstStyle/>
          <a:p>
            <a:pPr algn="l">
              <a:lnSpc>
                <a:spcPct val="95000"/>
              </a:lnSpc>
              <a:spcAft>
                <a:spcPts val="0"/>
              </a:spcAft>
            </a:pPr>
            <a:r>
              <a:rPr sz="950" b="1">
                <a:solidFill>
                  <a:srgbClr val="ECEEF1"/>
                </a:solidFill>
                <a:latin typeface="Arial"/>
              </a:rPr>
              <a:t>WIP Outages</a:t>
            </a:r>
          </a:p>
          <a:p>
            <a:pPr algn="l">
              <a:lnSpc>
                <a:spcPct val="95000"/>
              </a:lnSpc>
              <a:spcAft>
                <a:spcPts val="0"/>
              </a:spcAft>
            </a:pPr>
            <a:r>
              <a:rPr sz="800" b="0">
                <a:solidFill>
                  <a:srgbClr val="A9B0B9"/>
                </a:solidFill>
                <a:latin typeface="Arial"/>
              </a:rPr>
              <a:t>bot</a:t>
            </a:r>
          </a:p>
        </p:txBody>
      </p:sp>
      <p:sp>
        <p:nvSpPr>
          <p:cNvPr id="26" name="Rounded Rectangle 25"/>
          <p:cNvSpPr/>
          <p:nvPr/>
        </p:nvSpPr>
        <p:spPr>
          <a:xfrm>
            <a:off x="9665207" y="2743200"/>
            <a:ext cx="1536191" cy="960120"/>
          </a:xfrm>
          <a:prstGeom prst="roundRect">
            <a:avLst>
              <a:gd name="adj" fmla="val 11428"/>
            </a:avLst>
          </a:prstGeom>
          <a:solidFill>
            <a:srgbClr val="1F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74935" y="2816352"/>
            <a:ext cx="1316735" cy="850392"/>
          </a:xfrm>
          <a:prstGeom prst="rect">
            <a:avLst/>
          </a:prstGeom>
          <a:noFill/>
        </p:spPr>
        <p:txBody>
          <a:bodyPr wrap="square" lIns="0" rIns="0" tIns="0" bIns="0" anchor="t">
            <a:spAutoFit/>
          </a:bodyPr>
          <a:lstStyle/>
          <a:p>
            <a:pPr algn="l">
              <a:lnSpc>
                <a:spcPct val="105000"/>
              </a:lnSpc>
              <a:spcAft>
                <a:spcPts val="0"/>
              </a:spcAft>
            </a:pPr>
            <a:r>
              <a:rPr sz="850" b="1">
                <a:solidFill>
                  <a:srgbClr val="ECEEF1"/>
                </a:solidFill>
                <a:latin typeface="Arial"/>
              </a:rPr>
              <a:t>Good morning!</a:t>
            </a:r>
            <a:r>
              <a:rPr sz="850" b="0">
                <a:solidFill>
                  <a:srgbClr val="ECEEF1"/>
                </a:solidFill>
                <a:latin typeface="Arial"/>
              </a:rPr>
              <a:t>
Today at Home: no outages.</a:t>
            </a:r>
          </a:p>
        </p:txBody>
      </p:sp>
      <p:sp>
        <p:nvSpPr>
          <p:cNvPr id="28" name="Rounded Rectangle 27"/>
          <p:cNvSpPr/>
          <p:nvPr/>
        </p:nvSpPr>
        <p:spPr>
          <a:xfrm>
            <a:off x="9665207" y="3822191"/>
            <a:ext cx="1536191" cy="1325880"/>
          </a:xfrm>
          <a:prstGeom prst="roundRect">
            <a:avLst>
              <a:gd name="adj" fmla="val 8275"/>
            </a:avLst>
          </a:prstGeom>
          <a:solidFill>
            <a:srgbClr val="1F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972799" y="3941063"/>
            <a:ext cx="109728" cy="109728"/>
          </a:xfrm>
          <a:prstGeom prst="ellipse">
            <a:avLst/>
          </a:prstGeom>
          <a:solidFill>
            <a:srgbClr val="7A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74935" y="3895344"/>
            <a:ext cx="1316735" cy="1216152"/>
          </a:xfrm>
          <a:prstGeom prst="rect">
            <a:avLst/>
          </a:prstGeom>
          <a:noFill/>
        </p:spPr>
        <p:txBody>
          <a:bodyPr wrap="square" lIns="0" rIns="0" tIns="0" bIns="0" anchor="t">
            <a:spAutoFit/>
          </a:bodyPr>
          <a:lstStyle/>
          <a:p>
            <a:pPr algn="l">
              <a:lnSpc>
                <a:spcPct val="105000"/>
              </a:lnSpc>
              <a:spcAft>
                <a:spcPts val="0"/>
              </a:spcAft>
            </a:pPr>
            <a:r>
              <a:rPr sz="850" b="1">
                <a:solidFill>
                  <a:srgbClr val="ECEEF1"/>
                </a:solidFill>
                <a:latin typeface="Arial"/>
              </a:rPr>
              <a:t>Next week</a:t>
            </a:r>
            <a:r>
              <a:rPr sz="850" b="0">
                <a:solidFill>
                  <a:srgbClr val="ECEEF1"/>
                </a:solidFill>
                <a:latin typeface="Arial"/>
              </a:rPr>
              <a:t>
Water off · Tue 30 Sep
09:00–21:00
Str. Drumul Viilor 28</a:t>
            </a:r>
          </a:p>
        </p:txBody>
      </p:sp>
      <p:sp>
        <p:nvSpPr>
          <p:cNvPr id="31" name="Rounded Rectangle 30"/>
          <p:cNvSpPr/>
          <p:nvPr/>
        </p:nvSpPr>
        <p:spPr>
          <a:xfrm>
            <a:off x="9784080" y="5266944"/>
            <a:ext cx="1536191" cy="457200"/>
          </a:xfrm>
          <a:prstGeom prst="roundRect">
            <a:avLst>
              <a:gd name="adj" fmla="val 24000"/>
            </a:avLst>
          </a:prstGeom>
          <a:solidFill>
            <a:srgbClr val="EC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93807" y="5340096"/>
            <a:ext cx="1316735" cy="347472"/>
          </a:xfrm>
          <a:prstGeom prst="rect">
            <a:avLst/>
          </a:prstGeom>
          <a:noFill/>
        </p:spPr>
        <p:txBody>
          <a:bodyPr wrap="square" lIns="0" rIns="0" tIns="0" bIns="0" anchor="t">
            <a:spAutoFit/>
          </a:bodyPr>
          <a:lstStyle/>
          <a:p>
            <a:pPr algn="l">
              <a:lnSpc>
                <a:spcPct val="105000"/>
              </a:lnSpc>
              <a:spcAft>
                <a:spcPts val="0"/>
              </a:spcAft>
            </a:pPr>
            <a:r>
              <a:rPr sz="850" b="0">
                <a:solidFill>
                  <a:srgbClr val="0F1216"/>
                </a:solidFill>
                <a:latin typeface="Arial"/>
              </a:rPr>
              <a:t>Remind me the day before</a:t>
            </a:r>
          </a:p>
        </p:txBody>
      </p:sp>
      <p:sp>
        <p:nvSpPr>
          <p:cNvPr id="33" name="TextBox 32"/>
          <p:cNvSpPr txBox="1"/>
          <p:nvPr/>
        </p:nvSpPr>
        <p:spPr>
          <a:xfrm>
            <a:off x="9555480" y="5879592"/>
            <a:ext cx="1874519" cy="182880"/>
          </a:xfrm>
          <a:prstGeom prst="rect">
            <a:avLst/>
          </a:prstGeom>
          <a:noFill/>
        </p:spPr>
        <p:txBody>
          <a:bodyPr wrap="square" lIns="0" rIns="0" tIns="0" bIns="0" anchor="t">
            <a:spAutoFit/>
          </a:bodyPr>
          <a:lstStyle/>
          <a:p>
            <a:pPr algn="ctr">
              <a:spcAft>
                <a:spcPts val="0"/>
              </a:spcAft>
            </a:pPr>
            <a:r>
              <a:rPr sz="850" b="0">
                <a:solidFill>
                  <a:srgbClr val="A9B0B9"/>
                </a:solidFill>
                <a:latin typeface="Arial"/>
              </a:rPr>
              <a:t>Forecast: concept</a:t>
            </a:r>
          </a:p>
        </p:txBody>
      </p:sp>
      <p:sp>
        <p:nvSpPr>
          <p:cNvPr id="34" name="Rounded Rectangle 33"/>
          <p:cNvSpPr/>
          <p:nvPr/>
        </p:nvSpPr>
        <p:spPr>
          <a:xfrm>
            <a:off x="548640" y="6291072"/>
            <a:ext cx="237744" cy="237744"/>
          </a:xfrm>
          <a:prstGeom prst="roundRect">
            <a:avLst>
              <a:gd name="adj" fmla="val 28125"/>
            </a:avLst>
          </a:prstGeom>
          <a:solidFill>
            <a:srgbClr val="16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00646" y="6391370"/>
            <a:ext cx="133731" cy="37147"/>
          </a:xfrm>
          <a:prstGeom prst="roundRect">
            <a:avLst>
              <a:gd name="adj" fmla="val 50000"/>
            </a:avLst>
          </a:prstGeom>
          <a:solidFill>
            <a:srgbClr val="5C5D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00646" y="6391370"/>
            <a:ext cx="81724" cy="37147"/>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960120" y="6409944"/>
            <a:ext cx="8503920" cy="0"/>
          </a:xfrm>
          <a:prstGeom prst="line">
            <a:avLst/>
          </a:prstGeom>
          <a:ln w="9525">
            <a:solidFill>
              <a:srgbClr val="C4C4BB"/>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601200" y="6291072"/>
            <a:ext cx="2039112" cy="237744"/>
          </a:xfrm>
          <a:prstGeom prst="rect">
            <a:avLst/>
          </a:prstGeom>
          <a:noFill/>
        </p:spPr>
        <p:txBody>
          <a:bodyPr wrap="square" lIns="0" rIns="0" tIns="0" bIns="0" anchor="ctr">
            <a:spAutoFit/>
          </a:bodyPr>
          <a:lstStyle/>
          <a:p>
            <a:pPr algn="r">
              <a:spcAft>
                <a:spcPts val="0"/>
              </a:spcAft>
            </a:pPr>
            <a:r>
              <a:rPr sz="1000" b="0">
                <a:solidFill>
                  <a:srgbClr val="555A61"/>
                </a:solidFill>
                <a:latin typeface="Arial"/>
              </a:rPr>
              <a:t>Work In Progress · Chișinău</a:t>
            </a:r>
            <a:r>
              <a:rPr sz="1000" b="1">
                <a:solidFill>
                  <a:srgbClr val="555A61"/>
                </a:solidFill>
                <a:latin typeface="Arial"/>
              </a:rPr>
              <a:t>   B2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5486400" cy="274320"/>
          </a:xfrm>
          <a:prstGeom prst="rect">
            <a:avLst/>
          </a:prstGeom>
          <a:noFill/>
        </p:spPr>
        <p:txBody>
          <a:bodyPr wrap="square" lIns="0" rIns="0" tIns="0" bIns="0" anchor="t">
            <a:spAutoFit/>
          </a:bodyPr>
          <a:lstStyle/>
          <a:p>
            <a:pPr algn="l">
              <a:spcAft>
                <a:spcPts val="0"/>
              </a:spcAft>
            </a:pPr>
            <a:r>
              <a:rPr sz="1100" b="1" spc="300">
                <a:solidFill>
                  <a:srgbClr val="555A61"/>
                </a:solidFill>
                <a:latin typeface="Arial"/>
              </a:rPr>
              <a:t>BACKUP · DATA FLOW &amp; TRUST RULES</a:t>
            </a:r>
          </a:p>
        </p:txBody>
      </p:sp>
      <p:sp>
        <p:nvSpPr>
          <p:cNvPr id="3" name="TextBox 2"/>
          <p:cNvSpPr txBox="1"/>
          <p:nvPr/>
        </p:nvSpPr>
        <p:spPr>
          <a:xfrm>
            <a:off x="548640" y="713232"/>
            <a:ext cx="8229600" cy="640080"/>
          </a:xfrm>
          <a:prstGeom prst="rect">
            <a:avLst/>
          </a:prstGeom>
          <a:noFill/>
        </p:spPr>
        <p:txBody>
          <a:bodyPr wrap="square" lIns="0" rIns="0" tIns="0" bIns="0" anchor="t">
            <a:spAutoFit/>
          </a:bodyPr>
          <a:lstStyle/>
          <a:p>
            <a:pPr algn="l">
              <a:spcAft>
                <a:spcPts val="0"/>
              </a:spcAft>
            </a:pPr>
            <a:r>
              <a:rPr sz="3200" b="1">
                <a:solidFill>
                  <a:srgbClr val="16181B"/>
                </a:solidFill>
                <a:latin typeface="Arial"/>
              </a:rPr>
              <a:t>Official data + neighbour verification</a:t>
            </a:r>
          </a:p>
        </p:txBody>
      </p:sp>
      <p:sp>
        <p:nvSpPr>
          <p:cNvPr id="4" name="Rounded Rectangle 3"/>
          <p:cNvSpPr/>
          <p:nvPr/>
        </p:nvSpPr>
        <p:spPr>
          <a:xfrm>
            <a:off x="548640" y="1508760"/>
            <a:ext cx="11091672" cy="2011680"/>
          </a:xfrm>
          <a:prstGeom prst="roundRect">
            <a:avLst>
              <a:gd name="adj" fmla="val 11363"/>
            </a:avLst>
          </a:prstGeom>
          <a:solidFill>
            <a:srgbClr val="F3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664208"/>
            <a:ext cx="2377440" cy="292608"/>
          </a:xfrm>
          <a:prstGeom prst="roundRect">
            <a:avLst>
              <a:gd name="adj" fmla="val 50000"/>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755648"/>
            <a:ext cx="109728" cy="109728"/>
          </a:xfrm>
          <a:prstGeom prst="ellipse">
            <a:avLst/>
          </a:prstGeom>
          <a:solidFill>
            <a:srgbClr val="555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664208"/>
            <a:ext cx="2011680" cy="292608"/>
          </a:xfrm>
          <a:prstGeom prst="rect">
            <a:avLst/>
          </a:prstGeom>
          <a:noFill/>
        </p:spPr>
        <p:txBody>
          <a:bodyPr wrap="square" lIns="0" rIns="0" tIns="0" bIns="0" anchor="ctr">
            <a:spAutoFit/>
          </a:bodyPr>
          <a:lstStyle/>
          <a:p>
            <a:pPr algn="l">
              <a:spcAft>
                <a:spcPts val="0"/>
              </a:spcAft>
            </a:pPr>
            <a:r>
              <a:rPr sz="1050" b="0">
                <a:solidFill>
                  <a:srgbClr val="16181B"/>
                </a:solidFill>
                <a:latin typeface="Arial"/>
              </a:rPr>
              <a:t>Apă-Canal Chișinău</a:t>
            </a:r>
          </a:p>
        </p:txBody>
      </p:sp>
      <p:sp>
        <p:nvSpPr>
          <p:cNvPr id="8" name="Rounded Rectangle 7"/>
          <p:cNvSpPr/>
          <p:nvPr/>
        </p:nvSpPr>
        <p:spPr>
          <a:xfrm>
            <a:off x="777240" y="2029968"/>
            <a:ext cx="2377440" cy="292608"/>
          </a:xfrm>
          <a:prstGeom prst="roundRect">
            <a:avLst>
              <a:gd name="adj" fmla="val 50000"/>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2121408"/>
            <a:ext cx="109728" cy="109728"/>
          </a:xfrm>
          <a:prstGeom prst="ellipse">
            <a:avLst/>
          </a:prstGeom>
          <a:solidFill>
            <a:srgbClr val="555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029968"/>
            <a:ext cx="2011680" cy="292608"/>
          </a:xfrm>
          <a:prstGeom prst="rect">
            <a:avLst/>
          </a:prstGeom>
          <a:noFill/>
        </p:spPr>
        <p:txBody>
          <a:bodyPr wrap="square" lIns="0" rIns="0" tIns="0" bIns="0" anchor="ctr">
            <a:spAutoFit/>
          </a:bodyPr>
          <a:lstStyle/>
          <a:p>
            <a:pPr algn="l">
              <a:spcAft>
                <a:spcPts val="0"/>
              </a:spcAft>
            </a:pPr>
            <a:r>
              <a:rPr sz="1050" b="0">
                <a:solidFill>
                  <a:srgbClr val="16181B"/>
                </a:solidFill>
                <a:latin typeface="Arial"/>
              </a:rPr>
              <a:t>Premier Energy</a:t>
            </a:r>
          </a:p>
        </p:txBody>
      </p:sp>
      <p:sp>
        <p:nvSpPr>
          <p:cNvPr id="11" name="Rounded Rectangle 10"/>
          <p:cNvSpPr/>
          <p:nvPr/>
        </p:nvSpPr>
        <p:spPr>
          <a:xfrm>
            <a:off x="777240" y="2395728"/>
            <a:ext cx="2377440" cy="292608"/>
          </a:xfrm>
          <a:prstGeom prst="roundRect">
            <a:avLst>
              <a:gd name="adj" fmla="val 50000"/>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2487168"/>
            <a:ext cx="109728" cy="109728"/>
          </a:xfrm>
          <a:prstGeom prst="ellipse">
            <a:avLst/>
          </a:prstGeom>
          <a:solidFill>
            <a:srgbClr val="555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395728"/>
            <a:ext cx="2011680" cy="292608"/>
          </a:xfrm>
          <a:prstGeom prst="rect">
            <a:avLst/>
          </a:prstGeom>
          <a:noFill/>
        </p:spPr>
        <p:txBody>
          <a:bodyPr wrap="square" lIns="0" rIns="0" tIns="0" bIns="0" anchor="ctr">
            <a:spAutoFit/>
          </a:bodyPr>
          <a:lstStyle/>
          <a:p>
            <a:pPr algn="l">
              <a:spcAft>
                <a:spcPts val="0"/>
              </a:spcAft>
            </a:pPr>
            <a:r>
              <a:rPr sz="1050" b="0">
                <a:solidFill>
                  <a:srgbClr val="16181B"/>
                </a:solidFill>
                <a:latin typeface="Arial"/>
              </a:rPr>
              <a:t>Energocom</a:t>
            </a:r>
          </a:p>
        </p:txBody>
      </p:sp>
      <p:sp>
        <p:nvSpPr>
          <p:cNvPr id="14" name="Rounded Rectangle 13"/>
          <p:cNvSpPr/>
          <p:nvPr/>
        </p:nvSpPr>
        <p:spPr>
          <a:xfrm>
            <a:off x="777240" y="2761488"/>
            <a:ext cx="2377440" cy="292608"/>
          </a:xfrm>
          <a:prstGeom prst="roundRect">
            <a:avLst>
              <a:gd name="adj" fmla="val 50000"/>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14400" y="2852928"/>
            <a:ext cx="109728" cy="109728"/>
          </a:xfrm>
          <a:prstGeom prst="ellipse">
            <a:avLst/>
          </a:prstGeom>
          <a:solidFill>
            <a:srgbClr val="555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2761488"/>
            <a:ext cx="2011680" cy="292608"/>
          </a:xfrm>
          <a:prstGeom prst="rect">
            <a:avLst/>
          </a:prstGeom>
          <a:noFill/>
        </p:spPr>
        <p:txBody>
          <a:bodyPr wrap="square" lIns="0" rIns="0" tIns="0" bIns="0" anchor="ctr">
            <a:spAutoFit/>
          </a:bodyPr>
          <a:lstStyle/>
          <a:p>
            <a:pPr algn="l">
              <a:spcAft>
                <a:spcPts val="0"/>
              </a:spcAft>
            </a:pPr>
            <a:r>
              <a:rPr sz="1050" b="0">
                <a:solidFill>
                  <a:srgbClr val="16181B"/>
                </a:solidFill>
                <a:latin typeface="Arial"/>
              </a:rPr>
              <a:t>Chișinău-Gaz</a:t>
            </a:r>
          </a:p>
        </p:txBody>
      </p:sp>
      <p:sp>
        <p:nvSpPr>
          <p:cNvPr id="17" name="Rounded Rectangle 16"/>
          <p:cNvSpPr/>
          <p:nvPr/>
        </p:nvSpPr>
        <p:spPr>
          <a:xfrm>
            <a:off x="777240" y="3154680"/>
            <a:ext cx="2377440" cy="292608"/>
          </a:xfrm>
          <a:prstGeom prst="roundRect">
            <a:avLst>
              <a:gd name="adj" fmla="val 50000"/>
            </a:avLst>
          </a:prstGeom>
          <a:solidFill>
            <a:srgbClr val="FFFFFF"/>
          </a:solidFill>
          <a:ln w="15875">
            <a:solidFill>
              <a:srgbClr val="1618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3154680"/>
            <a:ext cx="2377440" cy="292608"/>
          </a:xfrm>
          <a:prstGeom prst="rect">
            <a:avLst/>
          </a:prstGeom>
          <a:noFill/>
        </p:spPr>
        <p:txBody>
          <a:bodyPr wrap="square" lIns="0" rIns="0" tIns="0" bIns="0" anchor="ctr">
            <a:spAutoFit/>
          </a:bodyPr>
          <a:lstStyle/>
          <a:p>
            <a:pPr algn="ctr">
              <a:spcAft>
                <a:spcPts val="0"/>
              </a:spcAft>
            </a:pPr>
            <a:r>
              <a:rPr sz="1050" b="1">
                <a:solidFill>
                  <a:srgbClr val="16181B"/>
                </a:solidFill>
                <a:latin typeface="Arial"/>
              </a:rPr>
              <a:t>Reports: web + Telegram</a:t>
            </a:r>
          </a:p>
        </p:txBody>
      </p:sp>
      <p:sp>
        <p:nvSpPr>
          <p:cNvPr id="19" name="Rounded Rectangle 18"/>
          <p:cNvSpPr/>
          <p:nvPr/>
        </p:nvSpPr>
        <p:spPr>
          <a:xfrm>
            <a:off x="3703320" y="1664208"/>
            <a:ext cx="2514600" cy="1234440"/>
          </a:xfrm>
          <a:prstGeom prst="roundRect">
            <a:avLst>
              <a:gd name="adj" fmla="val 13333"/>
            </a:avLst>
          </a:prstGeom>
          <a:solidFill>
            <a:srgbClr val="FFFFFF"/>
          </a:solidFill>
          <a:ln w="12700">
            <a:solidFill>
              <a:srgbClr val="C4C4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86200" y="1755648"/>
            <a:ext cx="2194560" cy="1097280"/>
          </a:xfrm>
          <a:prstGeom prst="rect">
            <a:avLst/>
          </a:prstGeom>
          <a:noFill/>
        </p:spPr>
        <p:txBody>
          <a:bodyPr wrap="square" lIns="0" rIns="0" tIns="0" bIns="0" anchor="t">
            <a:spAutoFit/>
          </a:bodyPr>
          <a:lstStyle/>
          <a:p>
            <a:pPr algn="l">
              <a:lnSpc>
                <a:spcPct val="110000"/>
              </a:lnSpc>
              <a:spcAft>
                <a:spcPts val="0"/>
              </a:spcAft>
            </a:pPr>
            <a:r>
              <a:rPr sz="1300" b="1">
                <a:solidFill>
                  <a:srgbClr val="16181B"/>
                </a:solidFill>
                <a:latin typeface="Arial"/>
              </a:rPr>
              <a:t>Automatic importers</a:t>
            </a:r>
          </a:p>
          <a:p>
            <a:pPr algn="l">
              <a:lnSpc>
                <a:spcPct val="110000"/>
              </a:lnSpc>
              <a:spcAft>
                <a:spcPts val="0"/>
              </a:spcAft>
            </a:pPr>
            <a:r>
              <a:rPr sz="1050" b="0">
                <a:solidFill>
                  <a:srgbClr val="555A61"/>
                </a:solidFill>
                <a:latin typeface="Arial"/>
              </a:rPr>
              <a:t>every hour · gas every 2 h</a:t>
            </a:r>
          </a:p>
          <a:p>
            <a:pPr algn="l">
              <a:lnSpc>
                <a:spcPct val="110000"/>
              </a:lnSpc>
              <a:spcAft>
                <a:spcPts val="0"/>
              </a:spcAft>
            </a:pPr>
            <a:r>
              <a:rPr sz="1050" b="0">
                <a:solidFill>
                  <a:srgbClr val="555A61"/>
                </a:solidFill>
                <a:latin typeface="Arial"/>
              </a:rPr>
              <a:t>placed on real streets (OpenStreetMap)</a:t>
            </a:r>
          </a:p>
        </p:txBody>
      </p:sp>
      <p:sp>
        <p:nvSpPr>
          <p:cNvPr id="21" name="Rounded Rectangle 20"/>
          <p:cNvSpPr/>
          <p:nvPr/>
        </p:nvSpPr>
        <p:spPr>
          <a:xfrm>
            <a:off x="6766560" y="1664208"/>
            <a:ext cx="2194560" cy="1783080"/>
          </a:xfrm>
          <a:prstGeom prst="roundRect">
            <a:avLst>
              <a:gd name="adj" fmla="val 9230"/>
            </a:avLst>
          </a:prstGeom>
          <a:solidFill>
            <a:srgbClr val="FFFFFF"/>
          </a:solidFill>
          <a:ln w="12700">
            <a:solidFill>
              <a:srgbClr val="C4C4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0" y="1801368"/>
            <a:ext cx="1874519" cy="1554480"/>
          </a:xfrm>
          <a:prstGeom prst="rect">
            <a:avLst/>
          </a:prstGeom>
          <a:noFill/>
        </p:spPr>
        <p:txBody>
          <a:bodyPr wrap="square" lIns="0" rIns="0" tIns="0" bIns="0" anchor="t">
            <a:spAutoFit/>
          </a:bodyPr>
          <a:lstStyle/>
          <a:p>
            <a:pPr algn="l">
              <a:lnSpc>
                <a:spcPct val="110000"/>
              </a:lnSpc>
              <a:spcAft>
                <a:spcPts val="0"/>
              </a:spcAft>
            </a:pPr>
            <a:r>
              <a:rPr sz="1300" b="1">
                <a:solidFill>
                  <a:srgbClr val="16181B"/>
                </a:solidFill>
                <a:latin typeface="Arial"/>
              </a:rPr>
              <a:t>Real-time database</a:t>
            </a:r>
          </a:p>
          <a:p>
            <a:pPr algn="l">
              <a:lnSpc>
                <a:spcPct val="110000"/>
              </a:lnSpc>
              <a:spcAft>
                <a:spcPts val="0"/>
              </a:spcAft>
            </a:pPr>
            <a:r>
              <a:rPr sz="1050" b="0">
                <a:solidFill>
                  <a:srgbClr val="555A61"/>
                </a:solidFill>
                <a:latin typeface="Arial"/>
              </a:rPr>
              <a:t>Firebase</a:t>
            </a:r>
          </a:p>
          <a:p>
            <a:pPr algn="l">
              <a:lnSpc>
                <a:spcPct val="110000"/>
              </a:lnSpc>
              <a:spcAft>
                <a:spcPts val="0"/>
              </a:spcAft>
            </a:pPr>
            <a:r>
              <a:rPr sz="1050" b="0">
                <a:solidFill>
                  <a:srgbClr val="555A61"/>
                </a:solidFill>
                <a:latin typeface="Arial"/>
              </a:rPr>
              <a:t>events · votes · users</a:t>
            </a:r>
          </a:p>
        </p:txBody>
      </p:sp>
      <p:sp>
        <p:nvSpPr>
          <p:cNvPr id="23" name="Rounded Rectangle 22"/>
          <p:cNvSpPr/>
          <p:nvPr/>
        </p:nvSpPr>
        <p:spPr>
          <a:xfrm>
            <a:off x="9509760" y="1664208"/>
            <a:ext cx="1920240" cy="1783080"/>
          </a:xfrm>
          <a:prstGeom prst="roundRect">
            <a:avLst>
              <a:gd name="adj" fmla="val 9230"/>
            </a:avLst>
          </a:prstGeom>
          <a:solidFill>
            <a:srgbClr val="E7EEFA"/>
          </a:solidFill>
          <a:ln w="12700">
            <a:solidFill>
              <a:srgbClr val="1F5F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0" y="1801368"/>
            <a:ext cx="1645920" cy="1554480"/>
          </a:xfrm>
          <a:prstGeom prst="rect">
            <a:avLst/>
          </a:prstGeom>
          <a:noFill/>
        </p:spPr>
        <p:txBody>
          <a:bodyPr wrap="square" lIns="0" rIns="0" tIns="0" bIns="0" anchor="t">
            <a:spAutoFit/>
          </a:bodyPr>
          <a:lstStyle/>
          <a:p>
            <a:pPr algn="l">
              <a:lnSpc>
                <a:spcPct val="110000"/>
              </a:lnSpc>
              <a:spcAft>
                <a:spcPts val="0"/>
              </a:spcAft>
            </a:pPr>
            <a:r>
              <a:rPr sz="1300" b="1">
                <a:solidFill>
                  <a:srgbClr val="1F5FC9"/>
                </a:solidFill>
                <a:latin typeface="Arial"/>
              </a:rPr>
              <a:t>Live map</a:t>
            </a:r>
          </a:p>
          <a:p>
            <a:pPr algn="l">
              <a:lnSpc>
                <a:spcPct val="110000"/>
              </a:lnSpc>
              <a:spcAft>
                <a:spcPts val="0"/>
              </a:spcAft>
            </a:pPr>
            <a:r>
              <a:rPr sz="1050" b="0">
                <a:solidFill>
                  <a:srgbClr val="555A61"/>
                </a:solidFill>
                <a:latin typeface="Arial"/>
              </a:rPr>
              <a:t>web · mobile-first</a:t>
            </a:r>
          </a:p>
          <a:p>
            <a:pPr algn="l">
              <a:lnSpc>
                <a:spcPct val="110000"/>
              </a:lnSpc>
              <a:spcAft>
                <a:spcPts val="0"/>
              </a:spcAft>
            </a:pPr>
            <a:r>
              <a:rPr sz="1050" b="0">
                <a:solidFill>
                  <a:srgbClr val="555A61"/>
                </a:solidFill>
                <a:latin typeface="Arial"/>
              </a:rPr>
              <a:t>RO / RU / EN</a:t>
            </a:r>
          </a:p>
        </p:txBody>
      </p:sp>
      <p:cxnSp>
        <p:nvCxnSpPr>
          <p:cNvPr id="25" name="Connector 24"/>
          <p:cNvCxnSpPr/>
          <p:nvPr/>
        </p:nvCxnSpPr>
        <p:spPr>
          <a:xfrm>
            <a:off x="3200400" y="2286000"/>
            <a:ext cx="457200" cy="0"/>
          </a:xfrm>
          <a:prstGeom prst="line">
            <a:avLst/>
          </a:prstGeom>
          <a:ln w="19050">
            <a:solidFill>
              <a:srgbClr val="16181B"/>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263640" y="2286000"/>
            <a:ext cx="457200" cy="0"/>
          </a:xfrm>
          <a:prstGeom prst="line">
            <a:avLst/>
          </a:prstGeom>
          <a:ln w="19050">
            <a:solidFill>
              <a:srgbClr val="16181B"/>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200400" y="3300984"/>
            <a:ext cx="3520440" cy="0"/>
          </a:xfrm>
          <a:prstGeom prst="line">
            <a:avLst/>
          </a:prstGeom>
          <a:ln w="19050">
            <a:solidFill>
              <a:srgbClr val="16181B"/>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006840" y="2560320"/>
            <a:ext cx="457200" cy="0"/>
          </a:xfrm>
          <a:prstGeom prst="line">
            <a:avLst/>
          </a:prstGeom>
          <a:ln w="19050">
            <a:solidFill>
              <a:srgbClr val="16181B"/>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749039" y="3017520"/>
            <a:ext cx="2926080" cy="256032"/>
          </a:xfrm>
          <a:prstGeom prst="rect">
            <a:avLst/>
          </a:prstGeom>
          <a:noFill/>
        </p:spPr>
        <p:txBody>
          <a:bodyPr wrap="square" lIns="0" rIns="0" tIns="0" bIns="0" anchor="t">
            <a:spAutoFit/>
          </a:bodyPr>
          <a:lstStyle/>
          <a:p>
            <a:pPr algn="l">
              <a:spcAft>
                <a:spcPts val="0"/>
              </a:spcAft>
            </a:pPr>
            <a:r>
              <a:rPr sz="950" b="0">
                <a:solidFill>
                  <a:srgbClr val="555A61"/>
                </a:solidFill>
                <a:latin typeface="Arial"/>
              </a:rPr>
              <a:t>"Me too" / "Mine works" · one per device</a:t>
            </a:r>
          </a:p>
        </p:txBody>
      </p:sp>
      <p:sp>
        <p:nvSpPr>
          <p:cNvPr id="30" name="Rounded Rectangle 29"/>
          <p:cNvSpPr/>
          <p:nvPr/>
        </p:nvSpPr>
        <p:spPr>
          <a:xfrm>
            <a:off x="548640" y="3749039"/>
            <a:ext cx="11091672" cy="2331720"/>
          </a:xfrm>
          <a:prstGeom prst="roundRect">
            <a:avLst>
              <a:gd name="adj" fmla="val 11764"/>
            </a:avLst>
          </a:prstGeom>
          <a:solidFill>
            <a:srgbClr val="F3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77240" y="3959352"/>
            <a:ext cx="2002536" cy="1920240"/>
          </a:xfrm>
          <a:prstGeom prst="roundRect">
            <a:avLst>
              <a:gd name="adj" fmla="val 9523"/>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60120" y="4142232"/>
            <a:ext cx="118872" cy="118872"/>
          </a:xfrm>
          <a:prstGeom prst="ellipse">
            <a:avLst/>
          </a:prstGeom>
          <a:solidFill>
            <a:srgbClr val="1F5F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61288" y="4087368"/>
            <a:ext cx="1545336" cy="237744"/>
          </a:xfrm>
          <a:prstGeom prst="rect">
            <a:avLst/>
          </a:prstGeom>
          <a:noFill/>
        </p:spPr>
        <p:txBody>
          <a:bodyPr wrap="square" lIns="0" rIns="0" tIns="0" bIns="0" anchor="ctr">
            <a:spAutoFit/>
          </a:bodyPr>
          <a:lstStyle/>
          <a:p>
            <a:pPr algn="l">
              <a:spcAft>
                <a:spcPts val="0"/>
              </a:spcAft>
            </a:pPr>
            <a:r>
              <a:rPr sz="1050" b="1">
                <a:solidFill>
                  <a:srgbClr val="16181B"/>
                </a:solidFill>
                <a:latin typeface="Arial"/>
              </a:rPr>
              <a:t>Official</a:t>
            </a:r>
          </a:p>
        </p:txBody>
      </p:sp>
      <p:sp>
        <p:nvSpPr>
          <p:cNvPr id="34" name="TextBox 33"/>
          <p:cNvSpPr txBox="1"/>
          <p:nvPr/>
        </p:nvSpPr>
        <p:spPr>
          <a:xfrm>
            <a:off x="960120" y="4434840"/>
            <a:ext cx="1728216" cy="502920"/>
          </a:xfrm>
          <a:prstGeom prst="rect">
            <a:avLst/>
          </a:prstGeom>
          <a:noFill/>
        </p:spPr>
        <p:txBody>
          <a:bodyPr wrap="square" lIns="0" rIns="0" tIns="0" bIns="0" anchor="t">
            <a:spAutoFit/>
          </a:bodyPr>
          <a:lstStyle/>
          <a:p>
            <a:pPr algn="l">
              <a:spcAft>
                <a:spcPts val="0"/>
              </a:spcAft>
            </a:pPr>
            <a:r>
              <a:rPr sz="2200" b="1">
                <a:solidFill>
                  <a:srgbClr val="1F5FC9"/>
                </a:solidFill>
                <a:latin typeface="Arial"/>
              </a:rPr>
              <a:t>Blue</a:t>
            </a:r>
          </a:p>
        </p:txBody>
      </p:sp>
      <p:sp>
        <p:nvSpPr>
          <p:cNvPr id="35" name="TextBox 34"/>
          <p:cNvSpPr txBox="1"/>
          <p:nvPr/>
        </p:nvSpPr>
        <p:spPr>
          <a:xfrm>
            <a:off x="960120" y="4965192"/>
            <a:ext cx="1682495" cy="868680"/>
          </a:xfrm>
          <a:prstGeom prst="rect">
            <a:avLst/>
          </a:prstGeom>
          <a:noFill/>
        </p:spPr>
        <p:txBody>
          <a:bodyPr wrap="square" lIns="0" rIns="0" tIns="0" bIns="0" anchor="t">
            <a:spAutoFit/>
          </a:bodyPr>
          <a:lstStyle/>
          <a:p>
            <a:pPr algn="l">
              <a:lnSpc>
                <a:spcPct val="105000"/>
              </a:lnSpc>
              <a:spcAft>
                <a:spcPts val="0"/>
              </a:spcAft>
            </a:pPr>
            <a:r>
              <a:rPr sz="950" b="0">
                <a:solidFill>
                  <a:srgbClr val="555A61"/>
                </a:solidFill>
                <a:latin typeface="Arial"/>
              </a:rPr>
              <a:t>announced by the provider; on the map right away, source named</a:t>
            </a:r>
          </a:p>
        </p:txBody>
      </p:sp>
      <p:sp>
        <p:nvSpPr>
          <p:cNvPr id="36" name="Rounded Rectangle 35"/>
          <p:cNvSpPr/>
          <p:nvPr/>
        </p:nvSpPr>
        <p:spPr>
          <a:xfrm>
            <a:off x="2926080" y="3959352"/>
            <a:ext cx="2002536" cy="1920240"/>
          </a:xfrm>
          <a:prstGeom prst="roundRect">
            <a:avLst>
              <a:gd name="adj" fmla="val 9523"/>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108960" y="4142232"/>
            <a:ext cx="118872" cy="118872"/>
          </a:xfrm>
          <a:prstGeom prst="ellipse">
            <a:avLst/>
          </a:prstGeom>
          <a:solidFill>
            <a:srgbClr val="1C7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310128" y="4087368"/>
            <a:ext cx="1545336" cy="237744"/>
          </a:xfrm>
          <a:prstGeom prst="rect">
            <a:avLst/>
          </a:prstGeom>
          <a:noFill/>
        </p:spPr>
        <p:txBody>
          <a:bodyPr wrap="square" lIns="0" rIns="0" tIns="0" bIns="0" anchor="ctr">
            <a:spAutoFit/>
          </a:bodyPr>
          <a:lstStyle/>
          <a:p>
            <a:pPr algn="l">
              <a:spcAft>
                <a:spcPts val="0"/>
              </a:spcAft>
            </a:pPr>
            <a:r>
              <a:rPr sz="1050" b="1">
                <a:solidFill>
                  <a:srgbClr val="16181B"/>
                </a:solidFill>
                <a:latin typeface="Arial"/>
              </a:rPr>
              <a:t>Confirmed</a:t>
            </a:r>
          </a:p>
        </p:txBody>
      </p:sp>
      <p:sp>
        <p:nvSpPr>
          <p:cNvPr id="39" name="TextBox 38"/>
          <p:cNvSpPr txBox="1"/>
          <p:nvPr/>
        </p:nvSpPr>
        <p:spPr>
          <a:xfrm>
            <a:off x="3108960" y="4434840"/>
            <a:ext cx="1728216" cy="502920"/>
          </a:xfrm>
          <a:prstGeom prst="rect">
            <a:avLst/>
          </a:prstGeom>
          <a:noFill/>
        </p:spPr>
        <p:txBody>
          <a:bodyPr wrap="square" lIns="0" rIns="0" tIns="0" bIns="0" anchor="t">
            <a:spAutoFit/>
          </a:bodyPr>
          <a:lstStyle/>
          <a:p>
            <a:pPr algn="l">
              <a:spcAft>
                <a:spcPts val="0"/>
              </a:spcAft>
            </a:pPr>
            <a:r>
              <a:rPr sz="2200" b="1">
                <a:solidFill>
                  <a:srgbClr val="1C7340"/>
                </a:solidFill>
                <a:latin typeface="Arial"/>
              </a:rPr>
              <a:t>Green</a:t>
            </a:r>
          </a:p>
        </p:txBody>
      </p:sp>
      <p:sp>
        <p:nvSpPr>
          <p:cNvPr id="40" name="TextBox 39"/>
          <p:cNvSpPr txBox="1"/>
          <p:nvPr/>
        </p:nvSpPr>
        <p:spPr>
          <a:xfrm>
            <a:off x="3108960" y="4965192"/>
            <a:ext cx="1682495" cy="868680"/>
          </a:xfrm>
          <a:prstGeom prst="rect">
            <a:avLst/>
          </a:prstGeom>
          <a:noFill/>
        </p:spPr>
        <p:txBody>
          <a:bodyPr wrap="square" lIns="0" rIns="0" tIns="0" bIns="0" anchor="t">
            <a:spAutoFit/>
          </a:bodyPr>
          <a:lstStyle/>
          <a:p>
            <a:pPr algn="l">
              <a:lnSpc>
                <a:spcPct val="105000"/>
              </a:lnSpc>
              <a:spcAft>
                <a:spcPts val="0"/>
              </a:spcAft>
            </a:pPr>
            <a:r>
              <a:rPr sz="950" b="0">
                <a:solidFill>
                  <a:srgbClr val="555A61"/>
                </a:solidFill>
                <a:latin typeface="Arial"/>
              </a:rPr>
              <a:t>3 × "Me too" from people within 1 km. The app asks signed-in users within 50 m</a:t>
            </a:r>
          </a:p>
        </p:txBody>
      </p:sp>
      <p:sp>
        <p:nvSpPr>
          <p:cNvPr id="41" name="Rounded Rectangle 40"/>
          <p:cNvSpPr/>
          <p:nvPr/>
        </p:nvSpPr>
        <p:spPr>
          <a:xfrm>
            <a:off x="5074920" y="3959352"/>
            <a:ext cx="2002536" cy="1920240"/>
          </a:xfrm>
          <a:prstGeom prst="roundRect">
            <a:avLst>
              <a:gd name="adj" fmla="val 9523"/>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257800" y="4142232"/>
            <a:ext cx="118872" cy="118872"/>
          </a:xfrm>
          <a:prstGeom prst="ellipse">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58968" y="4087368"/>
            <a:ext cx="1545336" cy="237744"/>
          </a:xfrm>
          <a:prstGeom prst="rect">
            <a:avLst/>
          </a:prstGeom>
          <a:noFill/>
        </p:spPr>
        <p:txBody>
          <a:bodyPr wrap="square" lIns="0" rIns="0" tIns="0" bIns="0" anchor="ctr">
            <a:spAutoFit/>
          </a:bodyPr>
          <a:lstStyle/>
          <a:p>
            <a:pPr algn="l">
              <a:spcAft>
                <a:spcPts val="0"/>
              </a:spcAft>
            </a:pPr>
            <a:r>
              <a:rPr sz="1050" b="1">
                <a:solidFill>
                  <a:srgbClr val="16181B"/>
                </a:solidFill>
                <a:latin typeface="Arial"/>
              </a:rPr>
              <a:t>Partial</a:t>
            </a:r>
          </a:p>
        </p:txBody>
      </p:sp>
      <p:sp>
        <p:nvSpPr>
          <p:cNvPr id="44" name="TextBox 43"/>
          <p:cNvSpPr txBox="1"/>
          <p:nvPr/>
        </p:nvSpPr>
        <p:spPr>
          <a:xfrm>
            <a:off x="5257800" y="4434840"/>
            <a:ext cx="1728216" cy="502920"/>
          </a:xfrm>
          <a:prstGeom prst="rect">
            <a:avLst/>
          </a:prstGeom>
          <a:noFill/>
        </p:spPr>
        <p:txBody>
          <a:bodyPr wrap="square" lIns="0" rIns="0" tIns="0" bIns="0" anchor="t">
            <a:spAutoFit/>
          </a:bodyPr>
          <a:lstStyle/>
          <a:p>
            <a:pPr algn="l">
              <a:spcAft>
                <a:spcPts val="0"/>
              </a:spcAft>
            </a:pPr>
            <a:r>
              <a:rPr sz="2200" b="1">
                <a:solidFill>
                  <a:srgbClr val="A16207"/>
                </a:solidFill>
                <a:latin typeface="Arial"/>
              </a:rPr>
              <a:t>Yellow</a:t>
            </a:r>
          </a:p>
        </p:txBody>
      </p:sp>
      <p:sp>
        <p:nvSpPr>
          <p:cNvPr id="45" name="TextBox 44"/>
          <p:cNvSpPr txBox="1"/>
          <p:nvPr/>
        </p:nvSpPr>
        <p:spPr>
          <a:xfrm>
            <a:off x="5257800" y="4965192"/>
            <a:ext cx="1682495" cy="868680"/>
          </a:xfrm>
          <a:prstGeom prst="rect">
            <a:avLst/>
          </a:prstGeom>
          <a:noFill/>
        </p:spPr>
        <p:txBody>
          <a:bodyPr wrap="square" lIns="0" rIns="0" tIns="0" bIns="0" anchor="t">
            <a:spAutoFit/>
          </a:bodyPr>
          <a:lstStyle/>
          <a:p>
            <a:pPr algn="l">
              <a:lnSpc>
                <a:spcPct val="105000"/>
              </a:lnSpc>
              <a:spcAft>
                <a:spcPts val="0"/>
              </a:spcAft>
            </a:pPr>
            <a:r>
              <a:rPr sz="950" b="0">
                <a:solidFill>
                  <a:srgbClr val="555A61"/>
                </a:solidFill>
                <a:latin typeface="Arial"/>
              </a:rPr>
              <a:t>only some buildings, or low pressure: you may be affected</a:t>
            </a:r>
          </a:p>
        </p:txBody>
      </p:sp>
      <p:sp>
        <p:nvSpPr>
          <p:cNvPr id="46" name="Rounded Rectangle 45"/>
          <p:cNvSpPr/>
          <p:nvPr/>
        </p:nvSpPr>
        <p:spPr>
          <a:xfrm>
            <a:off x="7223760" y="3959352"/>
            <a:ext cx="2002536" cy="1920240"/>
          </a:xfrm>
          <a:prstGeom prst="roundRect">
            <a:avLst>
              <a:gd name="adj" fmla="val 9523"/>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406640" y="4142232"/>
            <a:ext cx="118872" cy="118872"/>
          </a:xfrm>
          <a:prstGeom prst="ellipse">
            <a:avLst/>
          </a:prstGeom>
          <a:solidFill>
            <a:srgbClr val="555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7808" y="4087368"/>
            <a:ext cx="1545336" cy="237744"/>
          </a:xfrm>
          <a:prstGeom prst="rect">
            <a:avLst/>
          </a:prstGeom>
          <a:noFill/>
        </p:spPr>
        <p:txBody>
          <a:bodyPr wrap="square" lIns="0" rIns="0" tIns="0" bIns="0" anchor="ctr">
            <a:spAutoFit/>
          </a:bodyPr>
          <a:lstStyle/>
          <a:p>
            <a:pPr algn="l">
              <a:spcAft>
                <a:spcPts val="0"/>
              </a:spcAft>
            </a:pPr>
            <a:r>
              <a:rPr sz="1050" b="1">
                <a:solidFill>
                  <a:srgbClr val="16181B"/>
                </a:solidFill>
                <a:latin typeface="Arial"/>
              </a:rPr>
              <a:t>Unconfirmed</a:t>
            </a:r>
          </a:p>
        </p:txBody>
      </p:sp>
      <p:sp>
        <p:nvSpPr>
          <p:cNvPr id="49" name="TextBox 48"/>
          <p:cNvSpPr txBox="1"/>
          <p:nvPr/>
        </p:nvSpPr>
        <p:spPr>
          <a:xfrm>
            <a:off x="7406640" y="4434840"/>
            <a:ext cx="1728216" cy="502920"/>
          </a:xfrm>
          <a:prstGeom prst="rect">
            <a:avLst/>
          </a:prstGeom>
          <a:noFill/>
        </p:spPr>
        <p:txBody>
          <a:bodyPr wrap="square" lIns="0" rIns="0" tIns="0" bIns="0" anchor="t">
            <a:spAutoFit/>
          </a:bodyPr>
          <a:lstStyle/>
          <a:p>
            <a:pPr algn="l">
              <a:spcAft>
                <a:spcPts val="0"/>
              </a:spcAft>
            </a:pPr>
            <a:r>
              <a:rPr sz="2200" b="1">
                <a:solidFill>
                  <a:srgbClr val="16181B"/>
                </a:solidFill>
                <a:latin typeface="Arial"/>
              </a:rPr>
              <a:t>Dotted</a:t>
            </a:r>
          </a:p>
        </p:txBody>
      </p:sp>
      <p:sp>
        <p:nvSpPr>
          <p:cNvPr id="50" name="TextBox 49"/>
          <p:cNvSpPr txBox="1"/>
          <p:nvPr/>
        </p:nvSpPr>
        <p:spPr>
          <a:xfrm>
            <a:off x="7406640" y="4965192"/>
            <a:ext cx="1682495" cy="868680"/>
          </a:xfrm>
          <a:prstGeom prst="rect">
            <a:avLst/>
          </a:prstGeom>
          <a:noFill/>
        </p:spPr>
        <p:txBody>
          <a:bodyPr wrap="square" lIns="0" rIns="0" tIns="0" bIns="0" anchor="t">
            <a:spAutoFit/>
          </a:bodyPr>
          <a:lstStyle/>
          <a:p>
            <a:pPr algn="l">
              <a:lnSpc>
                <a:spcPct val="105000"/>
              </a:lnSpc>
              <a:spcAft>
                <a:spcPts val="0"/>
              </a:spcAft>
            </a:pPr>
            <a:r>
              <a:rPr sz="950" b="0">
                <a:solidFill>
                  <a:srgbClr val="555A61"/>
                </a:solidFill>
                <a:latin typeface="Arial"/>
              </a:rPr>
              <a:t>a new report, visible so neighbours can check it; expires after 6 h</a:t>
            </a:r>
          </a:p>
        </p:txBody>
      </p:sp>
      <p:sp>
        <p:nvSpPr>
          <p:cNvPr id="51" name="Rounded Rectangle 50"/>
          <p:cNvSpPr/>
          <p:nvPr/>
        </p:nvSpPr>
        <p:spPr>
          <a:xfrm>
            <a:off x="9372600" y="3959352"/>
            <a:ext cx="2002536" cy="1920240"/>
          </a:xfrm>
          <a:prstGeom prst="roundRect">
            <a:avLst>
              <a:gd name="adj" fmla="val 9523"/>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9555480" y="4142232"/>
            <a:ext cx="118872" cy="118872"/>
          </a:xfrm>
          <a:prstGeom prst="ellipse">
            <a:avLst/>
          </a:prstGeom>
          <a:solidFill>
            <a:srgbClr val="555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56648" y="4087368"/>
            <a:ext cx="1545336" cy="237744"/>
          </a:xfrm>
          <a:prstGeom prst="rect">
            <a:avLst/>
          </a:prstGeom>
          <a:noFill/>
        </p:spPr>
        <p:txBody>
          <a:bodyPr wrap="square" lIns="0" rIns="0" tIns="0" bIns="0" anchor="ctr">
            <a:spAutoFit/>
          </a:bodyPr>
          <a:lstStyle/>
          <a:p>
            <a:pPr algn="l">
              <a:spcAft>
                <a:spcPts val="0"/>
              </a:spcAft>
            </a:pPr>
            <a:r>
              <a:rPr sz="1050" b="1">
                <a:solidFill>
                  <a:srgbClr val="16181B"/>
                </a:solidFill>
                <a:latin typeface="Arial"/>
              </a:rPr>
              <a:t>Disputed</a:t>
            </a:r>
          </a:p>
        </p:txBody>
      </p:sp>
      <p:sp>
        <p:nvSpPr>
          <p:cNvPr id="54" name="TextBox 53"/>
          <p:cNvSpPr txBox="1"/>
          <p:nvPr/>
        </p:nvSpPr>
        <p:spPr>
          <a:xfrm>
            <a:off x="9555480" y="4434840"/>
            <a:ext cx="1728216" cy="502920"/>
          </a:xfrm>
          <a:prstGeom prst="rect">
            <a:avLst/>
          </a:prstGeom>
          <a:noFill/>
        </p:spPr>
        <p:txBody>
          <a:bodyPr wrap="square" lIns="0" rIns="0" tIns="0" bIns="0" anchor="t">
            <a:spAutoFit/>
          </a:bodyPr>
          <a:lstStyle/>
          <a:p>
            <a:pPr algn="l">
              <a:spcAft>
                <a:spcPts val="0"/>
              </a:spcAft>
            </a:pPr>
            <a:r>
              <a:rPr sz="2200" b="1">
                <a:solidFill>
                  <a:srgbClr val="16181B"/>
                </a:solidFill>
                <a:latin typeface="Arial"/>
              </a:rPr>
              <a:t>Yes &lt; No</a:t>
            </a:r>
          </a:p>
        </p:txBody>
      </p:sp>
      <p:sp>
        <p:nvSpPr>
          <p:cNvPr id="55" name="TextBox 54"/>
          <p:cNvSpPr txBox="1"/>
          <p:nvPr/>
        </p:nvSpPr>
        <p:spPr>
          <a:xfrm>
            <a:off x="9555480" y="4965192"/>
            <a:ext cx="1682495" cy="868680"/>
          </a:xfrm>
          <a:prstGeom prst="rect">
            <a:avLst/>
          </a:prstGeom>
          <a:noFill/>
        </p:spPr>
        <p:txBody>
          <a:bodyPr wrap="square" lIns="0" rIns="0" tIns="0" bIns="0" anchor="t">
            <a:spAutoFit/>
          </a:bodyPr>
          <a:lstStyle/>
          <a:p>
            <a:pPr algn="l">
              <a:lnSpc>
                <a:spcPct val="105000"/>
              </a:lnSpc>
              <a:spcAft>
                <a:spcPts val="0"/>
              </a:spcAft>
            </a:pPr>
            <a:r>
              <a:rPr sz="950" b="0">
                <a:solidFill>
                  <a:srgbClr val="555A61"/>
                </a:solidFill>
                <a:latin typeface="Arial"/>
              </a:rPr>
              <a:t>more "Mine works" than "Me too" (at least 3) → taken off the map</a:t>
            </a:r>
          </a:p>
        </p:txBody>
      </p:sp>
      <p:sp>
        <p:nvSpPr>
          <p:cNvPr id="56" name="Rounded Rectangle 55"/>
          <p:cNvSpPr/>
          <p:nvPr/>
        </p:nvSpPr>
        <p:spPr>
          <a:xfrm>
            <a:off x="548640" y="6291072"/>
            <a:ext cx="237744" cy="237744"/>
          </a:xfrm>
          <a:prstGeom prst="roundRect">
            <a:avLst>
              <a:gd name="adj" fmla="val 28125"/>
            </a:avLst>
          </a:prstGeom>
          <a:solidFill>
            <a:srgbClr val="16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600646" y="6391370"/>
            <a:ext cx="133731" cy="37147"/>
          </a:xfrm>
          <a:prstGeom prst="roundRect">
            <a:avLst>
              <a:gd name="adj" fmla="val 50000"/>
            </a:avLst>
          </a:prstGeom>
          <a:solidFill>
            <a:srgbClr val="5C5D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600646" y="6391370"/>
            <a:ext cx="81724" cy="37147"/>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Connector 58"/>
          <p:cNvCxnSpPr/>
          <p:nvPr/>
        </p:nvCxnSpPr>
        <p:spPr>
          <a:xfrm>
            <a:off x="960120" y="6409944"/>
            <a:ext cx="8503920" cy="0"/>
          </a:xfrm>
          <a:prstGeom prst="line">
            <a:avLst/>
          </a:prstGeom>
          <a:ln w="9525">
            <a:solidFill>
              <a:srgbClr val="C4C4BB"/>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9601200" y="6291072"/>
            <a:ext cx="2039112" cy="237744"/>
          </a:xfrm>
          <a:prstGeom prst="rect">
            <a:avLst/>
          </a:prstGeom>
          <a:noFill/>
        </p:spPr>
        <p:txBody>
          <a:bodyPr wrap="square" lIns="0" rIns="0" tIns="0" bIns="0" anchor="ctr">
            <a:spAutoFit/>
          </a:bodyPr>
          <a:lstStyle/>
          <a:p>
            <a:pPr algn="r">
              <a:spcAft>
                <a:spcPts val="0"/>
              </a:spcAft>
            </a:pPr>
            <a:r>
              <a:rPr sz="1000" b="0">
                <a:solidFill>
                  <a:srgbClr val="555A61"/>
                </a:solidFill>
                <a:latin typeface="Arial"/>
              </a:rPr>
              <a:t>Work In Progress · Chișinău</a:t>
            </a:r>
            <a:r>
              <a:rPr sz="1000" b="1">
                <a:solidFill>
                  <a:srgbClr val="555A61"/>
                </a:solidFill>
                <a:latin typeface="Arial"/>
              </a:rPr>
              <a:t>   B3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3EF"/>
        </a:solidFill>
        <a:effectLst/>
      </p:bgPr>
    </p:bg>
    <p:spTree>
      <p:nvGrpSpPr>
        <p:cNvPr id="1" name=""/>
        <p:cNvGrpSpPr/>
        <p:nvPr/>
      </p:nvGrpSpPr>
      <p:grpSpPr/>
      <p:sp>
        <p:nvSpPr>
          <p:cNvPr id="2" name="TextBox 1"/>
          <p:cNvSpPr txBox="1"/>
          <p:nvPr/>
        </p:nvSpPr>
        <p:spPr>
          <a:xfrm>
            <a:off x="548640" y="502920"/>
            <a:ext cx="5486400" cy="274320"/>
          </a:xfrm>
          <a:prstGeom prst="rect">
            <a:avLst/>
          </a:prstGeom>
          <a:noFill/>
        </p:spPr>
        <p:txBody>
          <a:bodyPr wrap="square" lIns="0" rIns="0" tIns="0" bIns="0" anchor="t">
            <a:spAutoFit/>
          </a:bodyPr>
          <a:lstStyle/>
          <a:p>
            <a:pPr algn="l">
              <a:spcAft>
                <a:spcPts val="0"/>
              </a:spcAft>
            </a:pPr>
            <a:r>
              <a:rPr sz="1100" b="1" spc="300">
                <a:solidFill>
                  <a:srgbClr val="555A61"/>
                </a:solidFill>
                <a:latin typeface="Arial"/>
              </a:rPr>
              <a:t>BACKUP · NEW WAY TO REPORT</a:t>
            </a:r>
          </a:p>
        </p:txBody>
      </p:sp>
      <p:sp>
        <p:nvSpPr>
          <p:cNvPr id="3" name="TextBox 2"/>
          <p:cNvSpPr txBox="1"/>
          <p:nvPr/>
        </p:nvSpPr>
        <p:spPr>
          <a:xfrm>
            <a:off x="548640" y="822960"/>
            <a:ext cx="6400800" cy="731520"/>
          </a:xfrm>
          <a:prstGeom prst="rect">
            <a:avLst/>
          </a:prstGeom>
          <a:noFill/>
        </p:spPr>
        <p:txBody>
          <a:bodyPr wrap="square" lIns="0" rIns="0" tIns="0" bIns="0" anchor="t">
            <a:spAutoFit/>
          </a:bodyPr>
          <a:lstStyle/>
          <a:p>
            <a:pPr algn="l">
              <a:spcAft>
                <a:spcPts val="0"/>
              </a:spcAft>
            </a:pPr>
            <a:r>
              <a:rPr sz="3000" b="1">
                <a:solidFill>
                  <a:srgbClr val="16181B"/>
                </a:solidFill>
                <a:latin typeface="Arial"/>
              </a:rPr>
              <a:t>Report a problem from Telegram</a:t>
            </a:r>
          </a:p>
        </p:txBody>
      </p:sp>
      <p:sp>
        <p:nvSpPr>
          <p:cNvPr id="4" name="TextBox 3"/>
          <p:cNvSpPr txBox="1"/>
          <p:nvPr/>
        </p:nvSpPr>
        <p:spPr>
          <a:xfrm>
            <a:off x="548640" y="1508760"/>
            <a:ext cx="5852160" cy="640080"/>
          </a:xfrm>
          <a:prstGeom prst="rect">
            <a:avLst/>
          </a:prstGeom>
          <a:noFill/>
        </p:spPr>
        <p:txBody>
          <a:bodyPr wrap="square" lIns="0" rIns="0" tIns="0" bIns="0" anchor="t">
            <a:spAutoFit/>
          </a:bodyPr>
          <a:lstStyle/>
          <a:p>
            <a:pPr algn="l">
              <a:lnSpc>
                <a:spcPct val="115000"/>
              </a:lnSpc>
              <a:spcAft>
                <a:spcPts val="0"/>
              </a:spcAft>
            </a:pPr>
            <a:r>
              <a:rPr sz="1300" b="0">
                <a:solidFill>
                  <a:srgbClr val="555A61"/>
                </a:solidFill>
                <a:latin typeface="Arial"/>
              </a:rPr>
              <a:t>No app to open: residents report straight from the chat they already use. Reports land on the same map, with the same rules.</a:t>
            </a:r>
          </a:p>
        </p:txBody>
      </p:sp>
      <p:sp>
        <p:nvSpPr>
          <p:cNvPr id="5" name="Rounded Rectangle 4"/>
          <p:cNvSpPr/>
          <p:nvPr/>
        </p:nvSpPr>
        <p:spPr>
          <a:xfrm>
            <a:off x="548640" y="2377440"/>
            <a:ext cx="5852160" cy="777240"/>
          </a:xfrm>
          <a:prstGeom prst="roundRect">
            <a:avLst>
              <a:gd name="adj" fmla="val 21176"/>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13232" y="2542032"/>
            <a:ext cx="457200" cy="457200"/>
          </a:xfrm>
          <a:prstGeom prst="roundRect">
            <a:avLst>
              <a:gd name="adj" fmla="val 50000"/>
            </a:avLst>
          </a:prstGeom>
          <a:solidFill>
            <a:srgbClr val="E7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542032"/>
            <a:ext cx="457200" cy="457200"/>
          </a:xfrm>
          <a:prstGeom prst="rect">
            <a:avLst/>
          </a:prstGeom>
          <a:noFill/>
        </p:spPr>
        <p:txBody>
          <a:bodyPr wrap="square" lIns="0" rIns="0" tIns="0" bIns="0" anchor="ctr">
            <a:spAutoFit/>
          </a:bodyPr>
          <a:lstStyle/>
          <a:p>
            <a:pPr algn="ctr">
              <a:spcAft>
                <a:spcPts val="0"/>
              </a:spcAft>
            </a:pPr>
            <a:r>
              <a:rPr sz="1300" b="1">
                <a:solidFill>
                  <a:srgbClr val="1F5FC9"/>
                </a:solidFill>
                <a:latin typeface="Arial"/>
              </a:rPr>
              <a:t>1</a:t>
            </a:r>
          </a:p>
        </p:txBody>
      </p:sp>
      <p:sp>
        <p:nvSpPr>
          <p:cNvPr id="8" name="TextBox 7"/>
          <p:cNvSpPr txBox="1"/>
          <p:nvPr/>
        </p:nvSpPr>
        <p:spPr>
          <a:xfrm>
            <a:off x="1325880" y="2450592"/>
            <a:ext cx="4937760" cy="658368"/>
          </a:xfrm>
          <a:prstGeom prst="rect">
            <a:avLst/>
          </a:prstGeom>
          <a:noFill/>
        </p:spPr>
        <p:txBody>
          <a:bodyPr wrap="square" lIns="0" rIns="0" tIns="0" bIns="0" anchor="ctr">
            <a:spAutoFit/>
          </a:bodyPr>
          <a:lstStyle/>
          <a:p>
            <a:pPr algn="l">
              <a:lnSpc>
                <a:spcPct val="105000"/>
              </a:lnSpc>
              <a:spcAft>
                <a:spcPts val="0"/>
              </a:spcAft>
            </a:pPr>
            <a:r>
              <a:rPr sz="1250" b="1">
                <a:solidFill>
                  <a:srgbClr val="16181B"/>
                </a:solidFill>
                <a:latin typeface="Arial"/>
              </a:rPr>
              <a:t>/login</a:t>
            </a:r>
          </a:p>
          <a:p>
            <a:pPr algn="l">
              <a:lnSpc>
                <a:spcPct val="105000"/>
              </a:lnSpc>
              <a:spcAft>
                <a:spcPts val="0"/>
              </a:spcAft>
            </a:pPr>
            <a:r>
              <a:rPr sz="1050" b="0">
                <a:solidFill>
                  <a:srgbClr val="555A61"/>
                </a:solidFill>
                <a:latin typeface="Arial"/>
              </a:rPr>
              <a:t>Link Telegram to your account once, with a one-time link that expires in 10 minutes</a:t>
            </a:r>
          </a:p>
        </p:txBody>
      </p:sp>
      <p:sp>
        <p:nvSpPr>
          <p:cNvPr id="9" name="Rounded Rectangle 8"/>
          <p:cNvSpPr/>
          <p:nvPr/>
        </p:nvSpPr>
        <p:spPr>
          <a:xfrm>
            <a:off x="548640" y="3273552"/>
            <a:ext cx="5852160" cy="777240"/>
          </a:xfrm>
          <a:prstGeom prst="roundRect">
            <a:avLst>
              <a:gd name="adj" fmla="val 21176"/>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3232" y="3438144"/>
            <a:ext cx="457200" cy="457200"/>
          </a:xfrm>
          <a:prstGeom prst="roundRect">
            <a:avLst>
              <a:gd name="adj" fmla="val 50000"/>
            </a:avLst>
          </a:prstGeom>
          <a:solidFill>
            <a:srgbClr val="FDF3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3438144"/>
            <a:ext cx="457200" cy="457200"/>
          </a:xfrm>
          <a:prstGeom prst="rect">
            <a:avLst/>
          </a:prstGeom>
          <a:noFill/>
        </p:spPr>
        <p:txBody>
          <a:bodyPr wrap="square" lIns="0" rIns="0" tIns="0" bIns="0" anchor="ctr">
            <a:spAutoFit/>
          </a:bodyPr>
          <a:lstStyle/>
          <a:p>
            <a:pPr algn="ctr">
              <a:spcAft>
                <a:spcPts val="0"/>
              </a:spcAft>
            </a:pPr>
            <a:r>
              <a:rPr sz="1300" b="1">
                <a:solidFill>
                  <a:srgbClr val="A16207"/>
                </a:solidFill>
                <a:latin typeface="Arial"/>
              </a:rPr>
              <a:t>2</a:t>
            </a:r>
          </a:p>
        </p:txBody>
      </p:sp>
      <p:sp>
        <p:nvSpPr>
          <p:cNvPr id="12" name="TextBox 11"/>
          <p:cNvSpPr txBox="1"/>
          <p:nvPr/>
        </p:nvSpPr>
        <p:spPr>
          <a:xfrm>
            <a:off x="1325880" y="3346704"/>
            <a:ext cx="4937760" cy="658368"/>
          </a:xfrm>
          <a:prstGeom prst="rect">
            <a:avLst/>
          </a:prstGeom>
          <a:noFill/>
        </p:spPr>
        <p:txBody>
          <a:bodyPr wrap="square" lIns="0" rIns="0" tIns="0" bIns="0" anchor="ctr">
            <a:spAutoFit/>
          </a:bodyPr>
          <a:lstStyle/>
          <a:p>
            <a:pPr algn="l">
              <a:lnSpc>
                <a:spcPct val="105000"/>
              </a:lnSpc>
              <a:spcAft>
                <a:spcPts val="0"/>
              </a:spcAft>
            </a:pPr>
            <a:r>
              <a:rPr sz="1250" b="1">
                <a:solidFill>
                  <a:srgbClr val="16181B"/>
                </a:solidFill>
                <a:latin typeface="Arial"/>
              </a:rPr>
              <a:t>/raporteaza</a:t>
            </a:r>
          </a:p>
          <a:p>
            <a:pPr algn="l">
              <a:lnSpc>
                <a:spcPct val="105000"/>
              </a:lnSpc>
              <a:spcAft>
                <a:spcPts val="0"/>
              </a:spcAft>
            </a:pPr>
            <a:r>
              <a:rPr sz="1050" b="0">
                <a:solidFill>
                  <a:srgbClr val="555A61"/>
                </a:solidFill>
                <a:latin typeface="Arial"/>
              </a:rPr>
              <a:t>Choose the problem: water, gas or electricity</a:t>
            </a:r>
          </a:p>
        </p:txBody>
      </p:sp>
      <p:sp>
        <p:nvSpPr>
          <p:cNvPr id="13" name="Rounded Rectangle 12"/>
          <p:cNvSpPr/>
          <p:nvPr/>
        </p:nvSpPr>
        <p:spPr>
          <a:xfrm>
            <a:off x="548640" y="4169664"/>
            <a:ext cx="5852160" cy="777240"/>
          </a:xfrm>
          <a:prstGeom prst="roundRect">
            <a:avLst>
              <a:gd name="adj" fmla="val 21176"/>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3232" y="4334256"/>
            <a:ext cx="457200" cy="457200"/>
          </a:xfrm>
          <a:prstGeom prst="roundRect">
            <a:avLst>
              <a:gd name="adj" fmla="val 50000"/>
            </a:avLst>
          </a:prstGeom>
          <a:solidFill>
            <a:srgbClr val="FDF3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4334256"/>
            <a:ext cx="457200" cy="457200"/>
          </a:xfrm>
          <a:prstGeom prst="rect">
            <a:avLst/>
          </a:prstGeom>
          <a:noFill/>
        </p:spPr>
        <p:txBody>
          <a:bodyPr wrap="square" lIns="0" rIns="0" tIns="0" bIns="0" anchor="ctr">
            <a:spAutoFit/>
          </a:bodyPr>
          <a:lstStyle/>
          <a:p>
            <a:pPr algn="ctr">
              <a:spcAft>
                <a:spcPts val="0"/>
              </a:spcAft>
            </a:pPr>
            <a:r>
              <a:rPr sz="1300" b="1">
                <a:solidFill>
                  <a:srgbClr val="A16207"/>
                </a:solidFill>
                <a:latin typeface="Arial"/>
              </a:rPr>
              <a:t>3</a:t>
            </a:r>
          </a:p>
        </p:txBody>
      </p:sp>
      <p:sp>
        <p:nvSpPr>
          <p:cNvPr id="16" name="TextBox 15"/>
          <p:cNvSpPr txBox="1"/>
          <p:nvPr/>
        </p:nvSpPr>
        <p:spPr>
          <a:xfrm>
            <a:off x="1325880" y="4242816"/>
            <a:ext cx="4937760" cy="658368"/>
          </a:xfrm>
          <a:prstGeom prst="rect">
            <a:avLst/>
          </a:prstGeom>
          <a:noFill/>
        </p:spPr>
        <p:txBody>
          <a:bodyPr wrap="square" lIns="0" rIns="0" tIns="0" bIns="0" anchor="ctr">
            <a:spAutoFit/>
          </a:bodyPr>
          <a:lstStyle/>
          <a:p>
            <a:pPr algn="l">
              <a:lnSpc>
                <a:spcPct val="105000"/>
              </a:lnSpc>
              <a:spcAft>
                <a:spcPts val="0"/>
              </a:spcAft>
            </a:pPr>
            <a:r>
              <a:rPr sz="1250" b="1">
                <a:solidFill>
                  <a:srgbClr val="16181B"/>
                </a:solidFill>
                <a:latin typeface="Arial"/>
              </a:rPr>
              <a:t>Now or later</a:t>
            </a:r>
          </a:p>
          <a:p>
            <a:pPr algn="l">
              <a:lnSpc>
                <a:spcPct val="105000"/>
              </a:lnSpc>
              <a:spcAft>
                <a:spcPts val="0"/>
              </a:spcAft>
            </a:pPr>
            <a:r>
              <a:rPr sz="1050" b="0">
                <a:solidFill>
                  <a:srgbClr val="555A61"/>
                </a:solidFill>
                <a:latin typeface="Arial"/>
              </a:rPr>
              <a:t>"Happening now", or pick the start date from a calendar</a:t>
            </a:r>
          </a:p>
        </p:txBody>
      </p:sp>
      <p:sp>
        <p:nvSpPr>
          <p:cNvPr id="17" name="Rounded Rectangle 16"/>
          <p:cNvSpPr/>
          <p:nvPr/>
        </p:nvSpPr>
        <p:spPr>
          <a:xfrm>
            <a:off x="548640" y="5065776"/>
            <a:ext cx="5852160" cy="777240"/>
          </a:xfrm>
          <a:prstGeom prst="roundRect">
            <a:avLst>
              <a:gd name="adj" fmla="val 21176"/>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13232" y="5230368"/>
            <a:ext cx="457200" cy="457200"/>
          </a:xfrm>
          <a:prstGeom prst="roundRect">
            <a:avLst>
              <a:gd name="adj" fmla="val 50000"/>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5230368"/>
            <a:ext cx="457200" cy="457200"/>
          </a:xfrm>
          <a:prstGeom prst="rect">
            <a:avLst/>
          </a:prstGeom>
          <a:noFill/>
        </p:spPr>
        <p:txBody>
          <a:bodyPr wrap="square" lIns="0" rIns="0" tIns="0" bIns="0" anchor="ctr">
            <a:spAutoFit/>
          </a:bodyPr>
          <a:lstStyle/>
          <a:p>
            <a:pPr algn="ctr">
              <a:spcAft>
                <a:spcPts val="0"/>
              </a:spcAft>
            </a:pPr>
            <a:r>
              <a:rPr sz="1300" b="1">
                <a:solidFill>
                  <a:srgbClr val="1C7340"/>
                </a:solidFill>
                <a:latin typeface="Arial"/>
              </a:rPr>
              <a:t>4</a:t>
            </a:r>
          </a:p>
        </p:txBody>
      </p:sp>
      <p:sp>
        <p:nvSpPr>
          <p:cNvPr id="20" name="TextBox 19"/>
          <p:cNvSpPr txBox="1"/>
          <p:nvPr/>
        </p:nvSpPr>
        <p:spPr>
          <a:xfrm>
            <a:off x="1325880" y="5138928"/>
            <a:ext cx="4937760" cy="658368"/>
          </a:xfrm>
          <a:prstGeom prst="rect">
            <a:avLst/>
          </a:prstGeom>
          <a:noFill/>
        </p:spPr>
        <p:txBody>
          <a:bodyPr wrap="square" lIns="0" rIns="0" tIns="0" bIns="0" anchor="ctr">
            <a:spAutoFit/>
          </a:bodyPr>
          <a:lstStyle/>
          <a:p>
            <a:pPr algn="l">
              <a:lnSpc>
                <a:spcPct val="105000"/>
              </a:lnSpc>
              <a:spcAft>
                <a:spcPts val="0"/>
              </a:spcAft>
            </a:pPr>
            <a:r>
              <a:rPr sz="1250" b="1">
                <a:solidFill>
                  <a:srgbClr val="16181B"/>
                </a:solidFill>
                <a:latin typeface="Arial"/>
              </a:rPr>
              <a:t>Send location</a:t>
            </a:r>
          </a:p>
          <a:p>
            <a:pPr algn="l">
              <a:lnSpc>
                <a:spcPct val="105000"/>
              </a:lnSpc>
              <a:spcAft>
                <a:spcPts val="0"/>
              </a:spcAft>
            </a:pPr>
            <a:r>
              <a:rPr sz="1050" b="0">
                <a:solidFill>
                  <a:srgbClr val="555A61"/>
                </a:solidFill>
                <a:latin typeface="Arial"/>
              </a:rPr>
              <a:t>One tap. The report appears on the map as Unconfirmed until 3 neighbours confirm it</a:t>
            </a:r>
          </a:p>
        </p:txBody>
      </p:sp>
      <p:sp>
        <p:nvSpPr>
          <p:cNvPr id="21" name="Rounded Rectangle 20"/>
          <p:cNvSpPr/>
          <p:nvPr/>
        </p:nvSpPr>
        <p:spPr>
          <a:xfrm>
            <a:off x="6949440" y="502920"/>
            <a:ext cx="4690872" cy="5577840"/>
          </a:xfrm>
          <a:prstGeom prst="roundRect">
            <a:avLst>
              <a:gd name="adj" fmla="val 5847"/>
            </a:avLst>
          </a:prstGeom>
          <a:solidFill>
            <a:srgbClr val="171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23759" y="758952"/>
            <a:ext cx="384048" cy="384048"/>
          </a:xfrm>
          <a:prstGeom prst="ellipse">
            <a:avLst/>
          </a:prstGeom>
          <a:solidFill>
            <a:srgbClr val="7A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26679" y="731520"/>
            <a:ext cx="3200400" cy="457200"/>
          </a:xfrm>
          <a:prstGeom prst="rect">
            <a:avLst/>
          </a:prstGeom>
          <a:noFill/>
        </p:spPr>
        <p:txBody>
          <a:bodyPr wrap="square" lIns="0" rIns="0" tIns="0" bIns="0" anchor="t">
            <a:spAutoFit/>
          </a:bodyPr>
          <a:lstStyle/>
          <a:p>
            <a:pPr algn="l">
              <a:lnSpc>
                <a:spcPct val="100000"/>
              </a:lnSpc>
              <a:spcAft>
                <a:spcPts val="0"/>
              </a:spcAft>
            </a:pPr>
            <a:r>
              <a:rPr sz="1200" b="1">
                <a:solidFill>
                  <a:srgbClr val="ECEEF1"/>
                </a:solidFill>
                <a:latin typeface="Arial"/>
              </a:rPr>
              <a:t>Work In Progress bot</a:t>
            </a:r>
          </a:p>
          <a:p>
            <a:pPr algn="l">
              <a:lnSpc>
                <a:spcPct val="100000"/>
              </a:lnSpc>
              <a:spcAft>
                <a:spcPts val="0"/>
              </a:spcAft>
            </a:pPr>
            <a:r>
              <a:rPr sz="950" b="0">
                <a:solidFill>
                  <a:srgbClr val="A9B0B9"/>
                </a:solidFill>
                <a:latin typeface="Arial"/>
              </a:rPr>
              <a:t>bot · replies in Romanian</a:t>
            </a:r>
          </a:p>
        </p:txBody>
      </p:sp>
      <p:sp>
        <p:nvSpPr>
          <p:cNvPr id="24" name="Rounded Rectangle 23"/>
          <p:cNvSpPr/>
          <p:nvPr/>
        </p:nvSpPr>
        <p:spPr>
          <a:xfrm>
            <a:off x="9948672" y="1417320"/>
            <a:ext cx="1463040" cy="384048"/>
          </a:xfrm>
          <a:prstGeom prst="roundRect">
            <a:avLst>
              <a:gd name="adj" fmla="val 33333"/>
            </a:avLst>
          </a:prstGeom>
          <a:solidFill>
            <a:srgbClr val="EC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13264" y="1417320"/>
            <a:ext cx="1133856" cy="384048"/>
          </a:xfrm>
          <a:prstGeom prst="rect">
            <a:avLst/>
          </a:prstGeom>
          <a:noFill/>
        </p:spPr>
        <p:txBody>
          <a:bodyPr wrap="square" lIns="0" rIns="0" tIns="0" bIns="0" anchor="ctr">
            <a:spAutoFit/>
          </a:bodyPr>
          <a:lstStyle/>
          <a:p>
            <a:pPr algn="l">
              <a:lnSpc>
                <a:spcPct val="105000"/>
              </a:lnSpc>
              <a:spcAft>
                <a:spcPts val="0"/>
              </a:spcAft>
            </a:pPr>
            <a:r>
              <a:rPr sz="1100" b="1">
                <a:solidFill>
                  <a:srgbClr val="0F1216"/>
                </a:solidFill>
                <a:latin typeface="Arial"/>
              </a:rPr>
              <a:t>/raporteaza</a:t>
            </a:r>
          </a:p>
        </p:txBody>
      </p:sp>
      <p:sp>
        <p:nvSpPr>
          <p:cNvPr id="26" name="Rounded Rectangle 25"/>
          <p:cNvSpPr/>
          <p:nvPr/>
        </p:nvSpPr>
        <p:spPr>
          <a:xfrm>
            <a:off x="7178040" y="1920240"/>
            <a:ext cx="3291840" cy="384048"/>
          </a:xfrm>
          <a:prstGeom prst="roundRect">
            <a:avLst>
              <a:gd name="adj" fmla="val 33333"/>
            </a:avLst>
          </a:prstGeom>
          <a:solidFill>
            <a:srgbClr val="1F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42631" y="1920240"/>
            <a:ext cx="2962656" cy="384048"/>
          </a:xfrm>
          <a:prstGeom prst="rect">
            <a:avLst/>
          </a:prstGeom>
          <a:noFill/>
        </p:spPr>
        <p:txBody>
          <a:bodyPr wrap="square" lIns="0" rIns="0" tIns="0" bIns="0" anchor="ctr">
            <a:spAutoFit/>
          </a:bodyPr>
          <a:lstStyle/>
          <a:p>
            <a:pPr algn="l">
              <a:lnSpc>
                <a:spcPct val="105000"/>
              </a:lnSpc>
              <a:spcAft>
                <a:spcPts val="0"/>
              </a:spcAft>
            </a:pPr>
            <a:r>
              <a:rPr sz="1100" b="0">
                <a:solidFill>
                  <a:srgbClr val="ECEEF1"/>
                </a:solidFill>
                <a:latin typeface="Arial"/>
              </a:rPr>
              <a:t>What problem do you want to report?</a:t>
            </a:r>
          </a:p>
        </p:txBody>
      </p:sp>
      <p:sp>
        <p:nvSpPr>
          <p:cNvPr id="28" name="Rounded Rectangle 27"/>
          <p:cNvSpPr/>
          <p:nvPr/>
        </p:nvSpPr>
        <p:spPr>
          <a:xfrm>
            <a:off x="7178040" y="2350008"/>
            <a:ext cx="1048512" cy="329184"/>
          </a:xfrm>
          <a:prstGeom prst="roundRect">
            <a:avLst>
              <a:gd name="adj" fmla="val 27777"/>
            </a:avLst>
          </a:prstGeom>
          <a:solidFill>
            <a:srgbClr val="2A3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23759" y="2350008"/>
            <a:ext cx="957072" cy="329184"/>
          </a:xfrm>
          <a:prstGeom prst="rect">
            <a:avLst/>
          </a:prstGeom>
          <a:noFill/>
        </p:spPr>
        <p:txBody>
          <a:bodyPr wrap="square" lIns="0" rIns="0" tIns="0" bIns="0" anchor="ctr">
            <a:spAutoFit/>
          </a:bodyPr>
          <a:lstStyle/>
          <a:p>
            <a:pPr algn="ctr">
              <a:spcAft>
                <a:spcPts val="0"/>
              </a:spcAft>
            </a:pPr>
            <a:r>
              <a:rPr sz="950" b="1">
                <a:solidFill>
                  <a:srgbClr val="ECEEF1"/>
                </a:solidFill>
                <a:latin typeface="Arial"/>
              </a:rPr>
              <a:t>Water</a:t>
            </a:r>
          </a:p>
        </p:txBody>
      </p:sp>
      <p:sp>
        <p:nvSpPr>
          <p:cNvPr id="30" name="Rounded Rectangle 29"/>
          <p:cNvSpPr/>
          <p:nvPr/>
        </p:nvSpPr>
        <p:spPr>
          <a:xfrm>
            <a:off x="8299704" y="2350008"/>
            <a:ext cx="1048512" cy="329184"/>
          </a:xfrm>
          <a:prstGeom prst="roundRect">
            <a:avLst>
              <a:gd name="adj" fmla="val 27777"/>
            </a:avLst>
          </a:prstGeom>
          <a:solidFill>
            <a:srgbClr val="2A3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45424" y="2350008"/>
            <a:ext cx="957072" cy="329184"/>
          </a:xfrm>
          <a:prstGeom prst="rect">
            <a:avLst/>
          </a:prstGeom>
          <a:noFill/>
        </p:spPr>
        <p:txBody>
          <a:bodyPr wrap="square" lIns="0" rIns="0" tIns="0" bIns="0" anchor="ctr">
            <a:spAutoFit/>
          </a:bodyPr>
          <a:lstStyle/>
          <a:p>
            <a:pPr algn="ctr">
              <a:spcAft>
                <a:spcPts val="0"/>
              </a:spcAft>
            </a:pPr>
            <a:r>
              <a:rPr sz="950" b="1">
                <a:solidFill>
                  <a:srgbClr val="ECEEF1"/>
                </a:solidFill>
                <a:latin typeface="Arial"/>
              </a:rPr>
              <a:t>Gas</a:t>
            </a:r>
          </a:p>
        </p:txBody>
      </p:sp>
      <p:sp>
        <p:nvSpPr>
          <p:cNvPr id="32" name="Rounded Rectangle 31"/>
          <p:cNvSpPr/>
          <p:nvPr/>
        </p:nvSpPr>
        <p:spPr>
          <a:xfrm>
            <a:off x="9421368" y="2350008"/>
            <a:ext cx="1048512" cy="329184"/>
          </a:xfrm>
          <a:prstGeom prst="roundRect">
            <a:avLst>
              <a:gd name="adj" fmla="val 27777"/>
            </a:avLst>
          </a:prstGeom>
          <a:solidFill>
            <a:srgbClr val="2A3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67088" y="2350008"/>
            <a:ext cx="957072" cy="329184"/>
          </a:xfrm>
          <a:prstGeom prst="rect">
            <a:avLst/>
          </a:prstGeom>
          <a:noFill/>
        </p:spPr>
        <p:txBody>
          <a:bodyPr wrap="square" lIns="0" rIns="0" tIns="0" bIns="0" anchor="ctr">
            <a:spAutoFit/>
          </a:bodyPr>
          <a:lstStyle/>
          <a:p>
            <a:pPr algn="ctr">
              <a:spcAft>
                <a:spcPts val="0"/>
              </a:spcAft>
            </a:pPr>
            <a:r>
              <a:rPr sz="950" b="1">
                <a:solidFill>
                  <a:srgbClr val="ECEEF1"/>
                </a:solidFill>
                <a:latin typeface="Arial"/>
              </a:rPr>
              <a:t>Electricity</a:t>
            </a:r>
          </a:p>
        </p:txBody>
      </p:sp>
      <p:sp>
        <p:nvSpPr>
          <p:cNvPr id="34" name="Rounded Rectangle 33"/>
          <p:cNvSpPr/>
          <p:nvPr/>
        </p:nvSpPr>
        <p:spPr>
          <a:xfrm>
            <a:off x="10405872" y="2834639"/>
            <a:ext cx="1005840" cy="384048"/>
          </a:xfrm>
          <a:prstGeom prst="roundRect">
            <a:avLst>
              <a:gd name="adj" fmla="val 33333"/>
            </a:avLst>
          </a:prstGeom>
          <a:solidFill>
            <a:srgbClr val="EC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70464" y="2834639"/>
            <a:ext cx="676656" cy="384048"/>
          </a:xfrm>
          <a:prstGeom prst="rect">
            <a:avLst/>
          </a:prstGeom>
          <a:noFill/>
        </p:spPr>
        <p:txBody>
          <a:bodyPr wrap="square" lIns="0" rIns="0" tIns="0" bIns="0" anchor="ctr">
            <a:spAutoFit/>
          </a:bodyPr>
          <a:lstStyle/>
          <a:p>
            <a:pPr algn="l">
              <a:lnSpc>
                <a:spcPct val="105000"/>
              </a:lnSpc>
              <a:spcAft>
                <a:spcPts val="0"/>
              </a:spcAft>
            </a:pPr>
            <a:r>
              <a:rPr sz="1100" b="1">
                <a:solidFill>
                  <a:srgbClr val="0F1216"/>
                </a:solidFill>
                <a:latin typeface="Arial"/>
              </a:rPr>
              <a:t>Water</a:t>
            </a:r>
          </a:p>
        </p:txBody>
      </p:sp>
      <p:sp>
        <p:nvSpPr>
          <p:cNvPr id="36" name="Rounded Rectangle 35"/>
          <p:cNvSpPr/>
          <p:nvPr/>
        </p:nvSpPr>
        <p:spPr>
          <a:xfrm>
            <a:off x="7178040" y="3337560"/>
            <a:ext cx="3291840" cy="566928"/>
          </a:xfrm>
          <a:prstGeom prst="roundRect">
            <a:avLst>
              <a:gd name="adj" fmla="val 22580"/>
            </a:avLst>
          </a:prstGeom>
          <a:solidFill>
            <a:srgbClr val="1F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42631" y="3337560"/>
            <a:ext cx="2962656" cy="566928"/>
          </a:xfrm>
          <a:prstGeom prst="rect">
            <a:avLst/>
          </a:prstGeom>
          <a:noFill/>
        </p:spPr>
        <p:txBody>
          <a:bodyPr wrap="square" lIns="0" rIns="0" tIns="0" bIns="0" anchor="ctr">
            <a:spAutoFit/>
          </a:bodyPr>
          <a:lstStyle/>
          <a:p>
            <a:pPr algn="l">
              <a:lnSpc>
                <a:spcPct val="105000"/>
              </a:lnSpc>
              <a:spcAft>
                <a:spcPts val="0"/>
              </a:spcAft>
            </a:pPr>
            <a:r>
              <a:rPr sz="1100" b="0">
                <a:solidFill>
                  <a:srgbClr val="ECEEF1"/>
                </a:solidFill>
                <a:latin typeface="Arial"/>
              </a:rPr>
              <a:t>Is it happening now, or starting later?</a:t>
            </a:r>
          </a:p>
        </p:txBody>
      </p:sp>
      <p:sp>
        <p:nvSpPr>
          <p:cNvPr id="38" name="Rounded Rectangle 37"/>
          <p:cNvSpPr/>
          <p:nvPr/>
        </p:nvSpPr>
        <p:spPr>
          <a:xfrm>
            <a:off x="7178040" y="3950208"/>
            <a:ext cx="1609344" cy="329184"/>
          </a:xfrm>
          <a:prstGeom prst="roundRect">
            <a:avLst>
              <a:gd name="adj" fmla="val 27777"/>
            </a:avLst>
          </a:prstGeom>
          <a:solidFill>
            <a:srgbClr val="2A3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23759" y="3950208"/>
            <a:ext cx="1517904" cy="329184"/>
          </a:xfrm>
          <a:prstGeom prst="rect">
            <a:avLst/>
          </a:prstGeom>
          <a:noFill/>
        </p:spPr>
        <p:txBody>
          <a:bodyPr wrap="square" lIns="0" rIns="0" tIns="0" bIns="0" anchor="ctr">
            <a:spAutoFit/>
          </a:bodyPr>
          <a:lstStyle/>
          <a:p>
            <a:pPr algn="ctr">
              <a:spcAft>
                <a:spcPts val="0"/>
              </a:spcAft>
            </a:pPr>
            <a:r>
              <a:rPr sz="950" b="1">
                <a:solidFill>
                  <a:srgbClr val="ECEEF1"/>
                </a:solidFill>
                <a:latin typeface="Arial"/>
              </a:rPr>
              <a:t>Happening now</a:t>
            </a:r>
          </a:p>
        </p:txBody>
      </p:sp>
      <p:sp>
        <p:nvSpPr>
          <p:cNvPr id="40" name="Rounded Rectangle 39"/>
          <p:cNvSpPr/>
          <p:nvPr/>
        </p:nvSpPr>
        <p:spPr>
          <a:xfrm>
            <a:off x="8860536" y="3950208"/>
            <a:ext cx="1609344" cy="329184"/>
          </a:xfrm>
          <a:prstGeom prst="roundRect">
            <a:avLst>
              <a:gd name="adj" fmla="val 27777"/>
            </a:avLst>
          </a:prstGeom>
          <a:solidFill>
            <a:srgbClr val="2A3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906256" y="3950208"/>
            <a:ext cx="1517904" cy="329184"/>
          </a:xfrm>
          <a:prstGeom prst="rect">
            <a:avLst/>
          </a:prstGeom>
          <a:noFill/>
        </p:spPr>
        <p:txBody>
          <a:bodyPr wrap="square" lIns="0" rIns="0" tIns="0" bIns="0" anchor="ctr">
            <a:spAutoFit/>
          </a:bodyPr>
          <a:lstStyle/>
          <a:p>
            <a:pPr algn="ctr">
              <a:spcAft>
                <a:spcPts val="0"/>
              </a:spcAft>
            </a:pPr>
            <a:r>
              <a:rPr sz="950" b="1">
                <a:solidFill>
                  <a:srgbClr val="ECEEF1"/>
                </a:solidFill>
                <a:latin typeface="Arial"/>
              </a:rPr>
              <a:t>Upcoming</a:t>
            </a:r>
          </a:p>
        </p:txBody>
      </p:sp>
      <p:sp>
        <p:nvSpPr>
          <p:cNvPr id="42" name="Rounded Rectangle 41"/>
          <p:cNvSpPr/>
          <p:nvPr/>
        </p:nvSpPr>
        <p:spPr>
          <a:xfrm>
            <a:off x="7178040" y="4434840"/>
            <a:ext cx="3291840" cy="384048"/>
          </a:xfrm>
          <a:prstGeom prst="roundRect">
            <a:avLst>
              <a:gd name="adj" fmla="val 33333"/>
            </a:avLst>
          </a:prstGeom>
          <a:solidFill>
            <a:srgbClr val="1F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42631" y="4434840"/>
            <a:ext cx="2962656" cy="384048"/>
          </a:xfrm>
          <a:prstGeom prst="rect">
            <a:avLst/>
          </a:prstGeom>
          <a:noFill/>
        </p:spPr>
        <p:txBody>
          <a:bodyPr wrap="square" lIns="0" rIns="0" tIns="0" bIns="0" anchor="ctr">
            <a:spAutoFit/>
          </a:bodyPr>
          <a:lstStyle/>
          <a:p>
            <a:pPr algn="l">
              <a:lnSpc>
                <a:spcPct val="105000"/>
              </a:lnSpc>
              <a:spcAft>
                <a:spcPts val="0"/>
              </a:spcAft>
            </a:pPr>
            <a:r>
              <a:rPr sz="1100" b="0">
                <a:solidFill>
                  <a:srgbClr val="ECEEF1"/>
                </a:solidFill>
                <a:latin typeface="Arial"/>
              </a:rPr>
              <a:t>Send the location of the problem.</a:t>
            </a:r>
          </a:p>
        </p:txBody>
      </p:sp>
      <p:sp>
        <p:nvSpPr>
          <p:cNvPr id="44" name="Rounded Rectangle 43"/>
          <p:cNvSpPr/>
          <p:nvPr/>
        </p:nvSpPr>
        <p:spPr>
          <a:xfrm>
            <a:off x="7178040" y="4864607"/>
            <a:ext cx="1828800" cy="329184"/>
          </a:xfrm>
          <a:prstGeom prst="roundRect">
            <a:avLst>
              <a:gd name="adj" fmla="val 27777"/>
            </a:avLst>
          </a:prstGeom>
          <a:solidFill>
            <a:srgbClr val="2A3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223759" y="4864607"/>
            <a:ext cx="1737360" cy="329184"/>
          </a:xfrm>
          <a:prstGeom prst="rect">
            <a:avLst/>
          </a:prstGeom>
          <a:noFill/>
        </p:spPr>
        <p:txBody>
          <a:bodyPr wrap="square" lIns="0" rIns="0" tIns="0" bIns="0" anchor="ctr">
            <a:spAutoFit/>
          </a:bodyPr>
          <a:lstStyle/>
          <a:p>
            <a:pPr algn="ctr">
              <a:spcAft>
                <a:spcPts val="0"/>
              </a:spcAft>
            </a:pPr>
            <a:r>
              <a:rPr sz="950" b="1">
                <a:solidFill>
                  <a:srgbClr val="ECEEF1"/>
                </a:solidFill>
                <a:latin typeface="Arial"/>
              </a:rPr>
              <a:t>Send location</a:t>
            </a:r>
          </a:p>
        </p:txBody>
      </p:sp>
      <p:sp>
        <p:nvSpPr>
          <p:cNvPr id="46" name="Rounded Rectangle 45"/>
          <p:cNvSpPr/>
          <p:nvPr/>
        </p:nvSpPr>
        <p:spPr>
          <a:xfrm>
            <a:off x="7178040" y="5349240"/>
            <a:ext cx="3291840" cy="475488"/>
          </a:xfrm>
          <a:prstGeom prst="roundRect">
            <a:avLst>
              <a:gd name="adj" fmla="val 26923"/>
            </a:avLst>
          </a:prstGeom>
          <a:solidFill>
            <a:srgbClr val="1F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342631" y="5349240"/>
            <a:ext cx="2962656" cy="475488"/>
          </a:xfrm>
          <a:prstGeom prst="rect">
            <a:avLst/>
          </a:prstGeom>
          <a:noFill/>
        </p:spPr>
        <p:txBody>
          <a:bodyPr wrap="square" lIns="0" rIns="0" tIns="0" bIns="0" anchor="ctr">
            <a:spAutoFit/>
          </a:bodyPr>
          <a:lstStyle/>
          <a:p>
            <a:pPr algn="l">
              <a:lnSpc>
                <a:spcPct val="105000"/>
              </a:lnSpc>
              <a:spcAft>
                <a:spcPts val="0"/>
              </a:spcAft>
            </a:pPr>
            <a:r>
              <a:rPr sz="1100" b="1">
                <a:solidFill>
                  <a:srgbClr val="ECEEF1"/>
                </a:solidFill>
                <a:latin typeface="Arial"/>
              </a:rPr>
              <a:t>Report sent. </a:t>
            </a:r>
            <a:r>
              <a:rPr sz="1100" b="0">
                <a:solidFill>
                  <a:srgbClr val="ECEEF1"/>
                </a:solidFill>
                <a:latin typeface="Arial"/>
              </a:rPr>
              <a:t>Neighbours nearby confirm it.</a:t>
            </a:r>
          </a:p>
        </p:txBody>
      </p:sp>
      <p:sp>
        <p:nvSpPr>
          <p:cNvPr id="48" name="Oval 47"/>
          <p:cNvSpPr/>
          <p:nvPr/>
        </p:nvSpPr>
        <p:spPr>
          <a:xfrm>
            <a:off x="7315200" y="5522976"/>
            <a:ext cx="128016" cy="128016"/>
          </a:xfrm>
          <a:prstGeom prst="ellipse">
            <a:avLst/>
          </a:prstGeom>
          <a:solidFill>
            <a:srgbClr val="5CC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 y="5989320"/>
            <a:ext cx="5852160" cy="274320"/>
          </a:xfrm>
          <a:prstGeom prst="rect">
            <a:avLst/>
          </a:prstGeom>
          <a:noFill/>
        </p:spPr>
        <p:txBody>
          <a:bodyPr wrap="square" lIns="0" rIns="0" tIns="0" bIns="0" anchor="t">
            <a:spAutoFit/>
          </a:bodyPr>
          <a:lstStyle/>
          <a:p>
            <a:pPr algn="l">
              <a:spcAft>
                <a:spcPts val="0"/>
              </a:spcAft>
            </a:pPr>
            <a:r>
              <a:rPr sz="950" b="0">
                <a:solidFill>
                  <a:srgbClr val="555A61"/>
                </a:solidFill>
                <a:latin typeface="Arial"/>
              </a:rPr>
              <a:t>Working prototype on the same database as the web app. Messages translated from Romanian.</a:t>
            </a:r>
          </a:p>
        </p:txBody>
      </p:sp>
      <p:sp>
        <p:nvSpPr>
          <p:cNvPr id="50" name="Rounded Rectangle 49"/>
          <p:cNvSpPr/>
          <p:nvPr/>
        </p:nvSpPr>
        <p:spPr>
          <a:xfrm>
            <a:off x="548640" y="6291072"/>
            <a:ext cx="237744" cy="237744"/>
          </a:xfrm>
          <a:prstGeom prst="roundRect">
            <a:avLst>
              <a:gd name="adj" fmla="val 28125"/>
            </a:avLst>
          </a:prstGeom>
          <a:solidFill>
            <a:srgbClr val="16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600646" y="6391370"/>
            <a:ext cx="133731" cy="37147"/>
          </a:xfrm>
          <a:prstGeom prst="roundRect">
            <a:avLst>
              <a:gd name="adj" fmla="val 50000"/>
            </a:avLst>
          </a:prstGeom>
          <a:solidFill>
            <a:srgbClr val="5C5D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600646" y="6391370"/>
            <a:ext cx="81724" cy="37147"/>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 name="Connector 52"/>
          <p:cNvCxnSpPr/>
          <p:nvPr/>
        </p:nvCxnSpPr>
        <p:spPr>
          <a:xfrm>
            <a:off x="960120" y="6409944"/>
            <a:ext cx="8503920" cy="0"/>
          </a:xfrm>
          <a:prstGeom prst="line">
            <a:avLst/>
          </a:prstGeom>
          <a:ln w="9525">
            <a:solidFill>
              <a:srgbClr val="C4C4BB"/>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9601200" y="6291072"/>
            <a:ext cx="2039112" cy="237744"/>
          </a:xfrm>
          <a:prstGeom prst="rect">
            <a:avLst/>
          </a:prstGeom>
          <a:noFill/>
        </p:spPr>
        <p:txBody>
          <a:bodyPr wrap="square" lIns="0" rIns="0" tIns="0" bIns="0" anchor="ctr">
            <a:spAutoFit/>
          </a:bodyPr>
          <a:lstStyle/>
          <a:p>
            <a:pPr algn="r">
              <a:spcAft>
                <a:spcPts val="0"/>
              </a:spcAft>
            </a:pPr>
            <a:r>
              <a:rPr sz="1000" b="0">
                <a:solidFill>
                  <a:srgbClr val="555A61"/>
                </a:solidFill>
                <a:latin typeface="Arial"/>
              </a:rPr>
              <a:t>Work In Progress · Chișinău</a:t>
            </a:r>
            <a:r>
              <a:rPr sz="1000" b="1">
                <a:solidFill>
                  <a:srgbClr val="555A61"/>
                </a:solidFill>
                <a:latin typeface="Arial"/>
              </a:rPr>
              <a:t>   B4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5486400" cy="274320"/>
          </a:xfrm>
          <a:prstGeom prst="rect">
            <a:avLst/>
          </a:prstGeom>
          <a:noFill/>
        </p:spPr>
        <p:txBody>
          <a:bodyPr wrap="square" lIns="0" rIns="0" tIns="0" bIns="0" anchor="t">
            <a:spAutoFit/>
          </a:bodyPr>
          <a:lstStyle/>
          <a:p>
            <a:pPr algn="l">
              <a:spcAft>
                <a:spcPts val="0"/>
              </a:spcAft>
            </a:pPr>
            <a:r>
              <a:rPr sz="1100" b="1" spc="300">
                <a:solidFill>
                  <a:srgbClr val="555A61"/>
                </a:solidFill>
                <a:latin typeface="Arial"/>
              </a:rPr>
              <a:t>BACKUP · ARCHITECTURE</a:t>
            </a:r>
          </a:p>
        </p:txBody>
      </p:sp>
      <p:sp>
        <p:nvSpPr>
          <p:cNvPr id="3" name="TextBox 2"/>
          <p:cNvSpPr txBox="1"/>
          <p:nvPr/>
        </p:nvSpPr>
        <p:spPr>
          <a:xfrm>
            <a:off x="548640" y="822960"/>
            <a:ext cx="7315200" cy="731520"/>
          </a:xfrm>
          <a:prstGeom prst="rect">
            <a:avLst/>
          </a:prstGeom>
          <a:noFill/>
        </p:spPr>
        <p:txBody>
          <a:bodyPr wrap="square" lIns="0" rIns="0" tIns="0" bIns="0" anchor="t">
            <a:spAutoFit/>
          </a:bodyPr>
          <a:lstStyle/>
          <a:p>
            <a:pPr algn="l">
              <a:spcAft>
                <a:spcPts val="0"/>
              </a:spcAft>
            </a:pPr>
            <a:r>
              <a:rPr sz="3400" b="1">
                <a:solidFill>
                  <a:srgbClr val="16181B"/>
                </a:solidFill>
                <a:latin typeface="Arial"/>
              </a:rPr>
              <a:t>Architecture</a:t>
            </a:r>
          </a:p>
        </p:txBody>
      </p:sp>
      <p:sp>
        <p:nvSpPr>
          <p:cNvPr id="4" name="Rounded Rectangle 3"/>
          <p:cNvSpPr/>
          <p:nvPr/>
        </p:nvSpPr>
        <p:spPr>
          <a:xfrm>
            <a:off x="548640" y="1691640"/>
            <a:ext cx="11091672" cy="658368"/>
          </a:xfrm>
          <a:prstGeom prst="roundRect">
            <a:avLst>
              <a:gd name="adj" fmla="val 22222"/>
            </a:avLst>
          </a:prstGeom>
          <a:solidFill>
            <a:srgbClr val="F3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91640"/>
            <a:ext cx="1737360" cy="658368"/>
          </a:xfrm>
          <a:prstGeom prst="rect">
            <a:avLst/>
          </a:prstGeom>
          <a:noFill/>
        </p:spPr>
        <p:txBody>
          <a:bodyPr wrap="square" lIns="0" rIns="0" tIns="0" bIns="0" anchor="ctr">
            <a:spAutoFit/>
          </a:bodyPr>
          <a:lstStyle/>
          <a:p>
            <a:pPr algn="l">
              <a:spcAft>
                <a:spcPts val="0"/>
              </a:spcAft>
            </a:pPr>
            <a:r>
              <a:rPr sz="1300" b="1">
                <a:solidFill>
                  <a:srgbClr val="16181B"/>
                </a:solidFill>
                <a:latin typeface="Arial"/>
              </a:rPr>
              <a:t>Official data</a:t>
            </a:r>
          </a:p>
        </p:txBody>
      </p:sp>
      <p:sp>
        <p:nvSpPr>
          <p:cNvPr id="6" name="TextBox 5"/>
          <p:cNvSpPr txBox="1"/>
          <p:nvPr/>
        </p:nvSpPr>
        <p:spPr>
          <a:xfrm>
            <a:off x="2606040" y="1691640"/>
            <a:ext cx="3566160" cy="658368"/>
          </a:xfrm>
          <a:prstGeom prst="rect">
            <a:avLst/>
          </a:prstGeom>
          <a:noFill/>
        </p:spPr>
        <p:txBody>
          <a:bodyPr wrap="square" lIns="0" rIns="0" tIns="0" bIns="0" anchor="ctr">
            <a:spAutoFit/>
          </a:bodyPr>
          <a:lstStyle/>
          <a:p>
            <a:pPr algn="l">
              <a:spcAft>
                <a:spcPts val="0"/>
              </a:spcAft>
            </a:pPr>
            <a:r>
              <a:rPr sz="1150" b="0">
                <a:solidFill>
                  <a:srgbClr val="16181B"/>
                </a:solidFill>
                <a:latin typeface="Arial"/>
              </a:rPr>
              <a:t>Python importers · GitHub Actions (cron)</a:t>
            </a:r>
          </a:p>
        </p:txBody>
      </p:sp>
      <p:sp>
        <p:nvSpPr>
          <p:cNvPr id="7" name="TextBox 6"/>
          <p:cNvSpPr txBox="1"/>
          <p:nvPr/>
        </p:nvSpPr>
        <p:spPr>
          <a:xfrm>
            <a:off x="6263640" y="1691640"/>
            <a:ext cx="5212080" cy="658368"/>
          </a:xfrm>
          <a:prstGeom prst="rect">
            <a:avLst/>
          </a:prstGeom>
          <a:noFill/>
        </p:spPr>
        <p:txBody>
          <a:bodyPr wrap="square" lIns="0" rIns="0" tIns="0" bIns="0" anchor="ctr">
            <a:spAutoFit/>
          </a:bodyPr>
          <a:lstStyle/>
          <a:p>
            <a:pPr algn="l">
              <a:lnSpc>
                <a:spcPct val="105000"/>
              </a:lnSpc>
              <a:spcAft>
                <a:spcPts val="0"/>
              </a:spcAft>
            </a:pPr>
            <a:r>
              <a:rPr sz="1050" b="0">
                <a:solidFill>
                  <a:srgbClr val="555A61"/>
                </a:solidFill>
                <a:latin typeface="Arial"/>
              </a:rPr>
              <a:t>Read 4 provider websites, parse addresses and times, stable IDs, auto-resolve when removed, clean up after 24 h</a:t>
            </a:r>
          </a:p>
        </p:txBody>
      </p:sp>
      <p:sp>
        <p:nvSpPr>
          <p:cNvPr id="8" name="Rounded Rectangle 7"/>
          <p:cNvSpPr/>
          <p:nvPr/>
        </p:nvSpPr>
        <p:spPr>
          <a:xfrm>
            <a:off x="548640" y="2459736"/>
            <a:ext cx="11091672" cy="658368"/>
          </a:xfrm>
          <a:prstGeom prst="roundRect">
            <a:avLst>
              <a:gd name="adj" fmla="val 22222"/>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459736"/>
            <a:ext cx="1737360" cy="658368"/>
          </a:xfrm>
          <a:prstGeom prst="rect">
            <a:avLst/>
          </a:prstGeom>
          <a:noFill/>
        </p:spPr>
        <p:txBody>
          <a:bodyPr wrap="square" lIns="0" rIns="0" tIns="0" bIns="0" anchor="ctr">
            <a:spAutoFit/>
          </a:bodyPr>
          <a:lstStyle/>
          <a:p>
            <a:pPr algn="l">
              <a:spcAft>
                <a:spcPts val="0"/>
              </a:spcAft>
            </a:pPr>
            <a:r>
              <a:rPr sz="1300" b="1">
                <a:solidFill>
                  <a:srgbClr val="16181B"/>
                </a:solidFill>
                <a:latin typeface="Arial"/>
              </a:rPr>
              <a:t>Geocoding</a:t>
            </a:r>
          </a:p>
        </p:txBody>
      </p:sp>
      <p:sp>
        <p:nvSpPr>
          <p:cNvPr id="10" name="TextBox 9"/>
          <p:cNvSpPr txBox="1"/>
          <p:nvPr/>
        </p:nvSpPr>
        <p:spPr>
          <a:xfrm>
            <a:off x="2606040" y="2459736"/>
            <a:ext cx="3566160" cy="658368"/>
          </a:xfrm>
          <a:prstGeom prst="rect">
            <a:avLst/>
          </a:prstGeom>
          <a:noFill/>
        </p:spPr>
        <p:txBody>
          <a:bodyPr wrap="square" lIns="0" rIns="0" tIns="0" bIns="0" anchor="ctr">
            <a:spAutoFit/>
          </a:bodyPr>
          <a:lstStyle/>
          <a:p>
            <a:pPr algn="l">
              <a:spcAft>
                <a:spcPts val="0"/>
              </a:spcAft>
            </a:pPr>
            <a:r>
              <a:rPr sz="1150" b="0">
                <a:solidFill>
                  <a:srgbClr val="16181B"/>
                </a:solidFill>
                <a:latin typeface="Arial"/>
              </a:rPr>
              <a:t>OpenStreetMap · Nominatim / Photon + cache</a:t>
            </a:r>
          </a:p>
        </p:txBody>
      </p:sp>
      <p:sp>
        <p:nvSpPr>
          <p:cNvPr id="11" name="TextBox 10"/>
          <p:cNvSpPr txBox="1"/>
          <p:nvPr/>
        </p:nvSpPr>
        <p:spPr>
          <a:xfrm>
            <a:off x="6263640" y="2459736"/>
            <a:ext cx="5212080" cy="658368"/>
          </a:xfrm>
          <a:prstGeom prst="rect">
            <a:avLst/>
          </a:prstGeom>
          <a:noFill/>
        </p:spPr>
        <p:txBody>
          <a:bodyPr wrap="square" lIns="0" rIns="0" tIns="0" bIns="0" anchor="ctr">
            <a:spAutoFit/>
          </a:bodyPr>
          <a:lstStyle/>
          <a:p>
            <a:pPr algn="l">
              <a:lnSpc>
                <a:spcPct val="105000"/>
              </a:lnSpc>
              <a:spcAft>
                <a:spcPts val="0"/>
              </a:spcAft>
            </a:pPr>
            <a:r>
              <a:rPr sz="1050" b="0">
                <a:solidFill>
                  <a:srgbClr val="555A61"/>
                </a:solidFill>
                <a:latin typeface="Arial"/>
              </a:rPr>
              <a:t>Turn "street + building numbers" into points and affected zones on real streets</a:t>
            </a:r>
          </a:p>
        </p:txBody>
      </p:sp>
      <p:sp>
        <p:nvSpPr>
          <p:cNvPr id="12" name="Rounded Rectangle 11"/>
          <p:cNvSpPr/>
          <p:nvPr/>
        </p:nvSpPr>
        <p:spPr>
          <a:xfrm>
            <a:off x="548640" y="3227832"/>
            <a:ext cx="11091672" cy="658368"/>
          </a:xfrm>
          <a:prstGeom prst="roundRect">
            <a:avLst>
              <a:gd name="adj" fmla="val 22222"/>
            </a:avLst>
          </a:prstGeom>
          <a:solidFill>
            <a:srgbClr val="F3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227832"/>
            <a:ext cx="1737360" cy="658368"/>
          </a:xfrm>
          <a:prstGeom prst="rect">
            <a:avLst/>
          </a:prstGeom>
          <a:noFill/>
        </p:spPr>
        <p:txBody>
          <a:bodyPr wrap="square" lIns="0" rIns="0" tIns="0" bIns="0" anchor="ctr">
            <a:spAutoFit/>
          </a:bodyPr>
          <a:lstStyle/>
          <a:p>
            <a:pPr algn="l">
              <a:spcAft>
                <a:spcPts val="0"/>
              </a:spcAft>
            </a:pPr>
            <a:r>
              <a:rPr sz="1300" b="1">
                <a:solidFill>
                  <a:srgbClr val="16181B"/>
                </a:solidFill>
                <a:latin typeface="Arial"/>
              </a:rPr>
              <a:t>Backend</a:t>
            </a:r>
          </a:p>
        </p:txBody>
      </p:sp>
      <p:sp>
        <p:nvSpPr>
          <p:cNvPr id="14" name="TextBox 13"/>
          <p:cNvSpPr txBox="1"/>
          <p:nvPr/>
        </p:nvSpPr>
        <p:spPr>
          <a:xfrm>
            <a:off x="2606040" y="3227832"/>
            <a:ext cx="3566160" cy="658368"/>
          </a:xfrm>
          <a:prstGeom prst="rect">
            <a:avLst/>
          </a:prstGeom>
          <a:noFill/>
        </p:spPr>
        <p:txBody>
          <a:bodyPr wrap="square" lIns="0" rIns="0" tIns="0" bIns="0" anchor="ctr">
            <a:spAutoFit/>
          </a:bodyPr>
          <a:lstStyle/>
          <a:p>
            <a:pPr algn="l">
              <a:spcAft>
                <a:spcPts val="0"/>
              </a:spcAft>
            </a:pPr>
            <a:r>
              <a:rPr sz="1150" b="0">
                <a:solidFill>
                  <a:srgbClr val="16181B"/>
                </a:solidFill>
                <a:latin typeface="Arial"/>
              </a:rPr>
              <a:t>Firebase · Firestore + Auth + security rules</a:t>
            </a:r>
          </a:p>
        </p:txBody>
      </p:sp>
      <p:sp>
        <p:nvSpPr>
          <p:cNvPr id="15" name="TextBox 14"/>
          <p:cNvSpPr txBox="1"/>
          <p:nvPr/>
        </p:nvSpPr>
        <p:spPr>
          <a:xfrm>
            <a:off x="6263640" y="3227832"/>
            <a:ext cx="5212080" cy="658368"/>
          </a:xfrm>
          <a:prstGeom prst="rect">
            <a:avLst/>
          </a:prstGeom>
          <a:noFill/>
        </p:spPr>
        <p:txBody>
          <a:bodyPr wrap="square" lIns="0" rIns="0" tIns="0" bIns="0" anchor="ctr">
            <a:spAutoFit/>
          </a:bodyPr>
          <a:lstStyle/>
          <a:p>
            <a:pPr algn="l">
              <a:lnSpc>
                <a:spcPct val="105000"/>
              </a:lnSpc>
              <a:spcAft>
                <a:spcPts val="0"/>
              </a:spcAft>
            </a:pPr>
            <a:r>
              <a:rPr sz="1050" b="0">
                <a:solidFill>
                  <a:srgbClr val="555A61"/>
                </a:solidFill>
                <a:latin typeface="Arial"/>
              </a:rPr>
              <a:t>Real-time events, votes and users · email / Google sign-in · votes limited to +1 in the database</a:t>
            </a:r>
          </a:p>
        </p:txBody>
      </p:sp>
      <p:sp>
        <p:nvSpPr>
          <p:cNvPr id="16" name="Rounded Rectangle 15"/>
          <p:cNvSpPr/>
          <p:nvPr/>
        </p:nvSpPr>
        <p:spPr>
          <a:xfrm>
            <a:off x="548640" y="3995928"/>
            <a:ext cx="11091672" cy="658368"/>
          </a:xfrm>
          <a:prstGeom prst="roundRect">
            <a:avLst>
              <a:gd name="adj" fmla="val 22222"/>
            </a:avLst>
          </a:prstGeom>
          <a:solidFill>
            <a:srgbClr val="FFFFFF"/>
          </a:solidFill>
          <a:ln w="12700">
            <a:solidFill>
              <a:srgbClr val="E3E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995928"/>
            <a:ext cx="1737360" cy="658368"/>
          </a:xfrm>
          <a:prstGeom prst="rect">
            <a:avLst/>
          </a:prstGeom>
          <a:noFill/>
        </p:spPr>
        <p:txBody>
          <a:bodyPr wrap="square" lIns="0" rIns="0" tIns="0" bIns="0" anchor="ctr">
            <a:spAutoFit/>
          </a:bodyPr>
          <a:lstStyle/>
          <a:p>
            <a:pPr algn="l">
              <a:spcAft>
                <a:spcPts val="0"/>
              </a:spcAft>
            </a:pPr>
            <a:r>
              <a:rPr sz="1300" b="1">
                <a:solidFill>
                  <a:srgbClr val="16181B"/>
                </a:solidFill>
                <a:latin typeface="Arial"/>
              </a:rPr>
              <a:t>Front-end</a:t>
            </a:r>
          </a:p>
        </p:txBody>
      </p:sp>
      <p:sp>
        <p:nvSpPr>
          <p:cNvPr id="18" name="TextBox 17"/>
          <p:cNvSpPr txBox="1"/>
          <p:nvPr/>
        </p:nvSpPr>
        <p:spPr>
          <a:xfrm>
            <a:off x="2606040" y="3995928"/>
            <a:ext cx="3566160" cy="658368"/>
          </a:xfrm>
          <a:prstGeom prst="rect">
            <a:avLst/>
          </a:prstGeom>
          <a:noFill/>
        </p:spPr>
        <p:txBody>
          <a:bodyPr wrap="square" lIns="0" rIns="0" tIns="0" bIns="0" anchor="ctr">
            <a:spAutoFit/>
          </a:bodyPr>
          <a:lstStyle/>
          <a:p>
            <a:pPr algn="l">
              <a:spcAft>
                <a:spcPts val="0"/>
              </a:spcAft>
            </a:pPr>
            <a:r>
              <a:rPr sz="1150" b="0">
                <a:solidFill>
                  <a:srgbClr val="16181B"/>
                </a:solidFill>
                <a:latin typeface="Arial"/>
              </a:rPr>
              <a:t>React · TypeScript · Leaflet · CARTO / OSM</a:t>
            </a:r>
          </a:p>
        </p:txBody>
      </p:sp>
      <p:sp>
        <p:nvSpPr>
          <p:cNvPr id="19" name="TextBox 18"/>
          <p:cNvSpPr txBox="1"/>
          <p:nvPr/>
        </p:nvSpPr>
        <p:spPr>
          <a:xfrm>
            <a:off x="6263640" y="3995928"/>
            <a:ext cx="5212080" cy="658368"/>
          </a:xfrm>
          <a:prstGeom prst="rect">
            <a:avLst/>
          </a:prstGeom>
          <a:noFill/>
        </p:spPr>
        <p:txBody>
          <a:bodyPr wrap="square" lIns="0" rIns="0" tIns="0" bIns="0" anchor="ctr">
            <a:spAutoFit/>
          </a:bodyPr>
          <a:lstStyle/>
          <a:p>
            <a:pPr algn="l">
              <a:lnSpc>
                <a:spcPct val="105000"/>
              </a:lnSpc>
              <a:spcAft>
                <a:spcPts val="0"/>
              </a:spcAft>
            </a:pPr>
            <a:r>
              <a:rPr sz="1050" b="0">
                <a:solidFill>
                  <a:srgbClr val="555A61"/>
                </a:solidFill>
                <a:latin typeface="Arial"/>
              </a:rPr>
              <a:t>Live map, list, calendar, reporting, proximity confirmation, saved addresses, RO/RU/EN, light / dark</a:t>
            </a:r>
          </a:p>
        </p:txBody>
      </p:sp>
      <p:sp>
        <p:nvSpPr>
          <p:cNvPr id="20" name="Rounded Rectangle 19"/>
          <p:cNvSpPr/>
          <p:nvPr/>
        </p:nvSpPr>
        <p:spPr>
          <a:xfrm>
            <a:off x="548640" y="4764024"/>
            <a:ext cx="11091672" cy="658368"/>
          </a:xfrm>
          <a:prstGeom prst="roundRect">
            <a:avLst>
              <a:gd name="adj" fmla="val 22222"/>
            </a:avLst>
          </a:prstGeom>
          <a:solidFill>
            <a:srgbClr val="F3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764024"/>
            <a:ext cx="1737360" cy="658368"/>
          </a:xfrm>
          <a:prstGeom prst="rect">
            <a:avLst/>
          </a:prstGeom>
          <a:noFill/>
        </p:spPr>
        <p:txBody>
          <a:bodyPr wrap="square" lIns="0" rIns="0" tIns="0" bIns="0" anchor="ctr">
            <a:spAutoFit/>
          </a:bodyPr>
          <a:lstStyle/>
          <a:p>
            <a:pPr algn="l">
              <a:spcAft>
                <a:spcPts val="0"/>
              </a:spcAft>
            </a:pPr>
            <a:r>
              <a:rPr sz="1300" b="1">
                <a:solidFill>
                  <a:srgbClr val="16181B"/>
                </a:solidFill>
                <a:latin typeface="Arial"/>
              </a:rPr>
              <a:t>Operations</a:t>
            </a:r>
          </a:p>
        </p:txBody>
      </p:sp>
      <p:sp>
        <p:nvSpPr>
          <p:cNvPr id="22" name="TextBox 21"/>
          <p:cNvSpPr txBox="1"/>
          <p:nvPr/>
        </p:nvSpPr>
        <p:spPr>
          <a:xfrm>
            <a:off x="2606040" y="4764024"/>
            <a:ext cx="3566160" cy="658368"/>
          </a:xfrm>
          <a:prstGeom prst="rect">
            <a:avLst/>
          </a:prstGeom>
          <a:noFill/>
        </p:spPr>
        <p:txBody>
          <a:bodyPr wrap="square" lIns="0" rIns="0" tIns="0" bIns="0" anchor="ctr">
            <a:spAutoFit/>
          </a:bodyPr>
          <a:lstStyle/>
          <a:p>
            <a:pPr algn="l">
              <a:spcAft>
                <a:spcPts val="0"/>
              </a:spcAft>
            </a:pPr>
            <a:r>
              <a:rPr sz="1150" b="0">
                <a:solidFill>
                  <a:srgbClr val="16181B"/>
                </a:solidFill>
                <a:latin typeface="Arial"/>
              </a:rPr>
              <a:t>GitHub Actions CI · Vercel</a:t>
            </a:r>
          </a:p>
        </p:txBody>
      </p:sp>
      <p:sp>
        <p:nvSpPr>
          <p:cNvPr id="23" name="TextBox 22"/>
          <p:cNvSpPr txBox="1"/>
          <p:nvPr/>
        </p:nvSpPr>
        <p:spPr>
          <a:xfrm>
            <a:off x="6263640" y="4764024"/>
            <a:ext cx="5212080" cy="658368"/>
          </a:xfrm>
          <a:prstGeom prst="rect">
            <a:avLst/>
          </a:prstGeom>
          <a:noFill/>
        </p:spPr>
        <p:txBody>
          <a:bodyPr wrap="square" lIns="0" rIns="0" tIns="0" bIns="0" anchor="ctr">
            <a:spAutoFit/>
          </a:bodyPr>
          <a:lstStyle/>
          <a:p>
            <a:pPr algn="l">
              <a:lnSpc>
                <a:spcPct val="105000"/>
              </a:lnSpc>
              <a:spcAft>
                <a:spcPts val="0"/>
              </a:spcAft>
            </a:pPr>
            <a:r>
              <a:rPr sz="1050" b="0">
                <a:solidFill>
                  <a:srgbClr val="555A61"/>
                </a:solidFill>
                <a:latin typeface="Arial"/>
              </a:rPr>
              <a:t>Every push to main is type-checked, built and deployed</a:t>
            </a:r>
          </a:p>
        </p:txBody>
      </p:sp>
      <p:sp>
        <p:nvSpPr>
          <p:cNvPr id="24" name="Rounded Rectangle 23"/>
          <p:cNvSpPr/>
          <p:nvPr/>
        </p:nvSpPr>
        <p:spPr>
          <a:xfrm>
            <a:off x="548640" y="5559552"/>
            <a:ext cx="3593592" cy="530352"/>
          </a:xfrm>
          <a:prstGeom prst="roundRect">
            <a:avLst>
              <a:gd name="adj" fmla="val 50000"/>
            </a:avLst>
          </a:prstGeom>
          <a:solidFill>
            <a:srgbClr val="171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559552"/>
            <a:ext cx="3291840" cy="530352"/>
          </a:xfrm>
          <a:prstGeom prst="rect">
            <a:avLst/>
          </a:prstGeom>
          <a:noFill/>
        </p:spPr>
        <p:txBody>
          <a:bodyPr wrap="square" lIns="0" rIns="0" tIns="0" bIns="0" anchor="ctr">
            <a:spAutoFit/>
          </a:bodyPr>
          <a:lstStyle/>
          <a:p>
            <a:pPr algn="l">
              <a:spcAft>
                <a:spcPts val="0"/>
              </a:spcAft>
            </a:pPr>
            <a:r>
              <a:rPr sz="1100" b="1">
                <a:solidFill>
                  <a:srgbClr val="ECEEF1"/>
                </a:solidFill>
                <a:latin typeface="Arial"/>
              </a:rPr>
              <a:t>New provider </a:t>
            </a:r>
            <a:r>
              <a:rPr sz="1100" b="0">
                <a:solidFill>
                  <a:srgbClr val="A9B0B9"/>
                </a:solidFill>
                <a:latin typeface="Arial"/>
              </a:rPr>
              <a:t>= one new importer</a:t>
            </a:r>
          </a:p>
        </p:txBody>
      </p:sp>
      <p:sp>
        <p:nvSpPr>
          <p:cNvPr id="26" name="Rounded Rectangle 25"/>
          <p:cNvSpPr/>
          <p:nvPr/>
        </p:nvSpPr>
        <p:spPr>
          <a:xfrm>
            <a:off x="4297679" y="5559552"/>
            <a:ext cx="3593592" cy="530352"/>
          </a:xfrm>
          <a:prstGeom prst="roundRect">
            <a:avLst>
              <a:gd name="adj" fmla="val 50000"/>
            </a:avLst>
          </a:prstGeom>
          <a:solidFill>
            <a:srgbClr val="171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26279" y="5559552"/>
            <a:ext cx="3291840" cy="530352"/>
          </a:xfrm>
          <a:prstGeom prst="rect">
            <a:avLst/>
          </a:prstGeom>
          <a:noFill/>
        </p:spPr>
        <p:txBody>
          <a:bodyPr wrap="square" lIns="0" rIns="0" tIns="0" bIns="0" anchor="ctr">
            <a:spAutoFit/>
          </a:bodyPr>
          <a:lstStyle/>
          <a:p>
            <a:pPr algn="l">
              <a:spcAft>
                <a:spcPts val="0"/>
              </a:spcAft>
            </a:pPr>
            <a:r>
              <a:rPr sz="1100" b="1">
                <a:solidFill>
                  <a:srgbClr val="ECEEF1"/>
                </a:solidFill>
                <a:latin typeface="Arial"/>
              </a:rPr>
              <a:t>New category or city </a:t>
            </a:r>
            <a:r>
              <a:rPr sz="1100" b="0">
                <a:solidFill>
                  <a:srgbClr val="A9B0B9"/>
                </a:solidFill>
                <a:latin typeface="Arial"/>
              </a:rPr>
              <a:t>= configuration</a:t>
            </a:r>
          </a:p>
        </p:txBody>
      </p:sp>
      <p:sp>
        <p:nvSpPr>
          <p:cNvPr id="28" name="Rounded Rectangle 27"/>
          <p:cNvSpPr/>
          <p:nvPr/>
        </p:nvSpPr>
        <p:spPr>
          <a:xfrm>
            <a:off x="8046719" y="5559552"/>
            <a:ext cx="3593592" cy="530352"/>
          </a:xfrm>
          <a:prstGeom prst="roundRect">
            <a:avLst>
              <a:gd name="adj" fmla="val 50000"/>
            </a:avLst>
          </a:prstGeom>
          <a:solidFill>
            <a:srgbClr val="171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75319" y="5559552"/>
            <a:ext cx="3291840" cy="530352"/>
          </a:xfrm>
          <a:prstGeom prst="rect">
            <a:avLst/>
          </a:prstGeom>
          <a:noFill/>
        </p:spPr>
        <p:txBody>
          <a:bodyPr wrap="square" lIns="0" rIns="0" tIns="0" bIns="0" anchor="ctr">
            <a:spAutoFit/>
          </a:bodyPr>
          <a:lstStyle/>
          <a:p>
            <a:pPr algn="l">
              <a:spcAft>
                <a:spcPts val="0"/>
              </a:spcAft>
            </a:pPr>
            <a:r>
              <a:rPr sz="1100" b="1">
                <a:solidFill>
                  <a:srgbClr val="ECEEF1"/>
                </a:solidFill>
                <a:latin typeface="Arial"/>
              </a:rPr>
              <a:t>API-ready </a:t>
            </a:r>
            <a:r>
              <a:rPr sz="1100" b="0">
                <a:solidFill>
                  <a:srgbClr val="A9B0B9"/>
                </a:solidFill>
                <a:latin typeface="Arial"/>
              </a:rPr>
              <a:t>= service layer over structured data</a:t>
            </a:r>
          </a:p>
        </p:txBody>
      </p:sp>
      <p:sp>
        <p:nvSpPr>
          <p:cNvPr id="30" name="Rounded Rectangle 29"/>
          <p:cNvSpPr/>
          <p:nvPr/>
        </p:nvSpPr>
        <p:spPr>
          <a:xfrm>
            <a:off x="548640" y="6291072"/>
            <a:ext cx="237744" cy="237744"/>
          </a:xfrm>
          <a:prstGeom prst="roundRect">
            <a:avLst>
              <a:gd name="adj" fmla="val 28125"/>
            </a:avLst>
          </a:prstGeom>
          <a:solidFill>
            <a:srgbClr val="16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00646" y="6391370"/>
            <a:ext cx="133731" cy="37147"/>
          </a:xfrm>
          <a:prstGeom prst="roundRect">
            <a:avLst>
              <a:gd name="adj" fmla="val 50000"/>
            </a:avLst>
          </a:prstGeom>
          <a:solidFill>
            <a:srgbClr val="5C5D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00646" y="6391370"/>
            <a:ext cx="81724" cy="37147"/>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960120" y="6409944"/>
            <a:ext cx="8503920" cy="0"/>
          </a:xfrm>
          <a:prstGeom prst="line">
            <a:avLst/>
          </a:prstGeom>
          <a:ln w="9525">
            <a:solidFill>
              <a:srgbClr val="C4C4BB"/>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601200" y="6291072"/>
            <a:ext cx="2039112" cy="237744"/>
          </a:xfrm>
          <a:prstGeom prst="rect">
            <a:avLst/>
          </a:prstGeom>
          <a:noFill/>
        </p:spPr>
        <p:txBody>
          <a:bodyPr wrap="square" lIns="0" rIns="0" tIns="0" bIns="0" anchor="ctr">
            <a:spAutoFit/>
          </a:bodyPr>
          <a:lstStyle/>
          <a:p>
            <a:pPr algn="r">
              <a:spcAft>
                <a:spcPts val="0"/>
              </a:spcAft>
            </a:pPr>
            <a:r>
              <a:rPr sz="1000" b="0">
                <a:solidFill>
                  <a:srgbClr val="555A61"/>
                </a:solidFill>
                <a:latin typeface="Arial"/>
              </a:rPr>
              <a:t>Work In Progress · Chișinău</a:t>
            </a:r>
            <a:r>
              <a:rPr sz="1000" b="1">
                <a:solidFill>
                  <a:srgbClr val="555A61"/>
                </a:solidFill>
                <a:latin typeface="Arial"/>
              </a:rPr>
              <a:t>   B5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5486400" cy="274320"/>
          </a:xfrm>
          <a:prstGeom prst="rect">
            <a:avLst/>
          </a:prstGeom>
          <a:noFill/>
        </p:spPr>
        <p:txBody>
          <a:bodyPr wrap="square" lIns="0" rIns="0" tIns="0" bIns="0" anchor="t">
            <a:spAutoFit/>
          </a:bodyPr>
          <a:lstStyle/>
          <a:p>
            <a:pPr algn="l">
              <a:spcAft>
                <a:spcPts val="0"/>
              </a:spcAft>
            </a:pPr>
            <a:r>
              <a:rPr sz="1100" b="1" spc="300">
                <a:solidFill>
                  <a:srgbClr val="555A61"/>
                </a:solidFill>
                <a:latin typeface="Arial"/>
              </a:rPr>
              <a:t>BACKUP · TRUST RULES</a:t>
            </a:r>
          </a:p>
        </p:txBody>
      </p:sp>
      <p:sp>
        <p:nvSpPr>
          <p:cNvPr id="3" name="TextBox 2"/>
          <p:cNvSpPr txBox="1"/>
          <p:nvPr/>
        </p:nvSpPr>
        <p:spPr>
          <a:xfrm>
            <a:off x="548640" y="822960"/>
            <a:ext cx="7315200" cy="731520"/>
          </a:xfrm>
          <a:prstGeom prst="rect">
            <a:avLst/>
          </a:prstGeom>
          <a:noFill/>
        </p:spPr>
        <p:txBody>
          <a:bodyPr wrap="square" lIns="0" rIns="0" tIns="0" bIns="0" anchor="t">
            <a:spAutoFit/>
          </a:bodyPr>
          <a:lstStyle/>
          <a:p>
            <a:pPr algn="l">
              <a:spcAft>
                <a:spcPts val="0"/>
              </a:spcAft>
            </a:pPr>
            <a:r>
              <a:rPr sz="3400" b="1">
                <a:solidFill>
                  <a:srgbClr val="16181B"/>
                </a:solidFill>
                <a:latin typeface="Arial"/>
              </a:rPr>
              <a:t>Trust rules</a:t>
            </a:r>
          </a:p>
        </p:txBody>
      </p:sp>
      <p:graphicFrame>
        <p:nvGraphicFramePr>
          <p:cNvPr id="4" name="Table 3"/>
          <p:cNvGraphicFramePr>
            <a:graphicFrameLocks noGrp="1"/>
          </p:cNvGraphicFramePr>
          <p:nvPr/>
        </p:nvGraphicFramePr>
        <p:xfrm>
          <a:off x="548640" y="1645920"/>
          <a:ext cx="11091672" cy="4389120"/>
        </p:xfrm>
        <a:graphic>
          <a:graphicData uri="http://schemas.openxmlformats.org/drawingml/2006/table">
            <a:tbl>
              <a:tblPr firstRow="0" bandRow="0">
                <a:tableStyleId>{5C22544A-7EE6-4342-B048-85BDC9FD1C3A}</a:tableStyleId>
              </a:tblPr>
              <a:tblGrid>
                <a:gridCol w="2834640"/>
                <a:gridCol w="3931920"/>
                <a:gridCol w="4325112"/>
              </a:tblGrid>
              <a:tr h="438912">
                <a:tc>
                  <a:txBody>
                    <a:bodyPr/>
                    <a:lstStyle/>
                    <a:p>
                      <a:r>
                        <a:rPr sz="1100" b="1">
                          <a:solidFill>
                            <a:srgbClr val="ECEEF1"/>
                          </a:solidFill>
                          <a:latin typeface="Arial"/>
                        </a:rPr>
                        <a:t>Rule</a:t>
                      </a:r>
                    </a:p>
                  </a:txBody>
                  <a:tcPr marL="137160" marT="36576" marB="36576" anchor="ctr">
                    <a:solidFill>
                      <a:srgbClr val="171B21"/>
                    </a:solidFill>
                  </a:tcPr>
                </a:tc>
                <a:tc>
                  <a:txBody>
                    <a:bodyPr/>
                    <a:lstStyle/>
                    <a:p>
                      <a:r>
                        <a:rPr sz="1100" b="1">
                          <a:solidFill>
                            <a:srgbClr val="ECEEF1"/>
                          </a:solidFill>
                          <a:latin typeface="Arial"/>
                        </a:rPr>
                        <a:t>Value</a:t>
                      </a:r>
                    </a:p>
                  </a:txBody>
                  <a:tcPr marL="137160" marT="36576" marB="36576" anchor="ctr">
                    <a:solidFill>
                      <a:srgbClr val="171B21"/>
                    </a:solidFill>
                  </a:tcPr>
                </a:tc>
                <a:tc>
                  <a:txBody>
                    <a:bodyPr/>
                    <a:lstStyle/>
                    <a:p>
                      <a:r>
                        <a:rPr sz="1100" b="1">
                          <a:solidFill>
                            <a:srgbClr val="ECEEF1"/>
                          </a:solidFill>
                          <a:latin typeface="Arial"/>
                        </a:rPr>
                        <a:t>Why</a:t>
                      </a:r>
                    </a:p>
                  </a:txBody>
                  <a:tcPr marL="137160" marT="36576" marB="36576" anchor="ctr">
                    <a:solidFill>
                      <a:srgbClr val="171B21"/>
                    </a:solidFill>
                  </a:tcPr>
                </a:tc>
              </a:tr>
              <a:tr h="438912">
                <a:tc>
                  <a:txBody>
                    <a:bodyPr/>
                    <a:lstStyle/>
                    <a:p>
                      <a:r>
                        <a:rPr sz="1150" b="1">
                          <a:solidFill>
                            <a:srgbClr val="16181B"/>
                          </a:solidFill>
                          <a:latin typeface="Arial"/>
                        </a:rPr>
                        <a:t>New citizen report</a:t>
                      </a:r>
                    </a:p>
                  </a:txBody>
                  <a:tcPr marL="137160" marT="36576" marB="36576" anchor="ctr">
                    <a:solidFill>
                      <a:srgbClr val="F3F3EF"/>
                    </a:solidFill>
                  </a:tcPr>
                </a:tc>
                <a:tc>
                  <a:txBody>
                    <a:bodyPr/>
                    <a:lstStyle/>
                    <a:p>
                      <a:r>
                        <a:rPr sz="1150" b="0">
                          <a:solidFill>
                            <a:srgbClr val="16181B"/>
                          </a:solidFill>
                          <a:latin typeface="Arial"/>
                        </a:rPr>
                        <a:t>Visible at once as "Unconfirmed" (dotted)</a:t>
                      </a:r>
                    </a:p>
                  </a:txBody>
                  <a:tcPr marL="137160" marT="36576" marB="36576" anchor="ctr">
                    <a:solidFill>
                      <a:srgbClr val="F3F3EF"/>
                    </a:solidFill>
                  </a:tcPr>
                </a:tc>
                <a:tc>
                  <a:txBody>
                    <a:bodyPr/>
                    <a:lstStyle/>
                    <a:p>
                      <a:r>
                        <a:rPr sz="1150" b="0">
                          <a:solidFill>
                            <a:srgbClr val="555A61"/>
                          </a:solidFill>
                          <a:latin typeface="Arial"/>
                        </a:rPr>
                        <a:t>Neighbours need to see it to confirm it</a:t>
                      </a:r>
                    </a:p>
                  </a:txBody>
                  <a:tcPr marL="137160" marT="36576" marB="36576" anchor="ctr">
                    <a:solidFill>
                      <a:srgbClr val="F3F3EF"/>
                    </a:solidFill>
                  </a:tcPr>
                </a:tc>
              </a:tr>
              <a:tr h="438912">
                <a:tc>
                  <a:txBody>
                    <a:bodyPr/>
                    <a:lstStyle/>
                    <a:p>
                      <a:r>
                        <a:rPr sz="1150" b="1">
                          <a:solidFill>
                            <a:srgbClr val="16181B"/>
                          </a:solidFill>
                          <a:latin typeface="Arial"/>
                        </a:rPr>
                        <a:t>Confirmed</a:t>
                      </a:r>
                    </a:p>
                  </a:txBody>
                  <a:tcPr marL="137160" marT="36576" marB="36576" anchor="ctr">
                    <a:solidFill>
                      <a:srgbClr val="FFFFFF"/>
                    </a:solidFill>
                  </a:tcPr>
                </a:tc>
                <a:tc>
                  <a:txBody>
                    <a:bodyPr/>
                    <a:lstStyle/>
                    <a:p>
                      <a:r>
                        <a:rPr sz="1150" b="0">
                          <a:solidFill>
                            <a:srgbClr val="16181B"/>
                          </a:solidFill>
                          <a:latin typeface="Arial"/>
                        </a:rPr>
                        <a:t>3 × "Me too"</a:t>
                      </a:r>
                    </a:p>
                  </a:txBody>
                  <a:tcPr marL="137160" marT="36576" marB="36576" anchor="ctr">
                    <a:solidFill>
                      <a:srgbClr val="FFFFFF"/>
                    </a:solidFill>
                  </a:tcPr>
                </a:tc>
                <a:tc>
                  <a:txBody>
                    <a:bodyPr/>
                    <a:lstStyle/>
                    <a:p>
                      <a:r>
                        <a:rPr sz="1150" b="0">
                          <a:solidFill>
                            <a:srgbClr val="555A61"/>
                          </a:solidFill>
                          <a:latin typeface="Arial"/>
                        </a:rPr>
                        <a:t>One person can't make it official; a few neighbours are quick enough</a:t>
                      </a:r>
                    </a:p>
                  </a:txBody>
                  <a:tcPr marL="137160" marT="36576" marB="36576" anchor="ctr">
                    <a:solidFill>
                      <a:srgbClr val="FFFFFF"/>
                    </a:solidFill>
                  </a:tcPr>
                </a:tc>
              </a:tr>
              <a:tr h="438912">
                <a:tc>
                  <a:txBody>
                    <a:bodyPr/>
                    <a:lstStyle/>
                    <a:p>
                      <a:r>
                        <a:rPr sz="1150" b="1">
                          <a:solidFill>
                            <a:srgbClr val="16181B"/>
                          </a:solidFill>
                          <a:latin typeface="Arial"/>
                        </a:rPr>
                        <a:t>Who can answer</a:t>
                      </a:r>
                    </a:p>
                  </a:txBody>
                  <a:tcPr marL="137160" marT="36576" marB="36576" anchor="ctr">
                    <a:solidFill>
                      <a:srgbClr val="F3F3EF"/>
                    </a:solidFill>
                  </a:tcPr>
                </a:tc>
                <a:tc>
                  <a:txBody>
                    <a:bodyPr/>
                    <a:lstStyle/>
                    <a:p>
                      <a:r>
                        <a:rPr sz="1150" b="0">
                          <a:solidFill>
                            <a:srgbClr val="16181B"/>
                          </a:solidFill>
                          <a:latin typeface="Arial"/>
                        </a:rPr>
                        <a:t>Within 1 km (GPS), one answer per device</a:t>
                      </a:r>
                    </a:p>
                  </a:txBody>
                  <a:tcPr marL="137160" marT="36576" marB="36576" anchor="ctr">
                    <a:solidFill>
                      <a:srgbClr val="F3F3EF"/>
                    </a:solidFill>
                  </a:tcPr>
                </a:tc>
                <a:tc>
                  <a:txBody>
                    <a:bodyPr/>
                    <a:lstStyle/>
                    <a:p>
                      <a:r>
                        <a:rPr sz="1150" b="0">
                          <a:solidFill>
                            <a:srgbClr val="555A61"/>
                          </a:solidFill>
                          <a:latin typeface="Arial"/>
                        </a:rPr>
                        <a:t>Only people who can see the problem; no account needed</a:t>
                      </a:r>
                    </a:p>
                  </a:txBody>
                  <a:tcPr marL="137160" marT="36576" marB="36576" anchor="ctr">
                    <a:solidFill>
                      <a:srgbClr val="F3F3EF"/>
                    </a:solidFill>
                  </a:tcPr>
                </a:tc>
              </a:tr>
              <a:tr h="438912">
                <a:tc>
                  <a:txBody>
                    <a:bodyPr/>
                    <a:lstStyle/>
                    <a:p>
                      <a:r>
                        <a:rPr sz="1150" b="1">
                          <a:solidFill>
                            <a:srgbClr val="16181B"/>
                          </a:solidFill>
                          <a:latin typeface="Arial"/>
                        </a:rPr>
                        <a:t>"Do you have this too?" prompt</a:t>
                      </a:r>
                    </a:p>
                  </a:txBody>
                  <a:tcPr marL="137160" marT="36576" marB="36576" anchor="ctr">
                    <a:solidFill>
                      <a:srgbClr val="FFFFFF"/>
                    </a:solidFill>
                  </a:tcPr>
                </a:tc>
                <a:tc>
                  <a:txBody>
                    <a:bodyPr/>
                    <a:lstStyle/>
                    <a:p>
                      <a:r>
                        <a:rPr sz="1150" b="0">
                          <a:solidFill>
                            <a:srgbClr val="16181B"/>
                          </a:solidFill>
                          <a:latin typeface="Arial"/>
                        </a:rPr>
                        <a:t>Signed-in users within 50 m of a report</a:t>
                      </a:r>
                    </a:p>
                  </a:txBody>
                  <a:tcPr marL="137160" marT="36576" marB="36576" anchor="ctr">
                    <a:solidFill>
                      <a:srgbClr val="FFFFFF"/>
                    </a:solidFill>
                  </a:tcPr>
                </a:tc>
                <a:tc>
                  <a:txBody>
                    <a:bodyPr/>
                    <a:lstStyle/>
                    <a:p>
                      <a:r>
                        <a:rPr sz="1150" b="0">
                          <a:solidFill>
                            <a:srgbClr val="555A61"/>
                          </a:solidFill>
                          <a:latin typeface="Arial"/>
                        </a:rPr>
                        <a:t>Asks the right people, with an account behind each prompt</a:t>
                      </a:r>
                    </a:p>
                  </a:txBody>
                  <a:tcPr marL="137160" marT="36576" marB="36576" anchor="ctr">
                    <a:solidFill>
                      <a:srgbClr val="FFFFFF"/>
                    </a:solidFill>
                  </a:tcPr>
                </a:tc>
              </a:tr>
              <a:tr h="438912">
                <a:tc>
                  <a:txBody>
                    <a:bodyPr/>
                    <a:lstStyle/>
                    <a:p>
                      <a:r>
                        <a:rPr sz="1150" b="1">
                          <a:solidFill>
                            <a:srgbClr val="16181B"/>
                          </a:solidFill>
                          <a:latin typeface="Arial"/>
                        </a:rPr>
                        <a:t>Disputed</a:t>
                      </a:r>
                    </a:p>
                  </a:txBody>
                  <a:tcPr marL="137160" marT="36576" marB="36576" anchor="ctr">
                    <a:solidFill>
                      <a:srgbClr val="F3F3EF"/>
                    </a:solidFill>
                  </a:tcPr>
                </a:tc>
                <a:tc>
                  <a:txBody>
                    <a:bodyPr/>
                    <a:lstStyle/>
                    <a:p>
                      <a:r>
                        <a:rPr sz="1150" b="0">
                          <a:solidFill>
                            <a:srgbClr val="16181B"/>
                          </a:solidFill>
                          <a:latin typeface="Arial"/>
                        </a:rPr>
                        <a:t>≥ 3 × "Mine works" and more than "Me too"</a:t>
                      </a:r>
                    </a:p>
                  </a:txBody>
                  <a:tcPr marL="137160" marT="36576" marB="36576" anchor="ctr">
                    <a:solidFill>
                      <a:srgbClr val="F3F3EF"/>
                    </a:solidFill>
                  </a:tcPr>
                </a:tc>
                <a:tc>
                  <a:txBody>
                    <a:bodyPr/>
                    <a:lstStyle/>
                    <a:p>
                      <a:r>
                        <a:rPr sz="1150" b="0">
                          <a:solidFill>
                            <a:srgbClr val="555A61"/>
                          </a:solidFill>
                          <a:latin typeface="Arial"/>
                        </a:rPr>
                        <a:t>False alarms and pranks leave the map, no moderator needed</a:t>
                      </a:r>
                    </a:p>
                  </a:txBody>
                  <a:tcPr marL="137160" marT="36576" marB="36576" anchor="ctr">
                    <a:solidFill>
                      <a:srgbClr val="F3F3EF"/>
                    </a:solidFill>
                  </a:tcPr>
                </a:tc>
              </a:tr>
              <a:tr h="438912">
                <a:tc>
                  <a:txBody>
                    <a:bodyPr/>
                    <a:lstStyle/>
                    <a:p>
                      <a:r>
                        <a:rPr sz="1150" b="1">
                          <a:solidFill>
                            <a:srgbClr val="16181B"/>
                          </a:solidFill>
                          <a:latin typeface="Arial"/>
                        </a:rPr>
                        <a:t>Who can report</a:t>
                      </a:r>
                    </a:p>
                  </a:txBody>
                  <a:tcPr marL="137160" marT="36576" marB="36576" anchor="ctr">
                    <a:solidFill>
                      <a:srgbClr val="FFFFFF"/>
                    </a:solidFill>
                  </a:tcPr>
                </a:tc>
                <a:tc>
                  <a:txBody>
                    <a:bodyPr/>
                    <a:lstStyle/>
                    <a:p>
                      <a:r>
                        <a:rPr sz="1150" b="0">
                          <a:solidFill>
                            <a:srgbClr val="16181B"/>
                          </a:solidFill>
                          <a:latin typeface="Arial"/>
                        </a:rPr>
                        <a:t>Signed-in users (email / Google)</a:t>
                      </a:r>
                    </a:p>
                  </a:txBody>
                  <a:tcPr marL="137160" marT="36576" marB="36576" anchor="ctr">
                    <a:solidFill>
                      <a:srgbClr val="FFFFFF"/>
                    </a:solidFill>
                  </a:tcPr>
                </a:tc>
                <a:tc>
                  <a:txBody>
                    <a:bodyPr/>
                    <a:lstStyle/>
                    <a:p>
                      <a:r>
                        <a:rPr sz="1150" b="0">
                          <a:solidFill>
                            <a:srgbClr val="555A61"/>
                          </a:solidFill>
                          <a:latin typeface="Arial"/>
                        </a:rPr>
                        <a:t>Accountability for new reports</a:t>
                      </a:r>
                    </a:p>
                  </a:txBody>
                  <a:tcPr marL="137160" marT="36576" marB="36576" anchor="ctr">
                    <a:solidFill>
                      <a:srgbClr val="FFFFFF"/>
                    </a:solidFill>
                  </a:tcPr>
                </a:tc>
              </a:tr>
              <a:tr h="438912">
                <a:tc>
                  <a:txBody>
                    <a:bodyPr/>
                    <a:lstStyle/>
                    <a:p>
                      <a:r>
                        <a:rPr sz="1150" b="1">
                          <a:solidFill>
                            <a:srgbClr val="16181B"/>
                          </a:solidFill>
                          <a:latin typeface="Arial"/>
                        </a:rPr>
                        <a:t>Duplicate check</a:t>
                      </a:r>
                    </a:p>
                  </a:txBody>
                  <a:tcPr marL="137160" marT="36576" marB="36576" anchor="ctr">
                    <a:solidFill>
                      <a:srgbClr val="F3F3EF"/>
                    </a:solidFill>
                  </a:tcPr>
                </a:tc>
                <a:tc>
                  <a:txBody>
                    <a:bodyPr/>
                    <a:lstStyle/>
                    <a:p>
                      <a:r>
                        <a:rPr sz="1150" b="0">
                          <a:solidFill>
                            <a:srgbClr val="16181B"/>
                          </a:solidFill>
                          <a:latin typeface="Arial"/>
                        </a:rPr>
                        <a:t>Similar reports within 300 m</a:t>
                      </a:r>
                    </a:p>
                  </a:txBody>
                  <a:tcPr marL="137160" marT="36576" marB="36576" anchor="ctr">
                    <a:solidFill>
                      <a:srgbClr val="F3F3EF"/>
                    </a:solidFill>
                  </a:tcPr>
                </a:tc>
                <a:tc>
                  <a:txBody>
                    <a:bodyPr/>
                    <a:lstStyle/>
                    <a:p>
                      <a:r>
                        <a:rPr sz="1150" b="0">
                          <a:solidFill>
                            <a:srgbClr val="555A61"/>
                          </a:solidFill>
                          <a:latin typeface="Arial"/>
                        </a:rPr>
                        <a:t>One problem → one report with more confirmations</a:t>
                      </a:r>
                    </a:p>
                  </a:txBody>
                  <a:tcPr marL="137160" marT="36576" marB="36576" anchor="ctr">
                    <a:solidFill>
                      <a:srgbClr val="F3F3EF"/>
                    </a:solidFill>
                  </a:tcPr>
                </a:tc>
              </a:tr>
              <a:tr h="438912">
                <a:tc>
                  <a:txBody>
                    <a:bodyPr/>
                    <a:lstStyle/>
                    <a:p>
                      <a:r>
                        <a:rPr sz="1150" b="1">
                          <a:solidFill>
                            <a:srgbClr val="16181B"/>
                          </a:solidFill>
                          <a:latin typeface="Arial"/>
                        </a:rPr>
                        <a:t>Expiry</a:t>
                      </a:r>
                    </a:p>
                  </a:txBody>
                  <a:tcPr marL="137160" marT="36576" marB="36576" anchor="ctr">
                    <a:solidFill>
                      <a:srgbClr val="FFFFFF"/>
                    </a:solidFill>
                  </a:tcPr>
                </a:tc>
                <a:tc>
                  <a:txBody>
                    <a:bodyPr/>
                    <a:lstStyle/>
                    <a:p>
                      <a:r>
                        <a:rPr sz="1150" b="0">
                          <a:solidFill>
                            <a:srgbClr val="16181B"/>
                          </a:solidFill>
                          <a:latin typeface="Arial"/>
                        </a:rPr>
                        <a:t>6 h unconfirmed · 24 h with no activity</a:t>
                      </a:r>
                    </a:p>
                  </a:txBody>
                  <a:tcPr marL="137160" marT="36576" marB="36576" anchor="ctr">
                    <a:solidFill>
                      <a:srgbClr val="FFFFFF"/>
                    </a:solidFill>
                  </a:tcPr>
                </a:tc>
                <a:tc>
                  <a:txBody>
                    <a:bodyPr/>
                    <a:lstStyle/>
                    <a:p>
                      <a:r>
                        <a:rPr sz="1150" b="0">
                          <a:solidFill>
                            <a:srgbClr val="555A61"/>
                          </a:solidFill>
                          <a:latin typeface="Arial"/>
                        </a:rPr>
                        <a:t>The map shows the present, not old news</a:t>
                      </a:r>
                    </a:p>
                  </a:txBody>
                  <a:tcPr marL="137160" marT="36576" marB="36576" anchor="ctr">
                    <a:solidFill>
                      <a:srgbClr val="FFFFFF"/>
                    </a:solidFill>
                  </a:tcPr>
                </a:tc>
              </a:tr>
              <a:tr h="438912">
                <a:tc>
                  <a:txBody>
                    <a:bodyPr/>
                    <a:lstStyle/>
                    <a:p>
                      <a:r>
                        <a:rPr sz="1150" b="1">
                          <a:solidFill>
                            <a:srgbClr val="16181B"/>
                          </a:solidFill>
                          <a:latin typeface="Arial"/>
                        </a:rPr>
                        <a:t>Affected address</a:t>
                      </a:r>
                    </a:p>
                  </a:txBody>
                  <a:tcPr marL="137160" marT="36576" marB="36576" anchor="ctr">
                    <a:solidFill>
                      <a:srgbClr val="F3F3EF"/>
                    </a:solidFill>
                  </a:tcPr>
                </a:tc>
                <a:tc>
                  <a:txBody>
                    <a:bodyPr/>
                    <a:lstStyle/>
                    <a:p>
                      <a:r>
                        <a:rPr sz="1150" b="0">
                          <a:solidFill>
                            <a:srgbClr val="16181B"/>
                          </a:solidFill>
                          <a:latin typeface="Arial"/>
                        </a:rPr>
                        <a:t>Saved address within 250 m</a:t>
                      </a:r>
                    </a:p>
                  </a:txBody>
                  <a:tcPr marL="137160" marT="36576" marB="36576" anchor="ctr">
                    <a:solidFill>
                      <a:srgbClr val="F3F3EF"/>
                    </a:solidFill>
                  </a:tcPr>
                </a:tc>
                <a:tc>
                  <a:txBody>
                    <a:bodyPr/>
                    <a:lstStyle/>
                    <a:p>
                      <a:r>
                        <a:rPr sz="1150" b="0">
                          <a:solidFill>
                            <a:srgbClr val="555A61"/>
                          </a:solidFill>
                          <a:latin typeface="Arial"/>
                        </a:rPr>
                        <a:t>Personal "you're affected" signal</a:t>
                      </a:r>
                    </a:p>
                  </a:txBody>
                  <a:tcPr marL="137160" marT="36576" marB="36576" anchor="ctr">
                    <a:solidFill>
                      <a:srgbClr val="F3F3EF"/>
                    </a:solidFill>
                  </a:tcPr>
                </a:tc>
              </a:tr>
            </a:tbl>
          </a:graphicData>
        </a:graphic>
      </p:graphicFrame>
      <p:sp>
        <p:nvSpPr>
          <p:cNvPr id="5" name="Rounded Rectangle 4"/>
          <p:cNvSpPr/>
          <p:nvPr/>
        </p:nvSpPr>
        <p:spPr>
          <a:xfrm>
            <a:off x="548640" y="6291072"/>
            <a:ext cx="237744" cy="237744"/>
          </a:xfrm>
          <a:prstGeom prst="roundRect">
            <a:avLst>
              <a:gd name="adj" fmla="val 28125"/>
            </a:avLst>
          </a:prstGeom>
          <a:solidFill>
            <a:srgbClr val="16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0646" y="6391370"/>
            <a:ext cx="133731" cy="37147"/>
          </a:xfrm>
          <a:prstGeom prst="roundRect">
            <a:avLst>
              <a:gd name="adj" fmla="val 50000"/>
            </a:avLst>
          </a:prstGeom>
          <a:solidFill>
            <a:srgbClr val="5C5D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00646" y="6391370"/>
            <a:ext cx="81724" cy="37147"/>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960120" y="6409944"/>
            <a:ext cx="8503920" cy="0"/>
          </a:xfrm>
          <a:prstGeom prst="line">
            <a:avLst/>
          </a:prstGeom>
          <a:ln w="9525">
            <a:solidFill>
              <a:srgbClr val="C4C4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601200" y="6291072"/>
            <a:ext cx="2039112" cy="237744"/>
          </a:xfrm>
          <a:prstGeom prst="rect">
            <a:avLst/>
          </a:prstGeom>
          <a:noFill/>
        </p:spPr>
        <p:txBody>
          <a:bodyPr wrap="square" lIns="0" rIns="0" tIns="0" bIns="0" anchor="ctr">
            <a:spAutoFit/>
          </a:bodyPr>
          <a:lstStyle/>
          <a:p>
            <a:pPr algn="r">
              <a:spcAft>
                <a:spcPts val="0"/>
              </a:spcAft>
            </a:pPr>
            <a:r>
              <a:rPr sz="1000" b="0">
                <a:solidFill>
                  <a:srgbClr val="555A61"/>
                </a:solidFill>
                <a:latin typeface="Arial"/>
              </a:rPr>
              <a:t>Work In Progress · Chișinău</a:t>
            </a:r>
            <a:r>
              <a:rPr sz="1000" b="1">
                <a:solidFill>
                  <a:srgbClr val="555A61"/>
                </a:solidFill>
                <a:latin typeface="Arial"/>
              </a:rPr>
              <a:t>   B6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5486400" cy="274320"/>
          </a:xfrm>
          <a:prstGeom prst="rect">
            <a:avLst/>
          </a:prstGeom>
          <a:noFill/>
        </p:spPr>
        <p:txBody>
          <a:bodyPr wrap="square" lIns="0" rIns="0" tIns="0" bIns="0" anchor="t">
            <a:spAutoFit/>
          </a:bodyPr>
          <a:lstStyle/>
          <a:p>
            <a:pPr algn="l">
              <a:spcAft>
                <a:spcPts val="0"/>
              </a:spcAft>
            </a:pPr>
            <a:r>
              <a:rPr sz="1100" b="1" spc="300">
                <a:solidFill>
                  <a:srgbClr val="555A61"/>
                </a:solidFill>
                <a:latin typeface="Arial"/>
              </a:rPr>
              <a:t>BACKUP · OUR SURVEY</a:t>
            </a:r>
          </a:p>
        </p:txBody>
      </p:sp>
      <p:sp>
        <p:nvSpPr>
          <p:cNvPr id="3" name="TextBox 2"/>
          <p:cNvSpPr txBox="1"/>
          <p:nvPr/>
        </p:nvSpPr>
        <p:spPr>
          <a:xfrm>
            <a:off x="548640" y="822960"/>
            <a:ext cx="9144000" cy="731520"/>
          </a:xfrm>
          <a:prstGeom prst="rect">
            <a:avLst/>
          </a:prstGeom>
          <a:noFill/>
        </p:spPr>
        <p:txBody>
          <a:bodyPr wrap="square" lIns="0" rIns="0" tIns="0" bIns="0" anchor="t">
            <a:spAutoFit/>
          </a:bodyPr>
          <a:lstStyle/>
          <a:p>
            <a:pPr algn="l">
              <a:spcAft>
                <a:spcPts val="0"/>
              </a:spcAft>
            </a:pPr>
            <a:r>
              <a:rPr sz="3000" b="1">
                <a:solidFill>
                  <a:srgbClr val="16181B"/>
                </a:solidFill>
                <a:latin typeface="Arial"/>
              </a:rPr>
              <a:t>133 residents of Chișinău</a:t>
            </a:r>
          </a:p>
        </p:txBody>
      </p:sp>
      <p:sp>
        <p:nvSpPr>
          <p:cNvPr id="4" name="TextBox 3"/>
          <p:cNvSpPr txBox="1"/>
          <p:nvPr/>
        </p:nvSpPr>
        <p:spPr>
          <a:xfrm>
            <a:off x="548640" y="1600200"/>
            <a:ext cx="5486400" cy="365760"/>
          </a:xfrm>
          <a:prstGeom prst="rect">
            <a:avLst/>
          </a:prstGeom>
          <a:noFill/>
        </p:spPr>
        <p:txBody>
          <a:bodyPr wrap="square" lIns="0" rIns="0" tIns="0" bIns="0" anchor="t">
            <a:spAutoFit/>
          </a:bodyPr>
          <a:lstStyle/>
          <a:p>
            <a:pPr algn="l">
              <a:spcAft>
                <a:spcPts val="0"/>
              </a:spcAft>
            </a:pPr>
            <a:r>
              <a:rPr sz="1300" b="1">
                <a:solidFill>
                  <a:srgbClr val="16181B"/>
                </a:solidFill>
                <a:latin typeface="Arial"/>
              </a:rPr>
              <a:t>How do you usually find out about disruptions in the city?</a:t>
            </a:r>
          </a:p>
        </p:txBody>
      </p:sp>
      <p:graphicFrame>
        <p:nvGraphicFramePr>
          <p:cNvPr id="5" name="Chart 4"/>
          <p:cNvGraphicFramePr>
            <a:graphicFrameLocks noGrp="1"/>
          </p:cNvGraphicFramePr>
          <p:nvPr/>
        </p:nvGraphicFramePr>
        <p:xfrm>
          <a:off x="411480" y="1965960"/>
          <a:ext cx="5760720" cy="3291840"/>
        </p:xfrm>
        <a:graphic>
          <a:graphicData uri="http://schemas.openxmlformats.org/drawingml/2006/chart">
            <c:chart xmlns:c="http://schemas.openxmlformats.org/drawingml/2006/chart" r:id="rId2"/>
          </a:graphicData>
        </a:graphic>
      </p:graphicFrame>
      <p:sp>
        <p:nvSpPr>
          <p:cNvPr id="6" name="Rounded Rectangle 5"/>
          <p:cNvSpPr/>
          <p:nvPr/>
        </p:nvSpPr>
        <p:spPr>
          <a:xfrm>
            <a:off x="6675120" y="1600200"/>
            <a:ext cx="4965192" cy="1325880"/>
          </a:xfrm>
          <a:prstGeom prst="roundRect">
            <a:avLst>
              <a:gd name="adj" fmla="val 13793"/>
            </a:avLst>
          </a:prstGeom>
          <a:solidFill>
            <a:srgbClr val="F3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03720" y="1600200"/>
            <a:ext cx="1463040" cy="1325880"/>
          </a:xfrm>
          <a:prstGeom prst="rect">
            <a:avLst/>
          </a:prstGeom>
          <a:noFill/>
        </p:spPr>
        <p:txBody>
          <a:bodyPr wrap="square" lIns="0" rIns="0" tIns="0" bIns="0" anchor="ctr">
            <a:spAutoFit/>
          </a:bodyPr>
          <a:lstStyle/>
          <a:p>
            <a:pPr algn="l">
              <a:spcAft>
                <a:spcPts val="0"/>
              </a:spcAft>
            </a:pPr>
            <a:r>
              <a:rPr sz="3400" b="1">
                <a:solidFill>
                  <a:srgbClr val="1C7340"/>
                </a:solidFill>
                <a:latin typeface="Arial"/>
              </a:rPr>
              <a:t>46%</a:t>
            </a:r>
          </a:p>
        </p:txBody>
      </p:sp>
      <p:sp>
        <p:nvSpPr>
          <p:cNvPr id="8" name="TextBox 7"/>
          <p:cNvSpPr txBox="1"/>
          <p:nvPr/>
        </p:nvSpPr>
        <p:spPr>
          <a:xfrm>
            <a:off x="8412480" y="1600200"/>
            <a:ext cx="3063240" cy="1325880"/>
          </a:xfrm>
          <a:prstGeom prst="rect">
            <a:avLst/>
          </a:prstGeom>
          <a:noFill/>
        </p:spPr>
        <p:txBody>
          <a:bodyPr wrap="square" lIns="0" rIns="0" tIns="0" bIns="0" anchor="ctr">
            <a:spAutoFit/>
          </a:bodyPr>
          <a:lstStyle/>
          <a:p>
            <a:pPr algn="l">
              <a:lnSpc>
                <a:spcPct val="110000"/>
              </a:lnSpc>
              <a:spcAft>
                <a:spcPts val="0"/>
              </a:spcAft>
            </a:pPr>
            <a:r>
              <a:rPr sz="1200" b="0">
                <a:solidFill>
                  <a:srgbClr val="555A61"/>
                </a:solidFill>
                <a:latin typeface="Arial"/>
              </a:rPr>
              <a:t>are dissatisfied with the information they find</a:t>
            </a:r>
          </a:p>
        </p:txBody>
      </p:sp>
      <p:sp>
        <p:nvSpPr>
          <p:cNvPr id="9" name="Rounded Rectangle 8"/>
          <p:cNvSpPr/>
          <p:nvPr/>
        </p:nvSpPr>
        <p:spPr>
          <a:xfrm>
            <a:off x="6675120" y="3081528"/>
            <a:ext cx="4965192" cy="1325880"/>
          </a:xfrm>
          <a:prstGeom prst="roundRect">
            <a:avLst>
              <a:gd name="adj" fmla="val 13793"/>
            </a:avLst>
          </a:prstGeom>
          <a:solidFill>
            <a:srgbClr val="F3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03720" y="3081528"/>
            <a:ext cx="1463040" cy="1325880"/>
          </a:xfrm>
          <a:prstGeom prst="rect">
            <a:avLst/>
          </a:prstGeom>
          <a:noFill/>
        </p:spPr>
        <p:txBody>
          <a:bodyPr wrap="square" lIns="0" rIns="0" tIns="0" bIns="0" anchor="ctr">
            <a:spAutoFit/>
          </a:bodyPr>
          <a:lstStyle/>
          <a:p>
            <a:pPr algn="l">
              <a:spcAft>
                <a:spcPts val="0"/>
              </a:spcAft>
            </a:pPr>
            <a:r>
              <a:rPr sz="3400" b="1">
                <a:solidFill>
                  <a:srgbClr val="1F5FC9"/>
                </a:solidFill>
                <a:latin typeface="Arial"/>
              </a:rPr>
              <a:t>91%</a:t>
            </a:r>
          </a:p>
        </p:txBody>
      </p:sp>
      <p:sp>
        <p:nvSpPr>
          <p:cNvPr id="11" name="TextBox 10"/>
          <p:cNvSpPr txBox="1"/>
          <p:nvPr/>
        </p:nvSpPr>
        <p:spPr>
          <a:xfrm>
            <a:off x="8412480" y="3081528"/>
            <a:ext cx="3063240" cy="1325880"/>
          </a:xfrm>
          <a:prstGeom prst="rect">
            <a:avLst/>
          </a:prstGeom>
          <a:noFill/>
        </p:spPr>
        <p:txBody>
          <a:bodyPr wrap="square" lIns="0" rIns="0" tIns="0" bIns="0" anchor="ctr">
            <a:spAutoFit/>
          </a:bodyPr>
          <a:lstStyle/>
          <a:p>
            <a:pPr algn="l">
              <a:lnSpc>
                <a:spcPct val="110000"/>
              </a:lnSpc>
              <a:spcAft>
                <a:spcPts val="0"/>
              </a:spcAft>
            </a:pPr>
            <a:r>
              <a:rPr sz="1200" b="0">
                <a:solidFill>
                  <a:srgbClr val="555A61"/>
                </a:solidFill>
                <a:latin typeface="Arial"/>
              </a:rPr>
              <a:t>would find it useful to see all outages in one place, verified by the community</a:t>
            </a:r>
          </a:p>
        </p:txBody>
      </p:sp>
      <p:sp>
        <p:nvSpPr>
          <p:cNvPr id="12" name="Rounded Rectangle 11"/>
          <p:cNvSpPr/>
          <p:nvPr/>
        </p:nvSpPr>
        <p:spPr>
          <a:xfrm>
            <a:off x="6675120" y="4562856"/>
            <a:ext cx="4965192" cy="1325880"/>
          </a:xfrm>
          <a:prstGeom prst="roundRect">
            <a:avLst>
              <a:gd name="adj" fmla="val 13793"/>
            </a:avLst>
          </a:prstGeom>
          <a:solidFill>
            <a:srgbClr val="F3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03720" y="4562856"/>
            <a:ext cx="1463040" cy="1325880"/>
          </a:xfrm>
          <a:prstGeom prst="rect">
            <a:avLst/>
          </a:prstGeom>
          <a:noFill/>
        </p:spPr>
        <p:txBody>
          <a:bodyPr wrap="square" lIns="0" rIns="0" tIns="0" bIns="0" anchor="ctr">
            <a:spAutoFit/>
          </a:bodyPr>
          <a:lstStyle/>
          <a:p>
            <a:pPr algn="l">
              <a:spcAft>
                <a:spcPts val="0"/>
              </a:spcAft>
            </a:pPr>
            <a:r>
              <a:rPr sz="3400" b="1">
                <a:solidFill>
                  <a:srgbClr val="A16207"/>
                </a:solidFill>
                <a:latin typeface="Arial"/>
              </a:rPr>
              <a:t>83%</a:t>
            </a:r>
          </a:p>
        </p:txBody>
      </p:sp>
      <p:sp>
        <p:nvSpPr>
          <p:cNvPr id="14" name="TextBox 13"/>
          <p:cNvSpPr txBox="1"/>
          <p:nvPr/>
        </p:nvSpPr>
        <p:spPr>
          <a:xfrm>
            <a:off x="8412480" y="4562856"/>
            <a:ext cx="3063240" cy="1325880"/>
          </a:xfrm>
          <a:prstGeom prst="rect">
            <a:avLst/>
          </a:prstGeom>
          <a:noFill/>
        </p:spPr>
        <p:txBody>
          <a:bodyPr wrap="square" lIns="0" rIns="0" tIns="0" bIns="0" anchor="ctr">
            <a:spAutoFit/>
          </a:bodyPr>
          <a:lstStyle/>
          <a:p>
            <a:pPr algn="l">
              <a:lnSpc>
                <a:spcPct val="110000"/>
              </a:lnSpc>
              <a:spcAft>
                <a:spcPts val="0"/>
              </a:spcAft>
            </a:pPr>
            <a:r>
              <a:rPr sz="1200" b="0">
                <a:solidFill>
                  <a:srgbClr val="555A61"/>
                </a:solidFill>
                <a:latin typeface="Arial"/>
              </a:rPr>
              <a:t>would use such a service</a:t>
            </a:r>
          </a:p>
        </p:txBody>
      </p:sp>
      <p:sp>
        <p:nvSpPr>
          <p:cNvPr id="15" name="TextBox 14"/>
          <p:cNvSpPr txBox="1"/>
          <p:nvPr/>
        </p:nvSpPr>
        <p:spPr>
          <a:xfrm>
            <a:off x="548640" y="5486400"/>
            <a:ext cx="5669280" cy="457200"/>
          </a:xfrm>
          <a:prstGeom prst="rect">
            <a:avLst/>
          </a:prstGeom>
          <a:noFill/>
        </p:spPr>
        <p:txBody>
          <a:bodyPr wrap="square" lIns="0" rIns="0" tIns="0" bIns="0" anchor="t">
            <a:spAutoFit/>
          </a:bodyPr>
          <a:lstStyle/>
          <a:p>
            <a:pPr algn="l">
              <a:spcAft>
                <a:spcPts val="0"/>
              </a:spcAft>
            </a:pPr>
            <a:r>
              <a:rPr sz="1000" b="0">
                <a:solidFill>
                  <a:srgbClr val="555A61"/>
                </a:solidFill>
                <a:latin typeface="Arial"/>
              </a:rPr>
              <a:t>Online survey, September 2026. 132–133 answers per question.</a:t>
            </a:r>
          </a:p>
        </p:txBody>
      </p:sp>
      <p:sp>
        <p:nvSpPr>
          <p:cNvPr id="16" name="Rounded Rectangle 15"/>
          <p:cNvSpPr/>
          <p:nvPr/>
        </p:nvSpPr>
        <p:spPr>
          <a:xfrm>
            <a:off x="548640" y="6291072"/>
            <a:ext cx="237744" cy="237744"/>
          </a:xfrm>
          <a:prstGeom prst="roundRect">
            <a:avLst>
              <a:gd name="adj" fmla="val 28125"/>
            </a:avLst>
          </a:prstGeom>
          <a:solidFill>
            <a:srgbClr val="16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00646" y="6391370"/>
            <a:ext cx="133731" cy="37147"/>
          </a:xfrm>
          <a:prstGeom prst="roundRect">
            <a:avLst>
              <a:gd name="adj" fmla="val 50000"/>
            </a:avLst>
          </a:prstGeom>
          <a:solidFill>
            <a:srgbClr val="5C5D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00646" y="6391370"/>
            <a:ext cx="81724" cy="37147"/>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960120" y="6409944"/>
            <a:ext cx="8503920" cy="0"/>
          </a:xfrm>
          <a:prstGeom prst="line">
            <a:avLst/>
          </a:prstGeom>
          <a:ln w="9525">
            <a:solidFill>
              <a:srgbClr val="C4C4BB"/>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601200" y="6291072"/>
            <a:ext cx="2039112" cy="237744"/>
          </a:xfrm>
          <a:prstGeom prst="rect">
            <a:avLst/>
          </a:prstGeom>
          <a:noFill/>
        </p:spPr>
        <p:txBody>
          <a:bodyPr wrap="square" lIns="0" rIns="0" tIns="0" bIns="0" anchor="ctr">
            <a:spAutoFit/>
          </a:bodyPr>
          <a:lstStyle/>
          <a:p>
            <a:pPr algn="r">
              <a:spcAft>
                <a:spcPts val="0"/>
              </a:spcAft>
            </a:pPr>
            <a:r>
              <a:rPr sz="1000" b="0">
                <a:solidFill>
                  <a:srgbClr val="555A61"/>
                </a:solidFill>
                <a:latin typeface="Arial"/>
              </a:rPr>
              <a:t>Work In Progress · Chișinău</a:t>
            </a:r>
            <a:r>
              <a:rPr sz="1000" b="1">
                <a:solidFill>
                  <a:srgbClr val="555A61"/>
                </a:solidFill>
                <a:latin typeface="Arial"/>
              </a:rPr>
              <a:t>   B7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F3EF"/>
        </a:solidFill>
        <a:effectLst/>
      </p:bgPr>
    </p:bg>
    <p:spTree>
      <p:nvGrpSpPr>
        <p:cNvPr id="1" name=""/>
        <p:cNvGrpSpPr/>
        <p:nvPr/>
      </p:nvGrpSpPr>
      <p:grpSpPr/>
      <p:sp>
        <p:nvSpPr>
          <p:cNvPr id="2" name="TextBox 1"/>
          <p:cNvSpPr txBox="1"/>
          <p:nvPr/>
        </p:nvSpPr>
        <p:spPr>
          <a:xfrm>
            <a:off x="548640" y="502920"/>
            <a:ext cx="5486400" cy="274320"/>
          </a:xfrm>
          <a:prstGeom prst="rect">
            <a:avLst/>
          </a:prstGeom>
          <a:noFill/>
        </p:spPr>
        <p:txBody>
          <a:bodyPr wrap="square" lIns="0" rIns="0" tIns="0" bIns="0" anchor="t">
            <a:spAutoFit/>
          </a:bodyPr>
          <a:lstStyle/>
          <a:p>
            <a:pPr algn="l">
              <a:spcAft>
                <a:spcPts val="0"/>
              </a:spcAft>
            </a:pPr>
            <a:r>
              <a:rPr sz="1100" b="1" spc="300">
                <a:solidFill>
                  <a:srgbClr val="555A61"/>
                </a:solidFill>
                <a:latin typeface="Arial"/>
              </a:rPr>
              <a:t>BACKUP · REAL SCREENS</a:t>
            </a:r>
          </a:p>
        </p:txBody>
      </p:sp>
      <p:pic>
        <p:nvPicPr>
          <p:cNvPr id="3" name="Picture 2" descr="d_detail.jpg"/>
          <p:cNvPicPr>
            <a:picLocks noChangeAspect="1"/>
          </p:cNvPicPr>
          <p:nvPr/>
        </p:nvPicPr>
        <p:blipFill>
          <a:blip r:embed="rId2"/>
          <a:stretch>
            <a:fillRect/>
          </a:stretch>
        </p:blipFill>
        <p:spPr>
          <a:xfrm>
            <a:off x="548640" y="960120"/>
            <a:ext cx="4389120" cy="2743200"/>
          </a:xfrm>
          <a:prstGeom prst="roundRect">
            <a:avLst>
              <a:gd name="adj" fmla="val 4666"/>
            </a:avLst>
          </a:prstGeom>
        </p:spPr>
      </p:pic>
      <p:sp>
        <p:nvSpPr>
          <p:cNvPr id="4" name="TextBox 3"/>
          <p:cNvSpPr txBox="1"/>
          <p:nvPr/>
        </p:nvSpPr>
        <p:spPr>
          <a:xfrm>
            <a:off x="548640" y="3767328"/>
            <a:ext cx="4389120" cy="320040"/>
          </a:xfrm>
          <a:prstGeom prst="rect">
            <a:avLst/>
          </a:prstGeom>
          <a:noFill/>
        </p:spPr>
        <p:txBody>
          <a:bodyPr wrap="square" lIns="0" rIns="0" tIns="0" bIns="0" anchor="t">
            <a:spAutoFit/>
          </a:bodyPr>
          <a:lstStyle/>
          <a:p>
            <a:pPr algn="l">
              <a:spcAft>
                <a:spcPts val="0"/>
              </a:spcAft>
            </a:pPr>
            <a:r>
              <a:rPr sz="1100" b="0">
                <a:solidFill>
                  <a:srgbClr val="555A61"/>
                </a:solidFill>
                <a:latin typeface="Arial"/>
              </a:rPr>
              <a:t>Official event: source, official start and end, addresses</a:t>
            </a:r>
          </a:p>
        </p:txBody>
      </p:sp>
      <p:pic>
        <p:nvPicPr>
          <p:cNvPr id="5" name="Picture 4" descr="d_cal.jpg"/>
          <p:cNvPicPr>
            <a:picLocks noChangeAspect="1"/>
          </p:cNvPicPr>
          <p:nvPr/>
        </p:nvPicPr>
        <p:blipFill>
          <a:blip r:embed="rId3"/>
          <a:stretch>
            <a:fillRect/>
          </a:stretch>
        </p:blipFill>
        <p:spPr>
          <a:xfrm>
            <a:off x="548640" y="4160520"/>
            <a:ext cx="2926080" cy="1828800"/>
          </a:xfrm>
          <a:prstGeom prst="roundRect">
            <a:avLst>
              <a:gd name="adj" fmla="val 6000"/>
            </a:avLst>
          </a:prstGeom>
        </p:spPr>
      </p:pic>
      <p:sp>
        <p:nvSpPr>
          <p:cNvPr id="6" name="TextBox 5"/>
          <p:cNvSpPr txBox="1"/>
          <p:nvPr/>
        </p:nvSpPr>
        <p:spPr>
          <a:xfrm>
            <a:off x="3611880" y="4206240"/>
            <a:ext cx="1371600" cy="1280160"/>
          </a:xfrm>
          <a:prstGeom prst="rect">
            <a:avLst/>
          </a:prstGeom>
          <a:noFill/>
        </p:spPr>
        <p:txBody>
          <a:bodyPr wrap="square" lIns="0" rIns="0" tIns="0" bIns="0" anchor="t">
            <a:spAutoFit/>
          </a:bodyPr>
          <a:lstStyle/>
          <a:p>
            <a:pPr algn="l">
              <a:lnSpc>
                <a:spcPct val="110000"/>
              </a:lnSpc>
              <a:spcAft>
                <a:spcPts val="0"/>
              </a:spcAft>
            </a:pPr>
            <a:r>
              <a:rPr sz="1100" b="0">
                <a:solidFill>
                  <a:srgbClr val="555A61"/>
                </a:solidFill>
                <a:latin typeface="Arial"/>
              </a:rPr>
              <a:t>Calendar of planned cuts, by day</a:t>
            </a:r>
          </a:p>
        </p:txBody>
      </p:sp>
      <p:sp>
        <p:nvSpPr>
          <p:cNvPr id="7" name="Rounded Rectangle 6"/>
          <p:cNvSpPr/>
          <p:nvPr/>
        </p:nvSpPr>
        <p:spPr>
          <a:xfrm>
            <a:off x="5376672" y="896112"/>
            <a:ext cx="2231136" cy="4679383"/>
          </a:xfrm>
          <a:prstGeom prst="roundRect">
            <a:avLst>
              <a:gd name="adj" fmla="val 12295"/>
            </a:avLst>
          </a:prstGeom>
          <a:solidFill>
            <a:srgbClr val="0B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_list.jpg"/>
          <p:cNvPicPr>
            <a:picLocks noChangeAspect="1"/>
          </p:cNvPicPr>
          <p:nvPr/>
        </p:nvPicPr>
        <p:blipFill>
          <a:blip r:embed="rId4"/>
          <a:stretch>
            <a:fillRect/>
          </a:stretch>
        </p:blipFill>
        <p:spPr>
          <a:xfrm>
            <a:off x="5440680" y="960120"/>
            <a:ext cx="2103120" cy="4551367"/>
          </a:xfrm>
          <a:prstGeom prst="roundRect">
            <a:avLst>
              <a:gd name="adj" fmla="val 10434"/>
            </a:avLst>
          </a:prstGeom>
        </p:spPr>
      </p:pic>
      <p:sp>
        <p:nvSpPr>
          <p:cNvPr id="9" name="TextBox 8"/>
          <p:cNvSpPr txBox="1"/>
          <p:nvPr/>
        </p:nvSpPr>
        <p:spPr>
          <a:xfrm>
            <a:off x="5394960" y="5669280"/>
            <a:ext cx="2194560" cy="320040"/>
          </a:xfrm>
          <a:prstGeom prst="rect">
            <a:avLst/>
          </a:prstGeom>
          <a:noFill/>
        </p:spPr>
        <p:txBody>
          <a:bodyPr wrap="square" lIns="0" rIns="0" tIns="0" bIns="0" anchor="t">
            <a:spAutoFit/>
          </a:bodyPr>
          <a:lstStyle/>
          <a:p>
            <a:pPr algn="ctr">
              <a:spcAft>
                <a:spcPts val="0"/>
              </a:spcAft>
            </a:pPr>
            <a:r>
              <a:rPr sz="1100" b="0">
                <a:solidFill>
                  <a:srgbClr val="555A61"/>
                </a:solidFill>
                <a:latin typeface="Arial"/>
              </a:rPr>
              <a:t>Mobile · light</a:t>
            </a:r>
          </a:p>
        </p:txBody>
      </p:sp>
      <p:sp>
        <p:nvSpPr>
          <p:cNvPr id="10" name="Rounded Rectangle 9"/>
          <p:cNvSpPr/>
          <p:nvPr/>
        </p:nvSpPr>
        <p:spPr>
          <a:xfrm>
            <a:off x="7754112" y="896112"/>
            <a:ext cx="2231136" cy="4679383"/>
          </a:xfrm>
          <a:prstGeom prst="roundRect">
            <a:avLst>
              <a:gd name="adj" fmla="val 12295"/>
            </a:avLst>
          </a:prstGeom>
          <a:solidFill>
            <a:srgbClr val="0B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k_m_list.jpg"/>
          <p:cNvPicPr>
            <a:picLocks noChangeAspect="1"/>
          </p:cNvPicPr>
          <p:nvPr/>
        </p:nvPicPr>
        <p:blipFill>
          <a:blip r:embed="rId5"/>
          <a:stretch>
            <a:fillRect/>
          </a:stretch>
        </p:blipFill>
        <p:spPr>
          <a:xfrm>
            <a:off x="7818120" y="960120"/>
            <a:ext cx="2103120" cy="4551367"/>
          </a:xfrm>
          <a:prstGeom prst="roundRect">
            <a:avLst>
              <a:gd name="adj" fmla="val 10434"/>
            </a:avLst>
          </a:prstGeom>
        </p:spPr>
      </p:pic>
      <p:sp>
        <p:nvSpPr>
          <p:cNvPr id="12" name="TextBox 11"/>
          <p:cNvSpPr txBox="1"/>
          <p:nvPr/>
        </p:nvSpPr>
        <p:spPr>
          <a:xfrm>
            <a:off x="7772400" y="5669280"/>
            <a:ext cx="2194560" cy="320040"/>
          </a:xfrm>
          <a:prstGeom prst="rect">
            <a:avLst/>
          </a:prstGeom>
          <a:noFill/>
        </p:spPr>
        <p:txBody>
          <a:bodyPr wrap="square" lIns="0" rIns="0" tIns="0" bIns="0" anchor="t">
            <a:spAutoFit/>
          </a:bodyPr>
          <a:lstStyle/>
          <a:p>
            <a:pPr algn="ctr">
              <a:spcAft>
                <a:spcPts val="0"/>
              </a:spcAft>
            </a:pPr>
            <a:r>
              <a:rPr sz="1100" b="0">
                <a:solidFill>
                  <a:srgbClr val="555A61"/>
                </a:solidFill>
                <a:latin typeface="Arial"/>
              </a:rPr>
              <a:t>Mobile · dark</a:t>
            </a:r>
          </a:p>
        </p:txBody>
      </p:sp>
      <p:sp>
        <p:nvSpPr>
          <p:cNvPr id="13" name="TextBox 12"/>
          <p:cNvSpPr txBox="1"/>
          <p:nvPr/>
        </p:nvSpPr>
        <p:spPr>
          <a:xfrm>
            <a:off x="10195560" y="960120"/>
            <a:ext cx="1554480" cy="4114800"/>
          </a:xfrm>
          <a:prstGeom prst="rect">
            <a:avLst/>
          </a:prstGeom>
          <a:noFill/>
        </p:spPr>
        <p:txBody>
          <a:bodyPr wrap="square" lIns="0" rIns="0" tIns="0" bIns="0" anchor="t">
            <a:spAutoFit/>
          </a:bodyPr>
          <a:lstStyle/>
          <a:p>
            <a:pPr algn="l">
              <a:lnSpc>
                <a:spcPct val="115000"/>
              </a:lnSpc>
              <a:spcAft>
                <a:spcPts val="600"/>
              </a:spcAft>
            </a:pPr>
            <a:r>
              <a:rPr sz="1300" b="1">
                <a:solidFill>
                  <a:srgbClr val="16181B"/>
                </a:solidFill>
                <a:latin typeface="Arial"/>
              </a:rPr>
              <a:t>Backup</a:t>
            </a:r>
          </a:p>
          <a:p>
            <a:pPr algn="l">
              <a:lnSpc>
                <a:spcPct val="115000"/>
              </a:lnSpc>
              <a:spcAft>
                <a:spcPts val="600"/>
              </a:spcAft>
            </a:pPr>
            <a:r>
              <a:rPr sz="1100" b="0">
                <a:solidFill>
                  <a:srgbClr val="555A61"/>
                </a:solidFill>
                <a:latin typeface="Arial"/>
              </a:rPr>
              <a:t>If the network fails on stage, walk through these screens or play the demo video.</a:t>
            </a:r>
          </a:p>
        </p:txBody>
      </p:sp>
      <p:sp>
        <p:nvSpPr>
          <p:cNvPr id="14" name="Rounded Rectangle 13"/>
          <p:cNvSpPr/>
          <p:nvPr/>
        </p:nvSpPr>
        <p:spPr>
          <a:xfrm>
            <a:off x="548640" y="6291072"/>
            <a:ext cx="237744" cy="237744"/>
          </a:xfrm>
          <a:prstGeom prst="roundRect">
            <a:avLst>
              <a:gd name="adj" fmla="val 28125"/>
            </a:avLst>
          </a:prstGeom>
          <a:solidFill>
            <a:srgbClr val="16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00646" y="6391370"/>
            <a:ext cx="133731" cy="37147"/>
          </a:xfrm>
          <a:prstGeom prst="roundRect">
            <a:avLst>
              <a:gd name="adj" fmla="val 50000"/>
            </a:avLst>
          </a:prstGeom>
          <a:solidFill>
            <a:srgbClr val="5C5D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00646" y="6391370"/>
            <a:ext cx="81724" cy="37147"/>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960120" y="6409944"/>
            <a:ext cx="8503920" cy="0"/>
          </a:xfrm>
          <a:prstGeom prst="line">
            <a:avLst/>
          </a:prstGeom>
          <a:ln w="9525">
            <a:solidFill>
              <a:srgbClr val="C4C4B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601200" y="6291072"/>
            <a:ext cx="2039112" cy="237744"/>
          </a:xfrm>
          <a:prstGeom prst="rect">
            <a:avLst/>
          </a:prstGeom>
          <a:noFill/>
        </p:spPr>
        <p:txBody>
          <a:bodyPr wrap="square" lIns="0" rIns="0" tIns="0" bIns="0" anchor="ctr">
            <a:spAutoFit/>
          </a:bodyPr>
          <a:lstStyle/>
          <a:p>
            <a:pPr algn="r">
              <a:spcAft>
                <a:spcPts val="0"/>
              </a:spcAft>
            </a:pPr>
            <a:r>
              <a:rPr sz="1000" b="0">
                <a:solidFill>
                  <a:srgbClr val="555A61"/>
                </a:solidFill>
                <a:latin typeface="Arial"/>
              </a:rPr>
              <a:t>Work In Progress · Chișinău</a:t>
            </a:r>
            <a:r>
              <a:rPr sz="1000" b="1">
                <a:solidFill>
                  <a:srgbClr val="555A61"/>
                </a:solidFill>
                <a:latin typeface="Arial"/>
              </a:rPr>
              <a:t>   B8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